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Operations and Maintenance for MEGN 301. This module covers what happens AFTER your system is delivered — the 50-70% of lifecycle cost that students rarely think about during design. Operations and maintenance is where design decisions come home to roost: a system that is easy to design but hard to maintain will cost the stakeholder far more than one that was designed for the full lifecycle. We cover design for serviceability, maintenance planning, user documentation, training, spare parts logistics, and end-of-life disposal.</a:t>
            </a:r>
          </a:p>
          <a:p/>
          <a:p>
            <a:r>
              <a:t>ALIGNMENT NOTE — This module corresponds to Chapter 6 of your Master Reference Document and supports the Final Design Report and FDR deliverables. This content extends beyond the V-Model into the operational lifecycle.</a:t>
            </a:r>
          </a:p>
          <a:p/>
          <a:p>
            <a:r>
              <a:t>BOTTOM LINE: O&amp;M is 50-70% of lifecycle cost, and 80% is locked by early design decisions. Design for Access, Modularity, Diagnostics, and Standardization during Chapters 2-3. Use FMECA to justify maintenance strategies. For your Final Report, your Quick-Start Guide should enable your instructor to operate the system.</a:t>
            </a:r>
          </a:p>
          <a:p/>
          <a:p>
            <a:r>
              <a:t>FINAL NOTES — Key updates in the final compiled document: (1) Quick-Start Guide template with six required elements (unbox, setup, power up, configure, operate, verify). (2) Five-nines availability context (99% vs 99.999% is an entirely different class of engineering). (3) Final Design Report mapping tip. (4) MTTR reduction example demonstrating that reducing repair time from 10hr to 1hr boosts availability more than doubling MTBF.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learning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lifecycle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lifecycle cost perspective. 80% locked by early design. O&amp;M dominates at 50-70%.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Figure 1: lifecycle phases with cost distribution.</a:t>
            </a:r>
          </a:p>
          <a:p/>
          <a:p>
            <a:r>
              <a:t>THE BATHTUB CURVE — Failure rate follows three phases: (1) Infant Mortality — decreasing rate from manufacturing defects, assembly errors, weak components. Address with burn-in testing. (2) Useful Life — constant, low rate described by MTBF. Random failures; preventive replacement is wasteful here. (3) Wear-Out — increasing rate from component degradation. Bearings wear, seals degrade, capacitors dry out. Address with scheduled preventive replacement.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2: design for serviceability.</a:t>
            </a:r>
          </a:p>
          <a:p/>
          <a:p>
            <a:r>
              <a:t>FIVE-NINES CONTEXT — 98.8% availability (MTBF=2000, MTTR=24) means ~105 hours downtime per year. 99.9% ('three nines') = ~9 hours/year. 99.999% ('five nines') = less than 6 minutes/year — requiring redundant hardware, automatic failover, and 24/7 monitoring. The distance between 99% and 99.999% is not a minor improvement; it is an entirely different class of engineering. For MEGN 301 projects, target 95-99% availability.</a:t>
            </a:r>
          </a:p>
          <a:p/>
          <a:p>
            <a:r>
              <a:t>FMECA AND RPN — For each failure mode: RPN = Severity (1-10) × Occurrence (1-10) × Detection (1-10). Range 1-1000. Action threshold: RPN ≥ 100. Any failure with Severity ≥ 8 gets mandatory mitigation regardless of RPN. The FMECA provides mathematical justification for maintenance strategy and spare parts.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serviceability principles: access, modularity, diagnostics, standardization.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2: serviceability principles.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Reliability metrics: MTBF, MTTR, availability, and FMEA.</a:t>
            </a:r>
          </a:p>
          <a:p/>
          <a:p>
            <a:r>
              <a:t>MAPPING TO YOUR FINAL DESIGN REPORT — Section 1 (Design Requirements): reference SDRD and VCRM results. Section 2 (Design Process): design evolution with photos. Section 3 (Hazards): FMEA results and risk mitigations. Section 4 (Future Work): maintenance recommendations. Appendix: Quick-Start Guide, spare parts list, FMECA, test data. Write these as you go — do not reconstruct the night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maintenance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 four maintenance strategies.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maintenance schedule: identify wear items, define intervals, create spare parts list, set calibration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documentation, training, and end-of-life.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types of user documentation. Quick-start is the most important — it is the only document most users will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and knowledge transfer. Critical for student projects where the design team graduates.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4: end-of-life deliverables.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Twelve-item O&amp;M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practical tips for O&amp;M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common O&amp;M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Six-step O&amp;M workflow aligned to design reviews.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handoff: package, acceptance, warranty, lessons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Sustainability: disassembly, materials, energy, longevity.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key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Design for the maintainer.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slideLayout" Target="../slideLayouts/slideLayout1.xml"/><Relationship Id="rId1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0"/>
            <a:ext cx="9144000" cy="365760"/>
          </a:xfrm>
          <a:prstGeom prst="rect">
            <a:avLst/>
          </a:prstGeom>
          <a:solidFill>
            <a:srgbClr val="1B2A4A"/>
          </a:solidFill>
          <a:ln/>
        </p:spPr>
      </p:sp>
      <p:sp>
        <p:nvSpPr>
          <p:cNvPr id="3" name="Text 1"/>
          <p:cNvSpPr/>
          <p:nvPr/>
        </p:nvSpPr>
        <p:spPr>
          <a:xfrm>
            <a:off x="365760" y="73152"/>
            <a:ext cx="5486400" cy="22860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640080"/>
            <a:ext cx="7315200" cy="365760"/>
          </a:xfrm>
          <a:prstGeom prst="rect">
            <a:avLst/>
          </a:prstGeom>
          <a:noFill/>
          <a:ln/>
        </p:spPr>
        <p:txBody>
          <a:bodyPr wrap="square" rtlCol="0" anchor="ctr"/>
          <a:lstStyle/>
          <a:p>
            <a:pPr indent="0" marL="0">
              <a:buNone/>
            </a:pPr>
            <a:r>
              <a:rPr lang="en-US" sz="1400" b="1" spc="300" kern="0" dirty="0">
                <a:solidFill>
                  <a:srgbClr val="C0392B"/>
                </a:solidFill>
                <a:latin typeface="Calibri" pitchFamily="34" charset="0"/>
                <a:ea typeface="Calibri" pitchFamily="34" charset="-122"/>
                <a:cs typeface="Calibri" pitchFamily="34" charset="-120"/>
              </a:rPr>
              <a:t>Systems Engineering Foundations</a:t>
            </a:r>
            <a:endParaRPr lang="en-US" sz="1400" dirty="0"/>
          </a:p>
        </p:txBody>
      </p:sp>
      <p:sp>
        <p:nvSpPr>
          <p:cNvPr id="5" name="Text 3"/>
          <p:cNvSpPr/>
          <p:nvPr/>
        </p:nvSpPr>
        <p:spPr>
          <a:xfrm>
            <a:off x="548640" y="1188720"/>
            <a:ext cx="7772400" cy="201168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Operations &amp;amp;</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Maintenance</a:t>
            </a:r>
            <a:endParaRPr lang="en-US" sz="4400" dirty="0"/>
          </a:p>
        </p:txBody>
      </p:sp>
      <p:sp>
        <p:nvSpPr>
          <p:cNvPr id="6" name="Text 4"/>
          <p:cNvSpPr/>
          <p:nvPr/>
        </p:nvSpPr>
        <p:spPr>
          <a:xfrm>
            <a:off x="548640" y="3383280"/>
            <a:ext cx="7772400" cy="320040"/>
          </a:xfrm>
          <a:prstGeom prst="rect">
            <a:avLst/>
          </a:prstGeom>
          <a:noFill/>
          <a:ln/>
        </p:spPr>
        <p:txBody>
          <a:bodyPr wrap="square" rtlCol="0" anchor="ctr"/>
          <a:lstStyle/>
          <a:p>
            <a:pPr indent="0" marL="0">
              <a:buNone/>
            </a:pPr>
            <a:r>
              <a:rPr lang="en-US" sz="1000" spc="200" kern="0" dirty="0">
                <a:solidFill>
                  <a:srgbClr val="7A7469"/>
                </a:solidFill>
                <a:latin typeface="Calibri" pitchFamily="34" charset="0"/>
                <a:ea typeface="Calibri" pitchFamily="34" charset="-122"/>
                <a:cs typeface="Calibri" pitchFamily="34" charset="-120"/>
              </a:rPr>
              <a:t>LIFECYCLE THINKING, SERVICEABILITY, MAINTENANCE PLANNING, AND END-OF-LIFE</a:t>
            </a:r>
            <a:endParaRPr lang="en-US" sz="1000" dirty="0"/>
          </a:p>
        </p:txBody>
      </p:sp>
      <p:sp>
        <p:nvSpPr>
          <p:cNvPr id="7" name="Shape 5"/>
          <p:cNvSpPr/>
          <p:nvPr/>
        </p:nvSpPr>
        <p:spPr>
          <a:xfrm>
            <a:off x="548640" y="3794760"/>
            <a:ext cx="2011680" cy="54864"/>
          </a:xfrm>
          <a:prstGeom prst="rect">
            <a:avLst/>
          </a:prstGeom>
          <a:solidFill>
            <a:srgbClr val="C0392B"/>
          </a:solidFill>
          <a:ln/>
        </p:spPr>
      </p:sp>
      <p:sp>
        <p:nvSpPr>
          <p:cNvPr id="8" name="Shape 6"/>
          <p:cNvSpPr/>
          <p:nvPr/>
        </p:nvSpPr>
        <p:spPr>
          <a:xfrm>
            <a:off x="0" y="4800600"/>
            <a:ext cx="9144000" cy="342900"/>
          </a:xfrm>
          <a:prstGeom prst="rect">
            <a:avLst/>
          </a:prstGeom>
          <a:solidFill>
            <a:srgbClr val="1B2A4A"/>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548640" y="548640"/>
            <a:ext cx="8229600" cy="45720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Learning outcomes</a:t>
            </a:r>
            <a:endParaRPr lang="en-US" sz="2800" dirty="0"/>
          </a:p>
        </p:txBody>
      </p:sp>
      <p:pic>
        <p:nvPicPr>
          <p:cNvPr id="7" name="Image 0" descr="preencoded.png">    </p:cNvPr>
          <p:cNvPicPr>
            <a:picLocks noChangeAspect="1"/>
          </p:cNvPicPr>
          <p:nvPr/>
        </p:nvPicPr>
        <p:blipFill>
          <a:blip r:embed="rId1"/>
          <a:stretch>
            <a:fillRect/>
          </a:stretch>
        </p:blipFill>
        <p:spPr>
          <a:xfrm>
            <a:off x="640080" y="1097280"/>
            <a:ext cx="256032" cy="256032"/>
          </a:xfrm>
          <a:prstGeom prst="rect">
            <a:avLst/>
          </a:prstGeom>
        </p:spPr>
      </p:pic>
      <p:sp>
        <p:nvSpPr>
          <p:cNvPr id="8" name="Text 5"/>
          <p:cNvSpPr/>
          <p:nvPr/>
        </p:nvSpPr>
        <p:spPr>
          <a:xfrm>
            <a:off x="1051560" y="105156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Explain the system lifecycle and why operations/maintenance dominates total cost (50-70%)</a:t>
            </a:r>
            <a:endParaRPr lang="en-US" sz="1250" dirty="0"/>
          </a:p>
        </p:txBody>
      </p:sp>
      <p:pic>
        <p:nvPicPr>
          <p:cNvPr id="9" name="Image 1" descr="preencoded.png">    </p:cNvPr>
          <p:cNvPicPr>
            <a:picLocks noChangeAspect="1"/>
          </p:cNvPicPr>
          <p:nvPr/>
        </p:nvPicPr>
        <p:blipFill>
          <a:blip r:embed="rId2"/>
          <a:stretch>
            <a:fillRect/>
          </a:stretch>
        </p:blipFill>
        <p:spPr>
          <a:xfrm>
            <a:off x="640080" y="1691640"/>
            <a:ext cx="256032" cy="256032"/>
          </a:xfrm>
          <a:prstGeom prst="rect">
            <a:avLst/>
          </a:prstGeom>
        </p:spPr>
      </p:pic>
      <p:sp>
        <p:nvSpPr>
          <p:cNvPr id="10" name="Text 6"/>
          <p:cNvSpPr/>
          <p:nvPr/>
        </p:nvSpPr>
        <p:spPr>
          <a:xfrm>
            <a:off x="1051560" y="164592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Apply design-for-serviceability principles: access, modularity, diagnostics, and standardization</a:t>
            </a:r>
            <a:endParaRPr lang="en-US" sz="1250" dirty="0"/>
          </a:p>
        </p:txBody>
      </p:sp>
      <p:pic>
        <p:nvPicPr>
          <p:cNvPr id="11" name="Image 2" descr="preencoded.png">    </p:cNvPr>
          <p:cNvPicPr>
            <a:picLocks noChangeAspect="1"/>
          </p:cNvPicPr>
          <p:nvPr/>
        </p:nvPicPr>
        <p:blipFill>
          <a:blip r:embed="rId3"/>
          <a:stretch>
            <a:fillRect/>
          </a:stretch>
        </p:blipFill>
        <p:spPr>
          <a:xfrm>
            <a:off x="640080" y="2286000"/>
            <a:ext cx="256032" cy="256032"/>
          </a:xfrm>
          <a:prstGeom prst="rect">
            <a:avLst/>
          </a:prstGeom>
        </p:spPr>
      </p:pic>
      <p:sp>
        <p:nvSpPr>
          <p:cNvPr id="12" name="Text 7"/>
          <p:cNvSpPr/>
          <p:nvPr/>
        </p:nvSpPr>
        <p:spPr>
          <a:xfrm>
            <a:off x="1051560" y="224028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Develop a maintenance plan covering preventive schedules, spare parts lists, and calibration requirements</a:t>
            </a:r>
            <a:endParaRPr lang="en-US" sz="1250" dirty="0"/>
          </a:p>
        </p:txBody>
      </p:sp>
      <p:pic>
        <p:nvPicPr>
          <p:cNvPr id="13" name="Image 3" descr="preencoded.png">    </p:cNvPr>
          <p:cNvPicPr>
            <a:picLocks noChangeAspect="1"/>
          </p:cNvPicPr>
          <p:nvPr/>
        </p:nvPicPr>
        <p:blipFill>
          <a:blip r:embed="rId4"/>
          <a:stretch>
            <a:fillRect/>
          </a:stretch>
        </p:blipFill>
        <p:spPr>
          <a:xfrm>
            <a:off x="640080" y="2880360"/>
            <a:ext cx="256032" cy="256032"/>
          </a:xfrm>
          <a:prstGeom prst="rect">
            <a:avLst/>
          </a:prstGeom>
        </p:spPr>
      </p:pic>
      <p:sp>
        <p:nvSpPr>
          <p:cNvPr id="14" name="Text 8"/>
          <p:cNvSpPr/>
          <p:nvPr/>
        </p:nvSpPr>
        <p:spPr>
          <a:xfrm>
            <a:off x="1051560" y="283464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Write user documentation including operating manuals, quick-start guides, and troubleshooting procedures</a:t>
            </a:r>
            <a:endParaRPr lang="en-US" sz="1250" dirty="0"/>
          </a:p>
        </p:txBody>
      </p:sp>
      <p:pic>
        <p:nvPicPr>
          <p:cNvPr id="15" name="Image 4" descr="preencoded.png">    </p:cNvPr>
          <p:cNvPicPr>
            <a:picLocks noChangeAspect="1"/>
          </p:cNvPicPr>
          <p:nvPr/>
        </p:nvPicPr>
        <p:blipFill>
          <a:blip r:embed="rId5"/>
          <a:stretch>
            <a:fillRect/>
          </a:stretch>
        </p:blipFill>
        <p:spPr>
          <a:xfrm>
            <a:off x="640080" y="3474720"/>
            <a:ext cx="256032" cy="256032"/>
          </a:xfrm>
          <a:prstGeom prst="rect">
            <a:avLst/>
          </a:prstGeom>
        </p:spPr>
      </p:pic>
      <p:sp>
        <p:nvSpPr>
          <p:cNvPr id="16" name="Text 9"/>
          <p:cNvSpPr/>
          <p:nvPr/>
        </p:nvSpPr>
        <p:spPr>
          <a:xfrm>
            <a:off x="1051560" y="342900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Plan for operator training, knowledge transfer, and ongoing technical support</a:t>
            </a:r>
            <a:endParaRPr lang="en-US" sz="1250" dirty="0"/>
          </a:p>
        </p:txBody>
      </p:sp>
      <p:pic>
        <p:nvPicPr>
          <p:cNvPr id="17" name="Image 5" descr="preencoded.png">    </p:cNvPr>
          <p:cNvPicPr>
            <a:picLocks noChangeAspect="1"/>
          </p:cNvPicPr>
          <p:nvPr/>
        </p:nvPicPr>
        <p:blipFill>
          <a:blip r:embed="rId6"/>
          <a:stretch>
            <a:fillRect/>
          </a:stretch>
        </p:blipFill>
        <p:spPr>
          <a:xfrm>
            <a:off x="640080" y="4069080"/>
            <a:ext cx="256032" cy="256032"/>
          </a:xfrm>
          <a:prstGeom prst="rect">
            <a:avLst/>
          </a:prstGeom>
        </p:spPr>
      </p:pic>
      <p:sp>
        <p:nvSpPr>
          <p:cNvPr id="18" name="Text 10"/>
          <p:cNvSpPr/>
          <p:nvPr/>
        </p:nvSpPr>
        <p:spPr>
          <a:xfrm>
            <a:off x="1051560" y="4023360"/>
            <a:ext cx="7406640" cy="457200"/>
          </a:xfrm>
          <a:prstGeom prst="rect">
            <a:avLst/>
          </a:prstGeom>
          <a:noFill/>
          <a:ln/>
        </p:spPr>
        <p:txBody>
          <a:bodyPr wrap="square" rtlCol="0" anchor="ctr"/>
          <a:lstStyle/>
          <a:p>
            <a:pPr indent="0" marL="0">
              <a:buNone/>
            </a:pPr>
            <a:r>
              <a:rPr lang="en-US" sz="1250" dirty="0">
                <a:solidFill>
                  <a:srgbClr val="2D3B54"/>
                </a:solidFill>
                <a:latin typeface="Calibri" pitchFamily="34" charset="0"/>
                <a:ea typeface="Calibri" pitchFamily="34" charset="-122"/>
                <a:cs typeface="Calibri" pitchFamily="34" charset="-120"/>
              </a:rPr>
              <a:t>Address end-of-life considerations: disassembly, recycling, hazardous materials, and data sanitization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01</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Lifecycle</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thinking</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Total lifecycle cost, design influence, and operational context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Total lifecycle cost</a:t>
            </a:r>
            <a:endParaRPr lang="en-US" sz="2200" dirty="0"/>
          </a:p>
        </p:txBody>
      </p:sp>
      <p:sp>
        <p:nvSpPr>
          <p:cNvPr id="7" name="Shape 5"/>
          <p:cNvSpPr/>
          <p:nvPr/>
        </p:nvSpPr>
        <p:spPr>
          <a:xfrm>
            <a:off x="457200" y="1005840"/>
            <a:ext cx="73152" cy="868680"/>
          </a:xfrm>
          <a:prstGeom prst="rect">
            <a:avLst/>
          </a:prstGeom>
          <a:solidFill>
            <a:srgbClr val="C0392B"/>
          </a:solidFill>
          <a:ln/>
        </p:spPr>
      </p:sp>
      <p:sp>
        <p:nvSpPr>
          <p:cNvPr id="8" name="Text 6"/>
          <p:cNvSpPr/>
          <p:nvPr/>
        </p:nvSpPr>
        <p:spPr>
          <a:xfrm>
            <a:off x="731520" y="1005840"/>
            <a:ext cx="7772400" cy="2743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The 80/20 Rule</a:t>
            </a:r>
            <a:endParaRPr lang="en-US" sz="1400" dirty="0"/>
          </a:p>
        </p:txBody>
      </p:sp>
      <p:sp>
        <p:nvSpPr>
          <p:cNvPr id="9" name="Text 7"/>
          <p:cNvSpPr/>
          <p:nvPr/>
        </p:nvSpPr>
        <p:spPr>
          <a:xfrm>
            <a:off x="731520" y="1280160"/>
            <a:ext cx="7772400" cy="59436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80% of a system's total lifecycle cost is determined by decisions made during the first 20% of development (concept and preliminary design). By the time detailed design begins, most cost-driving decisions are locked in. This is why design-for-serviceability, maintainability, and disposability must be considered DURING design, not after.</a:t>
            </a:r>
            <a:endParaRPr lang="en-US" sz="1050" dirty="0"/>
          </a:p>
        </p:txBody>
      </p:sp>
      <p:sp>
        <p:nvSpPr>
          <p:cNvPr id="10" name="Shape 8"/>
          <p:cNvSpPr/>
          <p:nvPr/>
        </p:nvSpPr>
        <p:spPr>
          <a:xfrm>
            <a:off x="457200" y="2103120"/>
            <a:ext cx="73152" cy="868680"/>
          </a:xfrm>
          <a:prstGeom prst="rect">
            <a:avLst/>
          </a:prstGeom>
          <a:solidFill>
            <a:srgbClr val="2980B9"/>
          </a:solidFill>
          <a:ln/>
        </p:spPr>
      </p:sp>
      <p:sp>
        <p:nvSpPr>
          <p:cNvPr id="11" name="Text 9"/>
          <p:cNvSpPr/>
          <p:nvPr/>
        </p:nvSpPr>
        <p:spPr>
          <a:xfrm>
            <a:off x="731520" y="2103120"/>
            <a:ext cx="7772400" cy="2743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Operations Dominates</a:t>
            </a:r>
            <a:endParaRPr lang="en-US" sz="1400" dirty="0"/>
          </a:p>
        </p:txBody>
      </p:sp>
      <p:sp>
        <p:nvSpPr>
          <p:cNvPr id="12" name="Text 10"/>
          <p:cNvSpPr/>
          <p:nvPr/>
        </p:nvSpPr>
        <p:spPr>
          <a:xfrm>
            <a:off x="731520" y="2377440"/>
            <a:ext cx="7772400" cy="59436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Operations and maintenance typically accounts for 50-70% of total lifecycle cost — far more than development. A system that costs $10K to develop but $50K to maintain over 10 years has a true cost of $60K. Designing for 5 minutes of maintenance savings per week saves 43 hours over 10 years.</a:t>
            </a:r>
            <a:endParaRPr lang="en-US" sz="1050" dirty="0"/>
          </a:p>
        </p:txBody>
      </p:sp>
      <p:sp>
        <p:nvSpPr>
          <p:cNvPr id="13" name="Shape 11"/>
          <p:cNvSpPr/>
          <p:nvPr/>
        </p:nvSpPr>
        <p:spPr>
          <a:xfrm>
            <a:off x="457200" y="3200400"/>
            <a:ext cx="73152" cy="868680"/>
          </a:xfrm>
          <a:prstGeom prst="rect">
            <a:avLst/>
          </a:prstGeom>
          <a:solidFill>
            <a:srgbClr val="27AE60"/>
          </a:solidFill>
          <a:ln/>
        </p:spPr>
      </p:sp>
      <p:sp>
        <p:nvSpPr>
          <p:cNvPr id="14" name="Text 12"/>
          <p:cNvSpPr/>
          <p:nvPr/>
        </p:nvSpPr>
        <p:spPr>
          <a:xfrm>
            <a:off x="731520" y="3200400"/>
            <a:ext cx="7772400" cy="2743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Design Drives O&amp;M Cost</a:t>
            </a:r>
            <a:endParaRPr lang="en-US" sz="1400" dirty="0"/>
          </a:p>
        </p:txBody>
      </p:sp>
      <p:sp>
        <p:nvSpPr>
          <p:cNvPr id="15" name="Text 13"/>
          <p:cNvSpPr/>
          <p:nvPr/>
        </p:nvSpPr>
        <p:spPr>
          <a:xfrm>
            <a:off x="731520" y="3474720"/>
            <a:ext cx="7772400" cy="594360"/>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Every design choice affects O&amp;M: material selection determines corrosion and replacement frequency; modularity determines repair time; diagnostic capability determines troubleshooting time; documentation quality determines training cost.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System lifecycle</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447288"/>
          </a:xfrm>
          <a:prstGeom prst="rect">
            <a:avLst/>
          </a:prstGeom>
        </p:spPr>
      </p:pic>
      <p:sp>
        <p:nvSpPr>
          <p:cNvPr id="4" name="Text 1"/>
          <p:cNvSpPr/>
          <p:nvPr/>
        </p:nvSpPr>
        <p:spPr>
          <a:xfrm>
            <a:off x="274320" y="3995928"/>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1: System lifecycle phases with cost distribution — O&amp;M is 50-70% of total cost</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02</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Design for</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serviceability</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Access, modularity, diagnostics, standardization, and reliability</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Design for serviceability — four principles</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1645920" cy="73152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Access</a:t>
            </a:r>
            <a:endParaRPr lang="en-US" sz="1300" dirty="0"/>
          </a:p>
        </p:txBody>
      </p:sp>
      <p:sp>
        <p:nvSpPr>
          <p:cNvPr id="9" name="Text 7"/>
          <p:cNvSpPr/>
          <p:nvPr/>
        </p:nvSpPr>
        <p:spPr>
          <a:xfrm>
            <a:off x="2286000" y="960120"/>
            <a:ext cx="6400800" cy="7315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Every component that might need replacement, adjustment, or inspection must be physically reachable without disassembling unrelated parts. Use access panels, hinged covers, and quick-release fasteners. Provide tool clearance — a screw that can only be reached with a 90° offset driver is poorly designed.</a:t>
            </a:r>
            <a:endParaRPr lang="en-US" sz="95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1645920" cy="73152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Modularity</a:t>
            </a:r>
            <a:endParaRPr lang="en-US" sz="1300" dirty="0"/>
          </a:p>
        </p:txBody>
      </p:sp>
      <p:sp>
        <p:nvSpPr>
          <p:cNvPr id="12" name="Text 10"/>
          <p:cNvSpPr/>
          <p:nvPr/>
        </p:nvSpPr>
        <p:spPr>
          <a:xfrm>
            <a:off x="2286000" y="1828800"/>
            <a:ext cx="6400800" cy="7315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Design subsystems as self-contained modules with standardized connectors. A failed module should be swappable in the field without special tools or skills. Connectorized wiring harnesses (not hard-soldered) are essential. Each module should be independently testable.</a:t>
            </a:r>
            <a:endParaRPr lang="en-US" sz="95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1645920" cy="73152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Diagnostics</a:t>
            </a:r>
            <a:endParaRPr lang="en-US" sz="1300" dirty="0"/>
          </a:p>
        </p:txBody>
      </p:sp>
      <p:sp>
        <p:nvSpPr>
          <p:cNvPr id="15" name="Text 13"/>
          <p:cNvSpPr/>
          <p:nvPr/>
        </p:nvSpPr>
        <p:spPr>
          <a:xfrm>
            <a:off x="2286000" y="2697480"/>
            <a:ext cx="6400800" cy="7315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Build diagnostic capability into the system. Status LEDs show power/communication/fault state at a glance. Test points allow oscilloscope or DMM access to critical signals. Error codes displayed on an LCD or transmitted via serial. Built-in self-test (BIST) routines that run at power-on.</a:t>
            </a:r>
            <a:endParaRPr lang="en-US" sz="95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1645920" cy="73152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Standardization</a:t>
            </a:r>
            <a:endParaRPr lang="en-US" sz="1300" dirty="0"/>
          </a:p>
        </p:txBody>
      </p:sp>
      <p:sp>
        <p:nvSpPr>
          <p:cNvPr id="18" name="Text 16"/>
          <p:cNvSpPr/>
          <p:nvPr/>
        </p:nvSpPr>
        <p:spPr>
          <a:xfrm>
            <a:off x="2286000" y="3566160"/>
            <a:ext cx="6400800" cy="7315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Use standard fastener sizes (pick 2-3 and use them throughout). Use standard connectors. Use components that are available from multiple suppliers. Avoid proprietary or sole-source parts. Every non-standard part is a maintenance headache and supply-chain risk.</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Design for serviceability</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566160"/>
          </a:xfrm>
          <a:prstGeom prst="rect">
            <a:avLst/>
          </a:prstGeom>
        </p:spPr>
      </p:pic>
      <p:sp>
        <p:nvSpPr>
          <p:cNvPr id="4" name="Text 1"/>
          <p:cNvSpPr/>
          <p:nvPr/>
        </p:nvSpPr>
        <p:spPr>
          <a:xfrm>
            <a:off x="274320" y="411480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2: Four serviceability principles — access, modularity, diagnostics, standardization</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Reliability and maintainability metrics</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1371600" cy="73152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MTBF</a:t>
            </a:r>
            <a:endParaRPr lang="en-US" sz="1300" dirty="0"/>
          </a:p>
        </p:txBody>
      </p:sp>
      <p:sp>
        <p:nvSpPr>
          <p:cNvPr id="9" name="Text 7"/>
          <p:cNvSpPr/>
          <p:nvPr/>
        </p:nvSpPr>
        <p:spPr>
          <a:xfrm>
            <a:off x="2011680" y="960120"/>
            <a:ext cx="6675120" cy="7315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Mean Time Between Failures — average operating time between failures. Higher is better. For electronics, typically 10,000-100,000 hours. Calculated from component failure rates (MIL-HDBK-217 or field data). MTBF is a statistical measure, not a guarantee.</a:t>
            </a:r>
            <a:endParaRPr lang="en-US" sz="95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1371600" cy="73152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MTTR</a:t>
            </a:r>
            <a:endParaRPr lang="en-US" sz="1300" dirty="0"/>
          </a:p>
        </p:txBody>
      </p:sp>
      <p:sp>
        <p:nvSpPr>
          <p:cNvPr id="12" name="Text 10"/>
          <p:cNvSpPr/>
          <p:nvPr/>
        </p:nvSpPr>
        <p:spPr>
          <a:xfrm>
            <a:off x="2011680" y="1828800"/>
            <a:ext cx="6675120" cy="7315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Mean Time To Repair — average time to diagnose and fix a failure. Lower is better. Directly affected by design-for-serviceability: access, modularity, diagnostics, and documentation quality. Target: field-replaceable modules in under 30 minutes.</a:t>
            </a:r>
            <a:endParaRPr lang="en-US" sz="95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1371600" cy="73152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Availability</a:t>
            </a:r>
            <a:endParaRPr lang="en-US" sz="1300" dirty="0"/>
          </a:p>
        </p:txBody>
      </p:sp>
      <p:sp>
        <p:nvSpPr>
          <p:cNvPr id="15" name="Text 13"/>
          <p:cNvSpPr/>
          <p:nvPr/>
        </p:nvSpPr>
        <p:spPr>
          <a:xfrm>
            <a:off x="2011680" y="2697480"/>
            <a:ext cx="6675120" cy="7315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The fraction of time the system is operational: A = MTBF / (MTBF + MTTR). A system with MTBF=1000hr and MTTR=10hr has 99% availability. Improving MTTR (through better design) is often cheaper than improving MTBF (through better components).</a:t>
            </a:r>
            <a:endParaRPr lang="en-US" sz="95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1371600" cy="731520"/>
          </a:xfrm>
          <a:prstGeom prst="rect">
            <a:avLst/>
          </a:prstGeom>
          <a:noFill/>
          <a:ln/>
        </p:spPr>
        <p:txBody>
          <a:bodyPr wrap="square"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FMEA</a:t>
            </a:r>
            <a:endParaRPr lang="en-US" sz="1300" dirty="0"/>
          </a:p>
        </p:txBody>
      </p:sp>
      <p:sp>
        <p:nvSpPr>
          <p:cNvPr id="18" name="Text 16"/>
          <p:cNvSpPr/>
          <p:nvPr/>
        </p:nvSpPr>
        <p:spPr>
          <a:xfrm>
            <a:off x="2011680" y="3566160"/>
            <a:ext cx="6675120" cy="73152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Failure Mode and Effects Analysis — systematic identification of how each component can fail, the effect on the system, and the severity/probability/detectability of each failure. Used to prioritize design improvements and maintenance activities. Present at CDR.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03</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Maintenance</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planning</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Maintenance strategies, schedules, spare parts, and calibration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Maintenance strategies</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337560"/>
          </a:xfrm>
          <a:prstGeom prst="rect">
            <a:avLst/>
          </a:prstGeom>
        </p:spPr>
      </p:pic>
      <p:sp>
        <p:nvSpPr>
          <p:cNvPr id="4" name="Text 1"/>
          <p:cNvSpPr/>
          <p:nvPr/>
        </p:nvSpPr>
        <p:spPr>
          <a:xfrm>
            <a:off x="274320" y="388620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3: Four maintenance strategies from reactive through reliability-centered</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Building a maintenance schedule</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Identify Wear Items</a:t>
            </a:r>
            <a:endParaRPr lang="en-US" sz="1200" dirty="0"/>
          </a:p>
        </p:txBody>
      </p:sp>
      <p:sp>
        <p:nvSpPr>
          <p:cNvPr id="9" name="Text 7"/>
          <p:cNvSpPr/>
          <p:nvPr/>
        </p:nvSpPr>
        <p:spPr>
          <a:xfrm>
            <a:off x="2743200" y="96012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List every component that degrades with use or time: filters, seals, bearings, belts, batteries, lamps, contact surfaces, calibration standards. These are your scheduled replacement items. Consult manufacturer datasheets for replacement intervals.</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Define Intervals</a:t>
            </a:r>
            <a:endParaRPr lang="en-US" sz="1200" dirty="0"/>
          </a:p>
        </p:txBody>
      </p:sp>
      <p:sp>
        <p:nvSpPr>
          <p:cNvPr id="12" name="Text 10"/>
          <p:cNvSpPr/>
          <p:nvPr/>
        </p:nvSpPr>
        <p:spPr>
          <a:xfrm>
            <a:off x="2743200" y="182880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Based on manufacturer recommendations, industry standards, and operating conditions. Express as calendar time (monthly, quarterly, annually) or operating hours (every 1000 hrs). More demanding environments require shorter intervals.</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Spare Parts List</a:t>
            </a:r>
            <a:endParaRPr lang="en-US" sz="1200" dirty="0"/>
          </a:p>
        </p:txBody>
      </p:sp>
      <p:sp>
        <p:nvSpPr>
          <p:cNvPr id="15" name="Text 13"/>
          <p:cNvSpPr/>
          <p:nvPr/>
        </p:nvSpPr>
        <p:spPr>
          <a:xfrm>
            <a:off x="2743200" y="269748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For every wear item, specify: part number, quantity to stock, supplier, lead time, and cost. Stock at least 2× the expected first-year consumption. Identify single-source items and qualify alternates.</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10312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Calibration Schedule</a:t>
            </a:r>
            <a:endParaRPr lang="en-US" sz="1200" dirty="0"/>
          </a:p>
        </p:txBody>
      </p:sp>
      <p:sp>
        <p:nvSpPr>
          <p:cNvPr id="18" name="Text 16"/>
          <p:cNvSpPr/>
          <p:nvPr/>
        </p:nvSpPr>
        <p:spPr>
          <a:xfrm>
            <a:off x="2743200" y="3566160"/>
            <a:ext cx="594360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Any measurement instrument needs periodic calibration traceable to a national standard (NIST). Define: what is calibrated, how often, to what standard, by whom, and what records are kept. Typical: annually or after any event that might affect accuracy.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914400"/>
            <a:ext cx="1828800" cy="548640"/>
          </a:xfrm>
          <a:prstGeom prst="rect">
            <a:avLst/>
          </a:prstGeom>
          <a:noFill/>
          <a:ln/>
        </p:spPr>
        <p:txBody>
          <a:bodyPr wrap="square" rtlCol="0" anchor="ctr"/>
          <a:lstStyle/>
          <a:p>
            <a:pPr indent="0" marL="0">
              <a:buNone/>
            </a:pPr>
            <a:r>
              <a:rPr lang="en-US" sz="4800" b="1" dirty="0">
                <a:solidFill>
                  <a:srgbClr val="C0392B"/>
                </a:solidFill>
                <a:latin typeface="Georgia" pitchFamily="34" charset="0"/>
                <a:ea typeface="Georgia" pitchFamily="34" charset="-122"/>
                <a:cs typeface="Georgia" pitchFamily="34" charset="-120"/>
              </a:rPr>
              <a:t>04</a:t>
            </a:r>
            <a:endParaRPr lang="en-US" sz="4800" dirty="0"/>
          </a:p>
        </p:txBody>
      </p:sp>
      <p:sp>
        <p:nvSpPr>
          <p:cNvPr id="5" name="Text 3"/>
          <p:cNvSpPr/>
          <p:nvPr/>
        </p:nvSpPr>
        <p:spPr>
          <a:xfrm>
            <a:off x="548640" y="1554480"/>
            <a:ext cx="54864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Documentation,</a:t>
            </a:r>
            <a:endParaRPr lang="en-US" sz="3200" dirty="0"/>
          </a:p>
          <a:p>
            <a:pPr indent="0" marL="0">
              <a:lnSpc>
                <a:spcPct val="110000"/>
              </a:lnSpc>
              <a:buNone/>
            </a:pPr>
            <a:r>
              <a:rPr lang="en-US" sz="3200" b="1" dirty="0">
                <a:solidFill>
                  <a:srgbClr val="FFFFFF"/>
                </a:solidFill>
                <a:latin typeface="Georgia" pitchFamily="34" charset="0"/>
                <a:ea typeface="Georgia" pitchFamily="34" charset="-122"/>
                <a:cs typeface="Georgia" pitchFamily="34" charset="-120"/>
              </a:rPr>
              <a:t>training, &amp; EOL</a:t>
            </a:r>
            <a:endParaRPr lang="en-US" sz="3200" dirty="0"/>
          </a:p>
        </p:txBody>
      </p:sp>
      <p:sp>
        <p:nvSpPr>
          <p:cNvPr id="6" name="Text 4"/>
          <p:cNvSpPr/>
          <p:nvPr/>
        </p:nvSpPr>
        <p:spPr>
          <a:xfrm>
            <a:off x="548640" y="2926080"/>
            <a:ext cx="7315200" cy="365760"/>
          </a:xfrm>
          <a:prstGeom prst="rect">
            <a:avLst/>
          </a:prstGeom>
          <a:noFill/>
          <a:ln/>
        </p:spPr>
        <p:txBody>
          <a:bodyPr wrap="square" rtlCol="0" anchor="ctr"/>
          <a:lstStyle/>
          <a:p>
            <a:pPr indent="0" marL="0">
              <a:buNone/>
            </a:pPr>
            <a:r>
              <a:rPr lang="en-US" sz="1400" dirty="0">
                <a:solidFill>
                  <a:srgbClr val="7A7469"/>
                </a:solidFill>
                <a:latin typeface="Calibri" pitchFamily="34" charset="0"/>
                <a:ea typeface="Calibri" pitchFamily="34" charset="-122"/>
                <a:cs typeface="Calibri" pitchFamily="34" charset="-120"/>
              </a:rPr>
              <a:t>User manuals, operator training, knowledge transfer, and end-of-life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User documentation</a:t>
            </a:r>
            <a:endParaRPr lang="en-US" sz="2200" dirty="0"/>
          </a:p>
        </p:txBody>
      </p:sp>
      <p:sp>
        <p:nvSpPr>
          <p:cNvPr id="7" name="Text 5"/>
          <p:cNvSpPr/>
          <p:nvPr/>
        </p:nvSpPr>
        <p:spPr>
          <a:xfrm>
            <a:off x="548640" y="960120"/>
            <a:ext cx="777240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Documentation is written for the USER — not for the engineer who designed the system. If the user cannot understand it, it does not exist.</a:t>
            </a:r>
            <a:endParaRPr lang="en-US" sz="1200" dirty="0"/>
          </a:p>
        </p:txBody>
      </p:sp>
      <p:sp>
        <p:nvSpPr>
          <p:cNvPr id="8" name="Shape 6"/>
          <p:cNvSpPr/>
          <p:nvPr/>
        </p:nvSpPr>
        <p:spPr>
          <a:xfrm>
            <a:off x="457200" y="1389888"/>
            <a:ext cx="54864" cy="621792"/>
          </a:xfrm>
          <a:prstGeom prst="rect">
            <a:avLst/>
          </a:prstGeom>
          <a:solidFill>
            <a:srgbClr val="C0392B"/>
          </a:solidFill>
          <a:ln/>
        </p:spPr>
      </p:sp>
      <p:sp>
        <p:nvSpPr>
          <p:cNvPr id="9" name="Text 7"/>
          <p:cNvSpPr/>
          <p:nvPr/>
        </p:nvSpPr>
        <p:spPr>
          <a:xfrm>
            <a:off x="685800" y="1371600"/>
            <a:ext cx="2011680" cy="658368"/>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Quick-Start Guide</a:t>
            </a:r>
            <a:endParaRPr lang="en-US" sz="1200" dirty="0"/>
          </a:p>
        </p:txBody>
      </p:sp>
      <p:sp>
        <p:nvSpPr>
          <p:cNvPr id="10" name="Text 8"/>
          <p:cNvSpPr/>
          <p:nvPr/>
        </p:nvSpPr>
        <p:spPr>
          <a:xfrm>
            <a:off x="2651760" y="1371600"/>
            <a:ext cx="603504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One page. Gets the user from unpacking to first operation in under 10 minutes. Numbered steps with photos. No background theory. The document 90% of users will actually read.</a:t>
            </a:r>
            <a:endParaRPr lang="en-US" sz="950" dirty="0"/>
          </a:p>
        </p:txBody>
      </p:sp>
      <p:sp>
        <p:nvSpPr>
          <p:cNvPr id="11" name="Shape 9"/>
          <p:cNvSpPr/>
          <p:nvPr/>
        </p:nvSpPr>
        <p:spPr>
          <a:xfrm>
            <a:off x="457200" y="2167128"/>
            <a:ext cx="54864" cy="621792"/>
          </a:xfrm>
          <a:prstGeom prst="rect">
            <a:avLst/>
          </a:prstGeom>
          <a:solidFill>
            <a:srgbClr val="2980B9"/>
          </a:solidFill>
          <a:ln/>
        </p:spPr>
      </p:sp>
      <p:sp>
        <p:nvSpPr>
          <p:cNvPr id="12" name="Text 10"/>
          <p:cNvSpPr/>
          <p:nvPr/>
        </p:nvSpPr>
        <p:spPr>
          <a:xfrm>
            <a:off x="685800" y="2148840"/>
            <a:ext cx="2011680" cy="658368"/>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Operating Manual</a:t>
            </a:r>
            <a:endParaRPr lang="en-US" sz="1200" dirty="0"/>
          </a:p>
        </p:txBody>
      </p:sp>
      <p:sp>
        <p:nvSpPr>
          <p:cNvPr id="13" name="Text 11"/>
          <p:cNvSpPr/>
          <p:nvPr/>
        </p:nvSpPr>
        <p:spPr>
          <a:xfrm>
            <a:off x="2651760" y="2148840"/>
            <a:ext cx="603504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Complete reference for all features, modes, settings, and procedures. Organized by task, not by component. Include safety warnings, environmental limits, and troubleshooting flowcharts.</a:t>
            </a:r>
            <a:endParaRPr lang="en-US" sz="950" dirty="0"/>
          </a:p>
        </p:txBody>
      </p:sp>
      <p:sp>
        <p:nvSpPr>
          <p:cNvPr id="14" name="Shape 12"/>
          <p:cNvSpPr/>
          <p:nvPr/>
        </p:nvSpPr>
        <p:spPr>
          <a:xfrm>
            <a:off x="457200" y="2944368"/>
            <a:ext cx="54864" cy="621792"/>
          </a:xfrm>
          <a:prstGeom prst="rect">
            <a:avLst/>
          </a:prstGeom>
          <a:solidFill>
            <a:srgbClr val="27AE60"/>
          </a:solidFill>
          <a:ln/>
        </p:spPr>
      </p:sp>
      <p:sp>
        <p:nvSpPr>
          <p:cNvPr id="15" name="Text 13"/>
          <p:cNvSpPr/>
          <p:nvPr/>
        </p:nvSpPr>
        <p:spPr>
          <a:xfrm>
            <a:off x="685800" y="2926080"/>
            <a:ext cx="2011680" cy="658368"/>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Maintenance Manual</a:t>
            </a:r>
            <a:endParaRPr lang="en-US" sz="1200" dirty="0"/>
          </a:p>
        </p:txBody>
      </p:sp>
      <p:sp>
        <p:nvSpPr>
          <p:cNvPr id="16" name="Text 14"/>
          <p:cNvSpPr/>
          <p:nvPr/>
        </p:nvSpPr>
        <p:spPr>
          <a:xfrm>
            <a:off x="2651760" y="2926080"/>
            <a:ext cx="603504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Step-by-step procedures for every scheduled maintenance task. Include photos, tool lists, torque specs, and replacement part numbers. Written for a technician, not an engineer.</a:t>
            </a:r>
            <a:endParaRPr lang="en-US" sz="950" dirty="0"/>
          </a:p>
        </p:txBody>
      </p:sp>
      <p:sp>
        <p:nvSpPr>
          <p:cNvPr id="17" name="Shape 15"/>
          <p:cNvSpPr/>
          <p:nvPr/>
        </p:nvSpPr>
        <p:spPr>
          <a:xfrm>
            <a:off x="457200" y="3721608"/>
            <a:ext cx="54864" cy="621792"/>
          </a:xfrm>
          <a:prstGeom prst="rect">
            <a:avLst/>
          </a:prstGeom>
          <a:solidFill>
            <a:srgbClr val="D35400"/>
          </a:solidFill>
          <a:ln/>
        </p:spPr>
      </p:sp>
      <p:sp>
        <p:nvSpPr>
          <p:cNvPr id="18" name="Text 16"/>
          <p:cNvSpPr/>
          <p:nvPr/>
        </p:nvSpPr>
        <p:spPr>
          <a:xfrm>
            <a:off x="685800" y="3703320"/>
            <a:ext cx="2011680" cy="658368"/>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Troubleshooting Guide</a:t>
            </a:r>
            <a:endParaRPr lang="en-US" sz="1200" dirty="0"/>
          </a:p>
        </p:txBody>
      </p:sp>
      <p:sp>
        <p:nvSpPr>
          <p:cNvPr id="19" name="Text 17"/>
          <p:cNvSpPr/>
          <p:nvPr/>
        </p:nvSpPr>
        <p:spPr>
          <a:xfrm>
            <a:off x="2651760" y="3703320"/>
            <a:ext cx="6035040" cy="658368"/>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Symptom-based diagnostic flowcharts: 'System does not power on → Check fuse → Check battery voltage → Check power switch.' Each path ends with a specific corrective action. Include error codes and their meanings.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Training and knowledge transfer</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Who Needs Training?</a:t>
            </a:r>
            <a:endParaRPr lang="en-US" sz="1200" dirty="0"/>
          </a:p>
        </p:txBody>
      </p:sp>
      <p:sp>
        <p:nvSpPr>
          <p:cNvPr id="9" name="Text 7"/>
          <p:cNvSpPr/>
          <p:nvPr/>
        </p:nvSpPr>
        <p:spPr>
          <a:xfrm>
            <a:off x="2926080" y="96012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Operators (daily use), maintainers (repair and calibration), administrators (configuration and data management), and trainers (who will teach the next generation of users). Each audience needs different content and depth.</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Training Methods</a:t>
            </a:r>
            <a:endParaRPr lang="en-US" sz="1200" dirty="0"/>
          </a:p>
        </p:txBody>
      </p:sp>
      <p:sp>
        <p:nvSpPr>
          <p:cNvPr id="12" name="Text 10"/>
          <p:cNvSpPr/>
          <p:nvPr/>
        </p:nvSpPr>
        <p:spPr>
          <a:xfrm>
            <a:off x="2926080" y="182880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Hands-on demonstration is most effective for physical systems. Written procedures for reference. Video recordings for remote support. Supervised first-use before independent operation. Competency assessment to confirm readiness.</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Knowledge Transfer</a:t>
            </a:r>
            <a:endParaRPr lang="en-US" sz="1200" dirty="0"/>
          </a:p>
        </p:txBody>
      </p:sp>
      <p:sp>
        <p:nvSpPr>
          <p:cNvPr id="15" name="Text 13"/>
          <p:cNvSpPr/>
          <p:nvPr/>
        </p:nvSpPr>
        <p:spPr>
          <a:xfrm>
            <a:off x="2926080" y="269748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The design team holds critical knowledge that must be transferred to the operations team. This includes: design rationale (why decisions were made), known limitations, failure modes and workarounds, calibration procedures, and software update processes. Document everything; team members graduate.</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Ongoing Support</a:t>
            </a:r>
            <a:endParaRPr lang="en-US" sz="1200" dirty="0"/>
          </a:p>
        </p:txBody>
      </p:sp>
      <p:sp>
        <p:nvSpPr>
          <p:cNvPr id="18" name="Text 16"/>
          <p:cNvSpPr/>
          <p:nvPr/>
        </p:nvSpPr>
        <p:spPr>
          <a:xfrm>
            <a:off x="2926080" y="356616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Define the support model: who does the operator call when something goes wrong? Is there a warranty period? Is there a service contract? For student projects, the 'support plan' might be a detailed handoff package to the next year's team or the project sponsor.</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F"/>
        </a:solidFill>
      </p:bgPr>
    </p:bg>
    <p:spTree>
      <p:nvGrpSpPr>
        <p:cNvPr id="1" name=""/>
        <p:cNvGrpSpPr/>
        <p:nvPr/>
      </p:nvGrpSpPr>
      <p:grpSpPr>
        <a:xfrm>
          <a:off x="0" y="0"/>
          <a:ext cx="0" cy="0"/>
          <a:chOff x="0" y="0"/>
          <a:chExt cx="0" cy="0"/>
        </a:xfrm>
      </p:grpSpPr>
      <p:sp>
        <p:nvSpPr>
          <p:cNvPr id="2" name="Text 0"/>
          <p:cNvSpPr/>
          <p:nvPr/>
        </p:nvSpPr>
        <p:spPr>
          <a:xfrm>
            <a:off x="274320" y="91440"/>
            <a:ext cx="8595360" cy="365760"/>
          </a:xfrm>
          <a:prstGeom prst="rect">
            <a:avLst/>
          </a:prstGeom>
          <a:noFill/>
          <a:ln/>
        </p:spPr>
        <p:txBody>
          <a:bodyPr wrap="square" rtlCol="0" anchor="ctr"/>
          <a:lstStyle/>
          <a:p>
            <a:pPr algn="ctr" indent="0" marL="0">
              <a:buNone/>
            </a:pPr>
            <a:r>
              <a:rPr lang="en-US" sz="2200" b="1" dirty="0">
                <a:solidFill>
                  <a:srgbClr val="1B2A4A"/>
                </a:solidFill>
                <a:latin typeface="Georgia" pitchFamily="34" charset="0"/>
                <a:ea typeface="Georgia" pitchFamily="34" charset="-122"/>
                <a:cs typeface="Georgia" pitchFamily="34" charset="-120"/>
              </a:rPr>
              <a:t>End-of-life planning</a:t>
            </a:r>
            <a:endParaRPr lang="en-US" sz="2200" dirty="0"/>
          </a:p>
        </p:txBody>
      </p:sp>
      <p:pic>
        <p:nvPicPr>
          <p:cNvPr id="3" name="Image 0" descr="preencoded.png">    </p:cNvPr>
          <p:cNvPicPr>
            <a:picLocks noChangeAspect="1"/>
          </p:cNvPicPr>
          <p:nvPr/>
        </p:nvPicPr>
        <p:blipFill>
          <a:blip r:embed="rId1"/>
          <a:stretch>
            <a:fillRect/>
          </a:stretch>
        </p:blipFill>
        <p:spPr>
          <a:xfrm>
            <a:off x="137160" y="502920"/>
            <a:ext cx="8869680" cy="3200400"/>
          </a:xfrm>
          <a:prstGeom prst="rect">
            <a:avLst/>
          </a:prstGeom>
        </p:spPr>
      </p:pic>
      <p:sp>
        <p:nvSpPr>
          <p:cNvPr id="4" name="Text 1"/>
          <p:cNvSpPr/>
          <p:nvPr/>
        </p:nvSpPr>
        <p:spPr>
          <a:xfrm>
            <a:off x="274320" y="3749040"/>
            <a:ext cx="8595360" cy="182880"/>
          </a:xfrm>
          <a:prstGeom prst="rect">
            <a:avLst/>
          </a:prstGeom>
          <a:noFill/>
          <a:ln/>
        </p:spPr>
        <p:txBody>
          <a:bodyPr wrap="square" rtlCol="0" anchor="ctr"/>
          <a:lstStyle/>
          <a:p>
            <a:pPr algn="ctr" indent="0" marL="0">
              <a:buNone/>
            </a:pPr>
            <a:r>
              <a:rPr lang="en-US" sz="950" i="1" dirty="0">
                <a:solidFill>
                  <a:srgbClr val="7A7469"/>
                </a:solidFill>
                <a:latin typeface="Calibri" pitchFamily="34" charset="0"/>
                <a:ea typeface="Calibri" pitchFamily="34" charset="-122"/>
                <a:cs typeface="Calibri" pitchFamily="34" charset="-120"/>
              </a:rPr>
              <a:t>Fig. 4: Four end-of-life deliverables: documentation, training, spare parts, and disposal planning</a:t>
            </a:r>
            <a:endParaRPr lang="en-US" sz="950" dirty="0"/>
          </a:p>
        </p:txBody>
      </p:sp>
      <p:sp>
        <p:nvSpPr>
          <p:cNvPr id="5" name="Shape 2"/>
          <p:cNvSpPr/>
          <p:nvPr/>
        </p:nvSpPr>
        <p:spPr>
          <a:xfrm>
            <a:off x="0" y="4663440"/>
            <a:ext cx="9144000" cy="480060"/>
          </a:xfrm>
          <a:prstGeom prst="rect">
            <a:avLst/>
          </a:prstGeom>
          <a:solidFill>
            <a:srgbClr val="1B2A4A"/>
          </a:solidFill>
          <a:ln/>
        </p:spPr>
      </p:sp>
      <p:sp>
        <p:nvSpPr>
          <p:cNvPr id="6"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Operations &amp; maintenance checklist</a:t>
            </a:r>
            <a:endParaRPr lang="en-US" sz="2200" dirty="0"/>
          </a:p>
        </p:txBody>
      </p:sp>
      <p:sp>
        <p:nvSpPr>
          <p:cNvPr id="7" name="Text 5"/>
          <p:cNvSpPr/>
          <p:nvPr/>
        </p:nvSpPr>
        <p:spPr>
          <a:xfrm>
            <a:off x="548640" y="960120"/>
            <a:ext cx="7772400" cy="27432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Address ALL items before system handoff.</a:t>
            </a:r>
            <a:endParaRPr lang="en-US" sz="1200" dirty="0"/>
          </a:p>
        </p:txBody>
      </p:sp>
      <p:pic>
        <p:nvPicPr>
          <p:cNvPr id="8" name="Image 0" descr="preencoded.png">    </p:cNvPr>
          <p:cNvPicPr>
            <a:picLocks noChangeAspect="1"/>
          </p:cNvPicPr>
          <p:nvPr/>
        </p:nvPicPr>
        <p:blipFill>
          <a:blip r:embed="rId1"/>
          <a:stretch>
            <a:fillRect/>
          </a:stretch>
        </p:blipFill>
        <p:spPr>
          <a:xfrm>
            <a:off x="457200" y="1298448"/>
            <a:ext cx="182880" cy="182880"/>
          </a:xfrm>
          <a:prstGeom prst="rect">
            <a:avLst/>
          </a:prstGeom>
        </p:spPr>
      </p:pic>
      <p:sp>
        <p:nvSpPr>
          <p:cNvPr id="9" name="Text 6"/>
          <p:cNvSpPr/>
          <p:nvPr/>
        </p:nvSpPr>
        <p:spPr>
          <a:xfrm>
            <a:off x="777240" y="128016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Quick-start guide written and tested with a naive user?</a:t>
            </a:r>
            <a:endParaRPr lang="en-US" sz="950" dirty="0"/>
          </a:p>
        </p:txBody>
      </p:sp>
      <p:pic>
        <p:nvPicPr>
          <p:cNvPr id="10" name="Image 1" descr="preencoded.png">    </p:cNvPr>
          <p:cNvPicPr>
            <a:picLocks noChangeAspect="1"/>
          </p:cNvPicPr>
          <p:nvPr/>
        </p:nvPicPr>
        <p:blipFill>
          <a:blip r:embed="rId2"/>
          <a:stretch>
            <a:fillRect/>
          </a:stretch>
        </p:blipFill>
        <p:spPr>
          <a:xfrm>
            <a:off x="457200" y="1572768"/>
            <a:ext cx="182880" cy="182880"/>
          </a:xfrm>
          <a:prstGeom prst="rect">
            <a:avLst/>
          </a:prstGeom>
        </p:spPr>
      </p:pic>
      <p:sp>
        <p:nvSpPr>
          <p:cNvPr id="11" name="Text 7"/>
          <p:cNvSpPr/>
          <p:nvPr/>
        </p:nvSpPr>
        <p:spPr>
          <a:xfrm>
            <a:off x="777240" y="155448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Operating manual complete with all modes, features, and safety warnings?</a:t>
            </a:r>
            <a:endParaRPr lang="en-US" sz="950" dirty="0"/>
          </a:p>
        </p:txBody>
      </p:sp>
      <p:pic>
        <p:nvPicPr>
          <p:cNvPr id="12" name="Image 2" descr="preencoded.png">    </p:cNvPr>
          <p:cNvPicPr>
            <a:picLocks noChangeAspect="1"/>
          </p:cNvPicPr>
          <p:nvPr/>
        </p:nvPicPr>
        <p:blipFill>
          <a:blip r:embed="rId3"/>
          <a:stretch>
            <a:fillRect/>
          </a:stretch>
        </p:blipFill>
        <p:spPr>
          <a:xfrm>
            <a:off x="457200" y="1847088"/>
            <a:ext cx="182880" cy="182880"/>
          </a:xfrm>
          <a:prstGeom prst="rect">
            <a:avLst/>
          </a:prstGeom>
        </p:spPr>
      </p:pic>
      <p:sp>
        <p:nvSpPr>
          <p:cNvPr id="13" name="Text 8"/>
          <p:cNvSpPr/>
          <p:nvPr/>
        </p:nvSpPr>
        <p:spPr>
          <a:xfrm>
            <a:off x="777240" y="182880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Maintenance schedule defined with intervals, procedures, and part numbers?</a:t>
            </a:r>
            <a:endParaRPr lang="en-US" sz="950" dirty="0"/>
          </a:p>
        </p:txBody>
      </p:sp>
      <p:pic>
        <p:nvPicPr>
          <p:cNvPr id="14" name="Image 3" descr="preencoded.png">    </p:cNvPr>
          <p:cNvPicPr>
            <a:picLocks noChangeAspect="1"/>
          </p:cNvPicPr>
          <p:nvPr/>
        </p:nvPicPr>
        <p:blipFill>
          <a:blip r:embed="rId4"/>
          <a:stretch>
            <a:fillRect/>
          </a:stretch>
        </p:blipFill>
        <p:spPr>
          <a:xfrm>
            <a:off x="457200" y="2121408"/>
            <a:ext cx="182880" cy="182880"/>
          </a:xfrm>
          <a:prstGeom prst="rect">
            <a:avLst/>
          </a:prstGeom>
        </p:spPr>
      </p:pic>
      <p:sp>
        <p:nvSpPr>
          <p:cNvPr id="15" name="Text 9"/>
          <p:cNvSpPr/>
          <p:nvPr/>
        </p:nvSpPr>
        <p:spPr>
          <a:xfrm>
            <a:off x="777240" y="210312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Spare parts list with quantities, vendors, and lead times?</a:t>
            </a:r>
            <a:endParaRPr lang="en-US" sz="950" dirty="0"/>
          </a:p>
        </p:txBody>
      </p:sp>
      <p:pic>
        <p:nvPicPr>
          <p:cNvPr id="16" name="Image 4" descr="preencoded.png">    </p:cNvPr>
          <p:cNvPicPr>
            <a:picLocks noChangeAspect="1"/>
          </p:cNvPicPr>
          <p:nvPr/>
        </p:nvPicPr>
        <p:blipFill>
          <a:blip r:embed="rId5"/>
          <a:stretch>
            <a:fillRect/>
          </a:stretch>
        </p:blipFill>
        <p:spPr>
          <a:xfrm>
            <a:off x="457200" y="2395728"/>
            <a:ext cx="182880" cy="182880"/>
          </a:xfrm>
          <a:prstGeom prst="rect">
            <a:avLst/>
          </a:prstGeom>
        </p:spPr>
      </p:pic>
      <p:sp>
        <p:nvSpPr>
          <p:cNvPr id="17" name="Text 10"/>
          <p:cNvSpPr/>
          <p:nvPr/>
        </p:nvSpPr>
        <p:spPr>
          <a:xfrm>
            <a:off x="777240" y="237744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Troubleshooting guide with symptom-based flowcharts?</a:t>
            </a:r>
            <a:endParaRPr lang="en-US" sz="950" dirty="0"/>
          </a:p>
        </p:txBody>
      </p:sp>
      <p:pic>
        <p:nvPicPr>
          <p:cNvPr id="18" name="Image 5" descr="preencoded.png">    </p:cNvPr>
          <p:cNvPicPr>
            <a:picLocks noChangeAspect="1"/>
          </p:cNvPicPr>
          <p:nvPr/>
        </p:nvPicPr>
        <p:blipFill>
          <a:blip r:embed="rId6"/>
          <a:stretch>
            <a:fillRect/>
          </a:stretch>
        </p:blipFill>
        <p:spPr>
          <a:xfrm>
            <a:off x="457200" y="2670048"/>
            <a:ext cx="182880" cy="182880"/>
          </a:xfrm>
          <a:prstGeom prst="rect">
            <a:avLst/>
          </a:prstGeom>
        </p:spPr>
      </p:pic>
      <p:sp>
        <p:nvSpPr>
          <p:cNvPr id="19" name="Text 11"/>
          <p:cNvSpPr/>
          <p:nvPr/>
        </p:nvSpPr>
        <p:spPr>
          <a:xfrm>
            <a:off x="777240" y="265176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Calibration schedule with standards, intervals, and record-keeping?</a:t>
            </a:r>
            <a:endParaRPr lang="en-US" sz="950" dirty="0"/>
          </a:p>
        </p:txBody>
      </p:sp>
      <p:pic>
        <p:nvPicPr>
          <p:cNvPr id="20" name="Image 6" descr="preencoded.png">    </p:cNvPr>
          <p:cNvPicPr>
            <a:picLocks noChangeAspect="1"/>
          </p:cNvPicPr>
          <p:nvPr/>
        </p:nvPicPr>
        <p:blipFill>
          <a:blip r:embed="rId7"/>
          <a:stretch>
            <a:fillRect/>
          </a:stretch>
        </p:blipFill>
        <p:spPr>
          <a:xfrm>
            <a:off x="457200" y="2944368"/>
            <a:ext cx="182880" cy="182880"/>
          </a:xfrm>
          <a:prstGeom prst="rect">
            <a:avLst/>
          </a:prstGeom>
        </p:spPr>
      </p:pic>
      <p:sp>
        <p:nvSpPr>
          <p:cNvPr id="21" name="Text 12"/>
          <p:cNvSpPr/>
          <p:nvPr/>
        </p:nvSpPr>
        <p:spPr>
          <a:xfrm>
            <a:off x="777240" y="292608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Training plan with audience, content, and delivery method?</a:t>
            </a:r>
            <a:endParaRPr lang="en-US" sz="950" dirty="0"/>
          </a:p>
        </p:txBody>
      </p:sp>
      <p:pic>
        <p:nvPicPr>
          <p:cNvPr id="22" name="Image 7" descr="preencoded.png">    </p:cNvPr>
          <p:cNvPicPr>
            <a:picLocks noChangeAspect="1"/>
          </p:cNvPicPr>
          <p:nvPr/>
        </p:nvPicPr>
        <p:blipFill>
          <a:blip r:embed="rId8"/>
          <a:stretch>
            <a:fillRect/>
          </a:stretch>
        </p:blipFill>
        <p:spPr>
          <a:xfrm>
            <a:off x="457200" y="3218688"/>
            <a:ext cx="182880" cy="182880"/>
          </a:xfrm>
          <a:prstGeom prst="rect">
            <a:avLst/>
          </a:prstGeom>
        </p:spPr>
      </p:pic>
      <p:sp>
        <p:nvSpPr>
          <p:cNvPr id="23" name="Text 13"/>
          <p:cNvSpPr/>
          <p:nvPr/>
        </p:nvSpPr>
        <p:spPr>
          <a:xfrm>
            <a:off x="777240" y="320040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Knowledge transfer documentation (design rationale, known issues, workarounds)?</a:t>
            </a:r>
            <a:endParaRPr lang="en-US" sz="950" dirty="0"/>
          </a:p>
        </p:txBody>
      </p:sp>
      <p:pic>
        <p:nvPicPr>
          <p:cNvPr id="24" name="Image 8" descr="preencoded.png">    </p:cNvPr>
          <p:cNvPicPr>
            <a:picLocks noChangeAspect="1"/>
          </p:cNvPicPr>
          <p:nvPr/>
        </p:nvPicPr>
        <p:blipFill>
          <a:blip r:embed="rId9"/>
          <a:stretch>
            <a:fillRect/>
          </a:stretch>
        </p:blipFill>
        <p:spPr>
          <a:xfrm>
            <a:off x="457200" y="3493008"/>
            <a:ext cx="182880" cy="182880"/>
          </a:xfrm>
          <a:prstGeom prst="rect">
            <a:avLst/>
          </a:prstGeom>
        </p:spPr>
      </p:pic>
      <p:sp>
        <p:nvSpPr>
          <p:cNvPr id="25" name="Text 14"/>
          <p:cNvSpPr/>
          <p:nvPr/>
        </p:nvSpPr>
        <p:spPr>
          <a:xfrm>
            <a:off x="777240" y="347472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Support model defined (who to call, warranty, service contract)?</a:t>
            </a:r>
            <a:endParaRPr lang="en-US" sz="950" dirty="0"/>
          </a:p>
        </p:txBody>
      </p:sp>
      <p:pic>
        <p:nvPicPr>
          <p:cNvPr id="26" name="Image 9" descr="preencoded.png">    </p:cNvPr>
          <p:cNvPicPr>
            <a:picLocks noChangeAspect="1"/>
          </p:cNvPicPr>
          <p:nvPr/>
        </p:nvPicPr>
        <p:blipFill>
          <a:blip r:embed="rId10"/>
          <a:stretch>
            <a:fillRect/>
          </a:stretch>
        </p:blipFill>
        <p:spPr>
          <a:xfrm>
            <a:off x="457200" y="3767328"/>
            <a:ext cx="182880" cy="182880"/>
          </a:xfrm>
          <a:prstGeom prst="rect">
            <a:avLst/>
          </a:prstGeom>
        </p:spPr>
      </p:pic>
      <p:sp>
        <p:nvSpPr>
          <p:cNvPr id="27" name="Text 15"/>
          <p:cNvSpPr/>
          <p:nvPr/>
        </p:nvSpPr>
        <p:spPr>
          <a:xfrm>
            <a:off x="777240" y="374904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Design for serviceability verified (access, modularity, diagnostics, standard fasteners)?</a:t>
            </a:r>
            <a:endParaRPr lang="en-US" sz="950" dirty="0"/>
          </a:p>
        </p:txBody>
      </p:sp>
      <p:pic>
        <p:nvPicPr>
          <p:cNvPr id="28" name="Image 10" descr="preencoded.png">    </p:cNvPr>
          <p:cNvPicPr>
            <a:picLocks noChangeAspect="1"/>
          </p:cNvPicPr>
          <p:nvPr/>
        </p:nvPicPr>
        <p:blipFill>
          <a:blip r:embed="rId11"/>
          <a:stretch>
            <a:fillRect/>
          </a:stretch>
        </p:blipFill>
        <p:spPr>
          <a:xfrm>
            <a:off x="457200" y="4041648"/>
            <a:ext cx="182880" cy="182880"/>
          </a:xfrm>
          <a:prstGeom prst="rect">
            <a:avLst/>
          </a:prstGeom>
        </p:spPr>
      </p:pic>
      <p:sp>
        <p:nvSpPr>
          <p:cNvPr id="29" name="Text 16"/>
          <p:cNvSpPr/>
          <p:nvPr/>
        </p:nvSpPr>
        <p:spPr>
          <a:xfrm>
            <a:off x="777240" y="402336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FMEA completed for critical failure modes with mitigations?</a:t>
            </a:r>
            <a:endParaRPr lang="en-US" sz="950" dirty="0"/>
          </a:p>
        </p:txBody>
      </p:sp>
      <p:pic>
        <p:nvPicPr>
          <p:cNvPr id="30" name="Image 11" descr="preencoded.png">    </p:cNvPr>
          <p:cNvPicPr>
            <a:picLocks noChangeAspect="1"/>
          </p:cNvPicPr>
          <p:nvPr/>
        </p:nvPicPr>
        <p:blipFill>
          <a:blip r:embed="rId12"/>
          <a:stretch>
            <a:fillRect/>
          </a:stretch>
        </p:blipFill>
        <p:spPr>
          <a:xfrm>
            <a:off x="457200" y="4315968"/>
            <a:ext cx="182880" cy="182880"/>
          </a:xfrm>
          <a:prstGeom prst="rect">
            <a:avLst/>
          </a:prstGeom>
        </p:spPr>
      </p:pic>
      <p:sp>
        <p:nvSpPr>
          <p:cNvPr id="31" name="Text 17"/>
          <p:cNvSpPr/>
          <p:nvPr/>
        </p:nvSpPr>
        <p:spPr>
          <a:xfrm>
            <a:off x="777240" y="4297680"/>
            <a:ext cx="7863840" cy="228600"/>
          </a:xfrm>
          <a:prstGeom prst="rect">
            <a:avLst/>
          </a:prstGeom>
          <a:noFill/>
          <a:ln/>
        </p:spPr>
        <p:txBody>
          <a:bodyPr wrap="square" rtlCol="0" anchor="ctr"/>
          <a:lstStyle/>
          <a:p>
            <a:pPr indent="0" marL="0">
              <a:buNone/>
            </a:pPr>
            <a:r>
              <a:rPr lang="en-US" sz="950" dirty="0">
                <a:solidFill>
                  <a:srgbClr val="2D3B54"/>
                </a:solidFill>
                <a:latin typeface="Calibri" pitchFamily="34" charset="0"/>
                <a:ea typeface="Calibri" pitchFamily="34" charset="-122"/>
                <a:cs typeface="Calibri" pitchFamily="34" charset="-120"/>
              </a:rPr>
              <a:t>End-of-life plan (disassembly, recycling, hazmat, data sanitization)?</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Practical tips</a:t>
            </a:r>
            <a:endParaRPr lang="en-US" sz="2200" dirty="0"/>
          </a:p>
        </p:txBody>
      </p:sp>
      <p:pic>
        <p:nvPicPr>
          <p:cNvPr id="7" name="Image 0" descr="preencoded.png">    </p:cNvPr>
          <p:cNvPicPr>
            <a:picLocks noChangeAspect="1"/>
          </p:cNvPicPr>
          <p:nvPr/>
        </p:nvPicPr>
        <p:blipFill>
          <a:blip r:embed="rId1"/>
          <a:stretch>
            <a:fillRect/>
          </a:stretch>
        </p:blipFill>
        <p:spPr>
          <a:xfrm>
            <a:off x="457200" y="1051560"/>
            <a:ext cx="256032" cy="256032"/>
          </a:xfrm>
          <a:prstGeom prst="rect">
            <a:avLst/>
          </a:prstGeom>
        </p:spPr>
      </p:pic>
      <p:sp>
        <p:nvSpPr>
          <p:cNvPr id="8" name="Text 5"/>
          <p:cNvSpPr/>
          <p:nvPr/>
        </p:nvSpPr>
        <p:spPr>
          <a:xfrm>
            <a:off x="914400" y="9601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Design the access panel and test points DURING architecture, not as an afterthought. If the PCB layout is done, it is too late to add diagnostic headers.</a:t>
            </a:r>
            <a:endParaRPr lang="en-US" sz="1000" dirty="0"/>
          </a:p>
        </p:txBody>
      </p:sp>
      <p:pic>
        <p:nvPicPr>
          <p:cNvPr id="9" name="Image 1" descr="preencoded.png">    </p:cNvPr>
          <p:cNvPicPr>
            <a:picLocks noChangeAspect="1"/>
          </p:cNvPicPr>
          <p:nvPr/>
        </p:nvPicPr>
        <p:blipFill>
          <a:blip r:embed="rId2"/>
          <a:stretch>
            <a:fillRect/>
          </a:stretch>
        </p:blipFill>
        <p:spPr>
          <a:xfrm>
            <a:off x="457200" y="1645920"/>
            <a:ext cx="256032" cy="256032"/>
          </a:xfrm>
          <a:prstGeom prst="rect">
            <a:avLst/>
          </a:prstGeom>
        </p:spPr>
      </p:pic>
      <p:sp>
        <p:nvSpPr>
          <p:cNvPr id="10" name="Text 6"/>
          <p:cNvSpPr/>
          <p:nvPr/>
        </p:nvSpPr>
        <p:spPr>
          <a:xfrm>
            <a:off x="914400" y="155448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Write the quick-start guide first — before the full manual. It forces you to identify the minimum steps for operation and reveals usability problems.</a:t>
            </a:r>
            <a:endParaRPr lang="en-US" sz="1000" dirty="0"/>
          </a:p>
        </p:txBody>
      </p:sp>
      <p:pic>
        <p:nvPicPr>
          <p:cNvPr id="11" name="Image 2" descr="preencoded.png">    </p:cNvPr>
          <p:cNvPicPr>
            <a:picLocks noChangeAspect="1"/>
          </p:cNvPicPr>
          <p:nvPr/>
        </p:nvPicPr>
        <p:blipFill>
          <a:blip r:embed="rId3"/>
          <a:stretch>
            <a:fillRect/>
          </a:stretch>
        </p:blipFill>
        <p:spPr>
          <a:xfrm>
            <a:off x="457200" y="2240280"/>
            <a:ext cx="256032" cy="256032"/>
          </a:xfrm>
          <a:prstGeom prst="rect">
            <a:avLst/>
          </a:prstGeom>
        </p:spPr>
      </p:pic>
      <p:sp>
        <p:nvSpPr>
          <p:cNvPr id="12" name="Text 7"/>
          <p:cNvSpPr/>
          <p:nvPr/>
        </p:nvSpPr>
        <p:spPr>
          <a:xfrm>
            <a:off x="914400" y="214884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Have a naive user (someone who did NOT design the system) follow your quick-start guide. If they cannot get it working in 10 minutes, rewrite it.</a:t>
            </a:r>
            <a:endParaRPr lang="en-US" sz="1000" dirty="0"/>
          </a:p>
        </p:txBody>
      </p:sp>
      <p:pic>
        <p:nvPicPr>
          <p:cNvPr id="13" name="Image 3" descr="preencoded.png">    </p:cNvPr>
          <p:cNvPicPr>
            <a:picLocks noChangeAspect="1"/>
          </p:cNvPicPr>
          <p:nvPr/>
        </p:nvPicPr>
        <p:blipFill>
          <a:blip r:embed="rId4"/>
          <a:stretch>
            <a:fillRect/>
          </a:stretch>
        </p:blipFill>
        <p:spPr>
          <a:xfrm>
            <a:off x="457200" y="2834640"/>
            <a:ext cx="256032" cy="256032"/>
          </a:xfrm>
          <a:prstGeom prst="rect">
            <a:avLst/>
          </a:prstGeom>
        </p:spPr>
      </p:pic>
      <p:sp>
        <p:nvSpPr>
          <p:cNvPr id="14" name="Text 8"/>
          <p:cNvSpPr/>
          <p:nvPr/>
        </p:nvSpPr>
        <p:spPr>
          <a:xfrm>
            <a:off x="914400" y="274320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Pick 2-3 fastener sizes and use them everywhere. Every additional tool the technician needs is a maintenance burden. Ideally, one hex key services the entire system.</a:t>
            </a:r>
            <a:endParaRPr lang="en-US" sz="1000" dirty="0"/>
          </a:p>
        </p:txBody>
      </p:sp>
      <p:pic>
        <p:nvPicPr>
          <p:cNvPr id="15" name="Image 4" descr="preencoded.png">    </p:cNvPr>
          <p:cNvPicPr>
            <a:picLocks noChangeAspect="1"/>
          </p:cNvPicPr>
          <p:nvPr/>
        </p:nvPicPr>
        <p:blipFill>
          <a:blip r:embed="rId5"/>
          <a:stretch>
            <a:fillRect/>
          </a:stretch>
        </p:blipFill>
        <p:spPr>
          <a:xfrm>
            <a:off x="457200" y="3429000"/>
            <a:ext cx="256032" cy="256032"/>
          </a:xfrm>
          <a:prstGeom prst="rect">
            <a:avLst/>
          </a:prstGeom>
        </p:spPr>
      </p:pic>
      <p:sp>
        <p:nvSpPr>
          <p:cNvPr id="16" name="Text 9"/>
          <p:cNvSpPr/>
          <p:nvPr/>
        </p:nvSpPr>
        <p:spPr>
          <a:xfrm>
            <a:off x="914400" y="333756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Design with a single material family where possible. A polycarbonate enclosure with polycarbonate clips is recyclable; a PC enclosure with ABS clips is not.</a:t>
            </a:r>
            <a:endParaRPr lang="en-US" sz="1000" dirty="0"/>
          </a:p>
        </p:txBody>
      </p:sp>
      <p:pic>
        <p:nvPicPr>
          <p:cNvPr id="17" name="Image 5" descr="preencoded.png">    </p:cNvPr>
          <p:cNvPicPr>
            <a:picLocks noChangeAspect="1"/>
          </p:cNvPicPr>
          <p:nvPr/>
        </p:nvPicPr>
        <p:blipFill>
          <a:blip r:embed="rId6"/>
          <a:stretch>
            <a:fillRect/>
          </a:stretch>
        </p:blipFill>
        <p:spPr>
          <a:xfrm>
            <a:off x="457200" y="4023360"/>
            <a:ext cx="256032" cy="256032"/>
          </a:xfrm>
          <a:prstGeom prst="rect">
            <a:avLst/>
          </a:prstGeom>
        </p:spPr>
      </p:pic>
      <p:sp>
        <p:nvSpPr>
          <p:cNvPr id="18" name="Text 10"/>
          <p:cNvSpPr/>
          <p:nvPr/>
        </p:nvSpPr>
        <p:spPr>
          <a:xfrm>
            <a:off x="914400" y="39319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Include a maintenance log in the system documentation — a simple table for the operator to record date, action performed, findings, and next scheduled action.</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Common mistakes</a:t>
            </a:r>
            <a:endParaRPr lang="en-US" sz="2200" dirty="0"/>
          </a:p>
        </p:txBody>
      </p:sp>
      <p:pic>
        <p:nvPicPr>
          <p:cNvPr id="7" name="Image 0" descr="preencoded.png">    </p:cNvPr>
          <p:cNvPicPr>
            <a:picLocks noChangeAspect="1"/>
          </p:cNvPicPr>
          <p:nvPr/>
        </p:nvPicPr>
        <p:blipFill>
          <a:blip r:embed="rId1"/>
          <a:stretch>
            <a:fillRect/>
          </a:stretch>
        </p:blipFill>
        <p:spPr>
          <a:xfrm>
            <a:off x="457200" y="1051560"/>
            <a:ext cx="256032" cy="256032"/>
          </a:xfrm>
          <a:prstGeom prst="rect">
            <a:avLst/>
          </a:prstGeom>
        </p:spPr>
      </p:pic>
      <p:sp>
        <p:nvSpPr>
          <p:cNvPr id="8" name="Text 5"/>
          <p:cNvSpPr/>
          <p:nvPr/>
        </p:nvSpPr>
        <p:spPr>
          <a:xfrm>
            <a:off x="914400" y="9601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'It's a prototype, it doesn't need a manual.' Every system handed to someone else needs documentation. At minimum: quick-start, maintenance schedule, and troubleshooting guide.</a:t>
            </a:r>
            <a:endParaRPr lang="en-US" sz="1000" dirty="0"/>
          </a:p>
        </p:txBody>
      </p:sp>
      <p:pic>
        <p:nvPicPr>
          <p:cNvPr id="9" name="Image 1" descr="preencoded.png">    </p:cNvPr>
          <p:cNvPicPr>
            <a:picLocks noChangeAspect="1"/>
          </p:cNvPicPr>
          <p:nvPr/>
        </p:nvPicPr>
        <p:blipFill>
          <a:blip r:embed="rId2"/>
          <a:stretch>
            <a:fillRect/>
          </a:stretch>
        </p:blipFill>
        <p:spPr>
          <a:xfrm>
            <a:off x="457200" y="1645920"/>
            <a:ext cx="256032" cy="256032"/>
          </a:xfrm>
          <a:prstGeom prst="rect">
            <a:avLst/>
          </a:prstGeom>
        </p:spPr>
      </p:pic>
      <p:sp>
        <p:nvSpPr>
          <p:cNvPr id="10" name="Text 6"/>
          <p:cNvSpPr/>
          <p:nvPr/>
        </p:nvSpPr>
        <p:spPr>
          <a:xfrm>
            <a:off x="914400" y="155448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'I'll write the docs at the end.' Documentation written during design is better and faster. Waiting until the end means rushing, forgetting details, and producing poor documentation.</a:t>
            </a:r>
            <a:endParaRPr lang="en-US" sz="1000" dirty="0"/>
          </a:p>
        </p:txBody>
      </p:sp>
      <p:pic>
        <p:nvPicPr>
          <p:cNvPr id="11" name="Image 2" descr="preencoded.png">    </p:cNvPr>
          <p:cNvPicPr>
            <a:picLocks noChangeAspect="1"/>
          </p:cNvPicPr>
          <p:nvPr/>
        </p:nvPicPr>
        <p:blipFill>
          <a:blip r:embed="rId3"/>
          <a:stretch>
            <a:fillRect/>
          </a:stretch>
        </p:blipFill>
        <p:spPr>
          <a:xfrm>
            <a:off x="457200" y="2240280"/>
            <a:ext cx="256032" cy="256032"/>
          </a:xfrm>
          <a:prstGeom prst="rect">
            <a:avLst/>
          </a:prstGeom>
        </p:spPr>
      </p:pic>
      <p:sp>
        <p:nvSpPr>
          <p:cNvPr id="12" name="Text 7"/>
          <p:cNvSpPr/>
          <p:nvPr/>
        </p:nvSpPr>
        <p:spPr>
          <a:xfrm>
            <a:off x="914400" y="214884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'The user will figure it out.' They won't. If the system is not intuitive AND documented, it will be used incorrectly, break prematurely, or be abandoned.</a:t>
            </a:r>
            <a:endParaRPr lang="en-US" sz="1000" dirty="0"/>
          </a:p>
        </p:txBody>
      </p:sp>
      <p:pic>
        <p:nvPicPr>
          <p:cNvPr id="13" name="Image 3" descr="preencoded.png">    </p:cNvPr>
          <p:cNvPicPr>
            <a:picLocks noChangeAspect="1"/>
          </p:cNvPicPr>
          <p:nvPr/>
        </p:nvPicPr>
        <p:blipFill>
          <a:blip r:embed="rId4"/>
          <a:stretch>
            <a:fillRect/>
          </a:stretch>
        </p:blipFill>
        <p:spPr>
          <a:xfrm>
            <a:off x="457200" y="2834640"/>
            <a:ext cx="256032" cy="256032"/>
          </a:xfrm>
          <a:prstGeom prst="rect">
            <a:avLst/>
          </a:prstGeom>
        </p:spPr>
      </p:pic>
      <p:sp>
        <p:nvSpPr>
          <p:cNvPr id="14" name="Text 8"/>
          <p:cNvSpPr/>
          <p:nvPr/>
        </p:nvSpPr>
        <p:spPr>
          <a:xfrm>
            <a:off x="914400" y="274320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'Soldered wires save money.' Maybe in production — never in a prototype or low-volume system. Connectorized modules save hours of maintenance time over the system's life.</a:t>
            </a:r>
            <a:endParaRPr lang="en-US" sz="1000" dirty="0"/>
          </a:p>
        </p:txBody>
      </p:sp>
      <p:pic>
        <p:nvPicPr>
          <p:cNvPr id="15" name="Image 4" descr="preencoded.png">    </p:cNvPr>
          <p:cNvPicPr>
            <a:picLocks noChangeAspect="1"/>
          </p:cNvPicPr>
          <p:nvPr/>
        </p:nvPicPr>
        <p:blipFill>
          <a:blip r:embed="rId5"/>
          <a:stretch>
            <a:fillRect/>
          </a:stretch>
        </p:blipFill>
        <p:spPr>
          <a:xfrm>
            <a:off x="457200" y="3429000"/>
            <a:ext cx="256032" cy="256032"/>
          </a:xfrm>
          <a:prstGeom prst="rect">
            <a:avLst/>
          </a:prstGeom>
        </p:spPr>
      </p:pic>
      <p:sp>
        <p:nvSpPr>
          <p:cNvPr id="16" name="Text 9"/>
          <p:cNvSpPr/>
          <p:nvPr/>
        </p:nvSpPr>
        <p:spPr>
          <a:xfrm>
            <a:off x="914400" y="333756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'We don't need spare parts.' You do. Identify wear items and stock spares. A system waiting for a $2 part to arrive from overseas is a $50,000 paperweight.</a:t>
            </a:r>
            <a:endParaRPr lang="en-US" sz="1000" dirty="0"/>
          </a:p>
        </p:txBody>
      </p:sp>
      <p:pic>
        <p:nvPicPr>
          <p:cNvPr id="17" name="Image 5" descr="preencoded.png">    </p:cNvPr>
          <p:cNvPicPr>
            <a:picLocks noChangeAspect="1"/>
          </p:cNvPicPr>
          <p:nvPr/>
        </p:nvPicPr>
        <p:blipFill>
          <a:blip r:embed="rId6"/>
          <a:stretch>
            <a:fillRect/>
          </a:stretch>
        </p:blipFill>
        <p:spPr>
          <a:xfrm>
            <a:off x="457200" y="4023360"/>
            <a:ext cx="256032" cy="256032"/>
          </a:xfrm>
          <a:prstGeom prst="rect">
            <a:avLst/>
          </a:prstGeom>
        </p:spPr>
      </p:pic>
      <p:sp>
        <p:nvSpPr>
          <p:cNvPr id="18" name="Text 10"/>
          <p:cNvSpPr/>
          <p:nvPr/>
        </p:nvSpPr>
        <p:spPr>
          <a:xfrm>
            <a:off x="914400" y="3931920"/>
            <a:ext cx="7772400" cy="5029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'Disposal isn't our problem.' It is. RoHS, WEEE, and lithium battery regulations apply. Design for disassembly and document the disposal procedure.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Applying in your projects</a:t>
            </a:r>
            <a:endParaRPr lang="en-US" sz="2200" dirty="0"/>
          </a:p>
        </p:txBody>
      </p:sp>
      <p:sp>
        <p:nvSpPr>
          <p:cNvPr id="7" name="Shape 5"/>
          <p:cNvSpPr/>
          <p:nvPr/>
        </p:nvSpPr>
        <p:spPr>
          <a:xfrm>
            <a:off x="548640" y="1106424"/>
            <a:ext cx="201168" cy="201168"/>
          </a:xfrm>
          <a:prstGeom prst="rect">
            <a:avLst>
              <a:gd name="adj" fmla="val 13636"/>
            </a:avLst>
          </a:prstGeom>
          <a:solidFill>
            <a:srgbClr val="C0392B"/>
          </a:solidFill>
          <a:ln/>
        </p:spPr>
      </p:sp>
      <p:sp>
        <p:nvSpPr>
          <p:cNvPr id="8" name="Text 6"/>
          <p:cNvSpPr/>
          <p:nvPr/>
        </p:nvSpPr>
        <p:spPr>
          <a:xfrm>
            <a:off x="548640" y="110642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Text 7"/>
          <p:cNvSpPr/>
          <p:nvPr/>
        </p:nvSpPr>
        <p:spPr>
          <a:xfrm>
            <a:off x="914400" y="105156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During concept design: consider serviceability requirements. Include access, modularity, and diagnostics in trade study criteria.</a:t>
            </a:r>
            <a:endParaRPr lang="en-US" sz="1050" dirty="0"/>
          </a:p>
        </p:txBody>
      </p:sp>
      <p:sp>
        <p:nvSpPr>
          <p:cNvPr id="10" name="Shape 8"/>
          <p:cNvSpPr/>
          <p:nvPr/>
        </p:nvSpPr>
        <p:spPr>
          <a:xfrm>
            <a:off x="548640" y="1655064"/>
            <a:ext cx="201168" cy="201168"/>
          </a:xfrm>
          <a:prstGeom prst="rect">
            <a:avLst>
              <a:gd name="adj" fmla="val 13636"/>
            </a:avLst>
          </a:prstGeom>
          <a:solidFill>
            <a:srgbClr val="C0392B"/>
          </a:solidFill>
          <a:ln/>
        </p:spPr>
      </p:sp>
      <p:sp>
        <p:nvSpPr>
          <p:cNvPr id="11" name="Text 9"/>
          <p:cNvSpPr/>
          <p:nvPr/>
        </p:nvSpPr>
        <p:spPr>
          <a:xfrm>
            <a:off x="548640" y="165506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2" name="Text 10"/>
          <p:cNvSpPr/>
          <p:nvPr/>
        </p:nvSpPr>
        <p:spPr>
          <a:xfrm>
            <a:off x="914400" y="160020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At PDR: present maintainability analysis. Identify wear items. Show access panel locations on concept sketches.</a:t>
            </a:r>
            <a:endParaRPr lang="en-US" sz="1050" dirty="0"/>
          </a:p>
        </p:txBody>
      </p:sp>
      <p:sp>
        <p:nvSpPr>
          <p:cNvPr id="13" name="Shape 11"/>
          <p:cNvSpPr/>
          <p:nvPr/>
        </p:nvSpPr>
        <p:spPr>
          <a:xfrm>
            <a:off x="548640" y="2203704"/>
            <a:ext cx="201168" cy="201168"/>
          </a:xfrm>
          <a:prstGeom prst="rect">
            <a:avLst>
              <a:gd name="adj" fmla="val 13636"/>
            </a:avLst>
          </a:prstGeom>
          <a:solidFill>
            <a:srgbClr val="C0392B"/>
          </a:solidFill>
          <a:ln/>
        </p:spPr>
      </p:sp>
      <p:sp>
        <p:nvSpPr>
          <p:cNvPr id="14" name="Text 12"/>
          <p:cNvSpPr/>
          <p:nvPr/>
        </p:nvSpPr>
        <p:spPr>
          <a:xfrm>
            <a:off x="548640" y="220370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5" name="Text 13"/>
          <p:cNvSpPr/>
          <p:nvPr/>
        </p:nvSpPr>
        <p:spPr>
          <a:xfrm>
            <a:off x="914400" y="214884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During detailed design: design diagnostic test points, connectorized modules, and standard fasteners into the physical layout.</a:t>
            </a:r>
            <a:endParaRPr lang="en-US" sz="1050" dirty="0"/>
          </a:p>
        </p:txBody>
      </p:sp>
      <p:sp>
        <p:nvSpPr>
          <p:cNvPr id="16" name="Shape 14"/>
          <p:cNvSpPr/>
          <p:nvPr/>
        </p:nvSpPr>
        <p:spPr>
          <a:xfrm>
            <a:off x="548640" y="2752344"/>
            <a:ext cx="201168" cy="201168"/>
          </a:xfrm>
          <a:prstGeom prst="rect">
            <a:avLst>
              <a:gd name="adj" fmla="val 13636"/>
            </a:avLst>
          </a:prstGeom>
          <a:solidFill>
            <a:srgbClr val="C0392B"/>
          </a:solidFill>
          <a:ln/>
        </p:spPr>
      </p:sp>
      <p:sp>
        <p:nvSpPr>
          <p:cNvPr id="17" name="Text 15"/>
          <p:cNvSpPr/>
          <p:nvPr/>
        </p:nvSpPr>
        <p:spPr>
          <a:xfrm>
            <a:off x="548640" y="275234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8" name="Text 16"/>
          <p:cNvSpPr/>
          <p:nvPr/>
        </p:nvSpPr>
        <p:spPr>
          <a:xfrm>
            <a:off x="914400" y="269748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At CDR: present maintenance schedule, spare parts list, and preliminary troubleshooting guide. Show FMEA for critical items.</a:t>
            </a:r>
            <a:endParaRPr lang="en-US" sz="1050" dirty="0"/>
          </a:p>
        </p:txBody>
      </p:sp>
      <p:sp>
        <p:nvSpPr>
          <p:cNvPr id="19" name="Shape 17"/>
          <p:cNvSpPr/>
          <p:nvPr/>
        </p:nvSpPr>
        <p:spPr>
          <a:xfrm>
            <a:off x="548640" y="3300984"/>
            <a:ext cx="201168" cy="201168"/>
          </a:xfrm>
          <a:prstGeom prst="rect">
            <a:avLst>
              <a:gd name="adj" fmla="val 13636"/>
            </a:avLst>
          </a:prstGeom>
          <a:solidFill>
            <a:srgbClr val="C0392B"/>
          </a:solidFill>
          <a:ln/>
        </p:spPr>
      </p:sp>
      <p:sp>
        <p:nvSpPr>
          <p:cNvPr id="20" name="Text 18"/>
          <p:cNvSpPr/>
          <p:nvPr/>
        </p:nvSpPr>
        <p:spPr>
          <a:xfrm>
            <a:off x="548640" y="330098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1" name="Text 19"/>
          <p:cNvSpPr/>
          <p:nvPr/>
        </p:nvSpPr>
        <p:spPr>
          <a:xfrm>
            <a:off x="914400" y="324612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During build: write the quick-start guide. Test it with a naive user. Write the operating manual section by section as you build.</a:t>
            </a:r>
            <a:endParaRPr lang="en-US" sz="1050" dirty="0"/>
          </a:p>
        </p:txBody>
      </p:sp>
      <p:sp>
        <p:nvSpPr>
          <p:cNvPr id="22" name="Shape 20"/>
          <p:cNvSpPr/>
          <p:nvPr/>
        </p:nvSpPr>
        <p:spPr>
          <a:xfrm>
            <a:off x="548640" y="3849624"/>
            <a:ext cx="201168" cy="201168"/>
          </a:xfrm>
          <a:prstGeom prst="rect">
            <a:avLst>
              <a:gd name="adj" fmla="val 13636"/>
            </a:avLst>
          </a:prstGeom>
          <a:solidFill>
            <a:srgbClr val="C0392B"/>
          </a:solidFill>
          <a:ln/>
        </p:spPr>
      </p:sp>
      <p:sp>
        <p:nvSpPr>
          <p:cNvPr id="23" name="Text 21"/>
          <p:cNvSpPr/>
          <p:nvPr/>
        </p:nvSpPr>
        <p:spPr>
          <a:xfrm>
            <a:off x="548640" y="3849624"/>
            <a:ext cx="201168"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4" name="Text 22"/>
          <p:cNvSpPr/>
          <p:nvPr/>
        </p:nvSpPr>
        <p:spPr>
          <a:xfrm>
            <a:off x="914400" y="3794760"/>
            <a:ext cx="7772400" cy="438912"/>
          </a:xfrm>
          <a:prstGeom prst="rect">
            <a:avLst/>
          </a:prstGeom>
          <a:noFill/>
          <a:ln/>
        </p:spPr>
        <p:txBody>
          <a:bodyPr wrap="square" rtlCol="0" anchor="ctr"/>
          <a:lstStyle/>
          <a:p>
            <a:pPr indent="0" marL="0">
              <a:buNone/>
            </a:pPr>
            <a:r>
              <a:rPr lang="en-US" sz="1050" dirty="0">
                <a:solidFill>
                  <a:srgbClr val="2D3B54"/>
                </a:solidFill>
                <a:latin typeface="Calibri" pitchFamily="34" charset="0"/>
                <a:ea typeface="Calibri" pitchFamily="34" charset="-122"/>
                <a:cs typeface="Calibri" pitchFamily="34" charset="-120"/>
              </a:rPr>
              <a:t>At FDR: deliver complete documentation package: quick-start, operating manual, maintenance manual, troubleshooting guide, spare parts list, training plan.</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System handoff and transition to operations</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The Handoff Package</a:t>
            </a:r>
            <a:endParaRPr lang="en-US" sz="1200" dirty="0"/>
          </a:p>
        </p:txBody>
      </p:sp>
      <p:sp>
        <p:nvSpPr>
          <p:cNvPr id="9" name="Text 7"/>
          <p:cNvSpPr/>
          <p:nvPr/>
        </p:nvSpPr>
        <p:spPr>
          <a:xfrm>
            <a:off x="2926080" y="96012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Everything the operator needs to independently operate, maintain, and troubleshoot the system: all documentation, spare parts, tools, calibration records, software source code, CAD files, BOM, and vendor contacts. If the design team disappears tomorrow, the operator should have everything.</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Acceptance Testing</a:t>
            </a:r>
            <a:endParaRPr lang="en-US" sz="1200" dirty="0"/>
          </a:p>
        </p:txBody>
      </p:sp>
      <p:sp>
        <p:nvSpPr>
          <p:cNvPr id="12" name="Text 10"/>
          <p:cNvSpPr/>
          <p:nvPr/>
        </p:nvSpPr>
        <p:spPr>
          <a:xfrm>
            <a:off x="2926080" y="182880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The stakeholder witnesses verification testing and confirms the system meets their operational needs (validation). This is the formal handoff point. Document what was demonstrated, who accepted, and any conditions or limitations.</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Warranty and Support</a:t>
            </a:r>
            <a:endParaRPr lang="en-US" sz="1200" dirty="0"/>
          </a:p>
        </p:txBody>
      </p:sp>
      <p:sp>
        <p:nvSpPr>
          <p:cNvPr id="15" name="Text 13"/>
          <p:cNvSpPr/>
          <p:nvPr/>
        </p:nvSpPr>
        <p:spPr>
          <a:xfrm>
            <a:off x="2926080" y="269748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Define what is covered (defects vs wear vs misuse), for how long, and who provides support. For student projects, this might be a commitment to answer questions for one semester after delivery, or a detailed handoff to the next team.</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Lessons Learned Report</a:t>
            </a:r>
            <a:endParaRPr lang="en-US" sz="1200" dirty="0"/>
          </a:p>
        </p:txBody>
      </p:sp>
      <p:sp>
        <p:nvSpPr>
          <p:cNvPr id="18" name="Text 16"/>
          <p:cNvSpPr/>
          <p:nvPr/>
        </p:nvSpPr>
        <p:spPr>
          <a:xfrm>
            <a:off x="2926080" y="356616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A candid assessment of what worked, what didn't, and what future teams should know. Include: design decisions you would change, components that underperformed, tools that were invaluable, and process improvements. This is your legacy to the next team.</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Sustainability and responsible engineering</a:t>
            </a:r>
            <a:endParaRPr lang="en-US" sz="2200" dirty="0"/>
          </a:p>
        </p:txBody>
      </p:sp>
      <p:sp>
        <p:nvSpPr>
          <p:cNvPr id="7" name="Shape 5"/>
          <p:cNvSpPr/>
          <p:nvPr/>
        </p:nvSpPr>
        <p:spPr>
          <a:xfrm>
            <a:off x="457200" y="978408"/>
            <a:ext cx="54864" cy="685800"/>
          </a:xfrm>
          <a:prstGeom prst="rect">
            <a:avLst/>
          </a:prstGeom>
          <a:solidFill>
            <a:srgbClr val="C0392B"/>
          </a:solidFill>
          <a:ln/>
        </p:spPr>
      </p:sp>
      <p:sp>
        <p:nvSpPr>
          <p:cNvPr id="8" name="Text 6"/>
          <p:cNvSpPr/>
          <p:nvPr/>
        </p:nvSpPr>
        <p:spPr>
          <a:xfrm>
            <a:off x="685800" y="96012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Design for Disassembly</a:t>
            </a:r>
            <a:endParaRPr lang="en-US" sz="1200" dirty="0"/>
          </a:p>
        </p:txBody>
      </p:sp>
      <p:sp>
        <p:nvSpPr>
          <p:cNvPr id="9" name="Text 7"/>
          <p:cNvSpPr/>
          <p:nvPr/>
        </p:nvSpPr>
        <p:spPr>
          <a:xfrm>
            <a:off x="2926080" y="96012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Use fasteners (not adhesives) for structural joints. Label material types on components. Minimize material mixing. Design so components can be separated into recyclable streams at end of life.</a:t>
            </a:r>
            <a:endParaRPr lang="en-US" sz="1000" dirty="0"/>
          </a:p>
        </p:txBody>
      </p:sp>
      <p:sp>
        <p:nvSpPr>
          <p:cNvPr id="10" name="Shape 8"/>
          <p:cNvSpPr/>
          <p:nvPr/>
        </p:nvSpPr>
        <p:spPr>
          <a:xfrm>
            <a:off x="457200" y="1847088"/>
            <a:ext cx="54864" cy="685800"/>
          </a:xfrm>
          <a:prstGeom prst="rect">
            <a:avLst/>
          </a:prstGeom>
          <a:solidFill>
            <a:srgbClr val="2980B9"/>
          </a:solidFill>
          <a:ln/>
        </p:spPr>
      </p:sp>
      <p:sp>
        <p:nvSpPr>
          <p:cNvPr id="11" name="Text 9"/>
          <p:cNvSpPr/>
          <p:nvPr/>
        </p:nvSpPr>
        <p:spPr>
          <a:xfrm>
            <a:off x="685800" y="182880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Material Selection</a:t>
            </a:r>
            <a:endParaRPr lang="en-US" sz="1200" dirty="0"/>
          </a:p>
        </p:txBody>
      </p:sp>
      <p:sp>
        <p:nvSpPr>
          <p:cNvPr id="12" name="Text 10"/>
          <p:cNvSpPr/>
          <p:nvPr/>
        </p:nvSpPr>
        <p:spPr>
          <a:xfrm>
            <a:off x="2926080" y="182880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Prefer recyclable materials (metals, single-polymer plastics) over composites. Avoid hazardous substances (RoHS compliance). Consider bio-based or recycled-content materials where performance allows.</a:t>
            </a:r>
            <a:endParaRPr lang="en-US" sz="1000" dirty="0"/>
          </a:p>
        </p:txBody>
      </p:sp>
      <p:sp>
        <p:nvSpPr>
          <p:cNvPr id="13" name="Shape 11"/>
          <p:cNvSpPr/>
          <p:nvPr/>
        </p:nvSpPr>
        <p:spPr>
          <a:xfrm>
            <a:off x="457200" y="2715768"/>
            <a:ext cx="54864" cy="685800"/>
          </a:xfrm>
          <a:prstGeom prst="rect">
            <a:avLst/>
          </a:prstGeom>
          <a:solidFill>
            <a:srgbClr val="27AE60"/>
          </a:solidFill>
          <a:ln/>
        </p:spPr>
      </p:sp>
      <p:sp>
        <p:nvSpPr>
          <p:cNvPr id="14" name="Text 12"/>
          <p:cNvSpPr/>
          <p:nvPr/>
        </p:nvSpPr>
        <p:spPr>
          <a:xfrm>
            <a:off x="685800" y="269748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Energy Efficiency</a:t>
            </a:r>
            <a:endParaRPr lang="en-US" sz="1200" dirty="0"/>
          </a:p>
        </p:txBody>
      </p:sp>
      <p:sp>
        <p:nvSpPr>
          <p:cNvPr id="15" name="Text 13"/>
          <p:cNvSpPr/>
          <p:nvPr/>
        </p:nvSpPr>
        <p:spPr>
          <a:xfrm>
            <a:off x="2926080" y="269748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Minimize operating power through efficient components, sleep modes, and power management. Every watt saved over a 10-year operating life translates to significant energy and cost reduction.</a:t>
            </a:r>
            <a:endParaRPr lang="en-US" sz="1000" dirty="0"/>
          </a:p>
        </p:txBody>
      </p:sp>
      <p:sp>
        <p:nvSpPr>
          <p:cNvPr id="16" name="Shape 14"/>
          <p:cNvSpPr/>
          <p:nvPr/>
        </p:nvSpPr>
        <p:spPr>
          <a:xfrm>
            <a:off x="457200" y="3584448"/>
            <a:ext cx="54864" cy="685800"/>
          </a:xfrm>
          <a:prstGeom prst="rect">
            <a:avLst/>
          </a:prstGeom>
          <a:solidFill>
            <a:srgbClr val="D35400"/>
          </a:solidFill>
          <a:ln/>
        </p:spPr>
      </p:sp>
      <p:sp>
        <p:nvSpPr>
          <p:cNvPr id="17" name="Text 15"/>
          <p:cNvSpPr/>
          <p:nvPr/>
        </p:nvSpPr>
        <p:spPr>
          <a:xfrm>
            <a:off x="685800" y="3566160"/>
            <a:ext cx="2286000" cy="731520"/>
          </a:xfrm>
          <a:prstGeom prst="rect">
            <a:avLst/>
          </a:prstGeom>
          <a:noFill/>
          <a:ln/>
        </p:spPr>
        <p:txBody>
          <a:bodyPr wrap="square"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Longevity</a:t>
            </a:r>
            <a:endParaRPr lang="en-US" sz="1200" dirty="0"/>
          </a:p>
        </p:txBody>
      </p:sp>
      <p:sp>
        <p:nvSpPr>
          <p:cNvPr id="18" name="Text 16"/>
          <p:cNvSpPr/>
          <p:nvPr/>
        </p:nvSpPr>
        <p:spPr>
          <a:xfrm>
            <a:off x="2926080" y="3566160"/>
            <a:ext cx="5760720" cy="731520"/>
          </a:xfrm>
          <a:prstGeom prst="rect">
            <a:avLst/>
          </a:prstGeom>
          <a:noFill/>
          <a:ln/>
        </p:spPr>
        <p:txBody>
          <a:bodyPr wrap="square" rtlCol="0" anchor="ctr"/>
          <a:lstStyle/>
          <a:p>
            <a:pPr indent="0" marL="0">
              <a:buNone/>
            </a:pPr>
            <a:r>
              <a:rPr lang="en-US" sz="1000" dirty="0">
                <a:solidFill>
                  <a:srgbClr val="2D3B54"/>
                </a:solidFill>
                <a:latin typeface="Calibri" pitchFamily="34" charset="0"/>
                <a:ea typeface="Calibri" pitchFamily="34" charset="-122"/>
                <a:cs typeface="Calibri" pitchFamily="34" charset="-120"/>
              </a:rPr>
              <a:t>Design for a long, useful life: durable materials, replaceable wear items, firmware update capability, and modular architecture that allows upgrades without full replacement. The most sustainable product is one that doesn't need to be replaced.</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2E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1B2A4A"/>
          </a:solidFill>
          <a:ln/>
        </p:spPr>
      </p:sp>
      <p:sp>
        <p:nvSpPr>
          <p:cNvPr id="3" name="Text 1"/>
          <p:cNvSpPr/>
          <p:nvPr/>
        </p:nvSpPr>
        <p:spPr>
          <a:xfrm>
            <a:off x="5943600" y="73152"/>
            <a:ext cx="3017520" cy="274320"/>
          </a:xfrm>
          <a:prstGeom prst="rect">
            <a:avLst/>
          </a:prstGeom>
          <a:noFill/>
          <a:ln/>
        </p:spPr>
        <p:txBody>
          <a:bodyPr wrap="square" rtlCol="0" anchor="ctr"/>
          <a:lstStyle/>
          <a:p>
            <a:pPr algn="r" indent="0" marL="0">
              <a:buNone/>
            </a:pPr>
            <a:r>
              <a:rPr lang="en-US" sz="900" b="1" dirty="0">
                <a:solidFill>
                  <a:srgbClr val="FFFFFF"/>
                </a:solidFill>
                <a:latin typeface="Georgia" pitchFamily="34" charset="0"/>
                <a:ea typeface="Georgia" pitchFamily="34" charset="-122"/>
                <a:cs typeface="Georgia" pitchFamily="34" charset="-120"/>
              </a:rPr>
              <a:t>MINES</a:t>
            </a:r>
            <a:pPr algn="r" indent="0" marL="0">
              <a:buNone/>
            </a:pPr>
            <a:r>
              <a:rPr lang="en-US" sz="800" dirty="0">
                <a:solidFill>
                  <a:srgbClr val="D0CCC6"/>
                </a:solidFill>
                <a:latin typeface="Calibri" pitchFamily="34" charset="0"/>
                <a:ea typeface="Calibri" pitchFamily="34" charset="-122"/>
                <a:cs typeface="Calibri" pitchFamily="34" charset="-120"/>
              </a:rPr>
              <a:t>  |  MEGN 301</a:t>
            </a:r>
            <a:endParaRPr lang="en-US" sz="900" dirty="0"/>
          </a:p>
        </p:txBody>
      </p:sp>
      <p:sp>
        <p:nvSpPr>
          <p:cNvPr id="4" name="Shape 2"/>
          <p:cNvSpPr/>
          <p:nvPr/>
        </p:nvSpPr>
        <p:spPr>
          <a:xfrm>
            <a:off x="0" y="4663440"/>
            <a:ext cx="9144000" cy="480060"/>
          </a:xfrm>
          <a:prstGeom prst="rect">
            <a:avLst/>
          </a:prstGeom>
          <a:solidFill>
            <a:srgbClr val="1B2A4A"/>
          </a:solidFill>
          <a:ln/>
        </p:spPr>
      </p:sp>
      <p:sp>
        <p:nvSpPr>
          <p:cNvPr id="5" name="Text 3"/>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6" name="Text 4"/>
          <p:cNvSpPr/>
          <p:nvPr/>
        </p:nvSpPr>
        <p:spPr>
          <a:xfrm>
            <a:off x="457200" y="502920"/>
            <a:ext cx="8229600" cy="411480"/>
          </a:xfrm>
          <a:prstGeom prst="rect">
            <a:avLst/>
          </a:prstGeom>
          <a:noFill/>
          <a:ln/>
        </p:spPr>
        <p:txBody>
          <a:bodyPr wrap="square" rtlCol="0" anchor="ctr"/>
          <a:lstStyle/>
          <a:p>
            <a:pPr indent="0" marL="0">
              <a:buNone/>
            </a:pPr>
            <a:r>
              <a:rPr lang="en-US" sz="2400" b="1" dirty="0">
                <a:solidFill>
                  <a:srgbClr val="1B2A4A"/>
                </a:solidFill>
                <a:latin typeface="Georgia" pitchFamily="34" charset="0"/>
                <a:ea typeface="Georgia" pitchFamily="34" charset="-122"/>
                <a:cs typeface="Georgia" pitchFamily="34" charset="-120"/>
              </a:rPr>
              <a:t>Key takeaways</a:t>
            </a:r>
            <a:endParaRPr lang="en-US" sz="2400" dirty="0"/>
          </a:p>
        </p:txBody>
      </p:sp>
      <p:sp>
        <p:nvSpPr>
          <p:cNvPr id="7" name="Shape 5"/>
          <p:cNvSpPr/>
          <p:nvPr/>
        </p:nvSpPr>
        <p:spPr>
          <a:xfrm>
            <a:off x="457200" y="1005840"/>
            <a:ext cx="73152" cy="502920"/>
          </a:xfrm>
          <a:prstGeom prst="rect">
            <a:avLst/>
          </a:prstGeom>
          <a:solidFill>
            <a:srgbClr val="C0392B"/>
          </a:solidFill>
          <a:ln/>
        </p:spPr>
      </p:sp>
      <p:sp>
        <p:nvSpPr>
          <p:cNvPr id="8" name="Text 6"/>
          <p:cNvSpPr/>
          <p:nvPr/>
        </p:nvSpPr>
        <p:spPr>
          <a:xfrm>
            <a:off x="685800" y="1005840"/>
            <a:ext cx="320040" cy="502920"/>
          </a:xfrm>
          <a:prstGeom prst="rect">
            <a:avLst/>
          </a:prstGeom>
          <a:noFill/>
          <a:ln/>
        </p:spPr>
        <p:txBody>
          <a:bodyPr wrap="square" rtlCol="0" anchor="ctr"/>
          <a:lstStyle/>
          <a:p>
            <a:pPr indent="0" marL="0">
              <a:buNone/>
            </a:pPr>
            <a:r>
              <a:rPr lang="en-US" sz="1400" b="1" dirty="0">
                <a:solidFill>
                  <a:srgbClr val="C0392B"/>
                </a:solidFill>
                <a:latin typeface="Georgia" pitchFamily="34" charset="0"/>
                <a:ea typeface="Georgia" pitchFamily="34" charset="-122"/>
                <a:cs typeface="Georgia" pitchFamily="34" charset="-120"/>
              </a:rPr>
              <a:t>(1)</a:t>
            </a:r>
            <a:endParaRPr lang="en-US" sz="1400" dirty="0"/>
          </a:p>
        </p:txBody>
      </p:sp>
      <p:sp>
        <p:nvSpPr>
          <p:cNvPr id="9" name="Text 7"/>
          <p:cNvSpPr/>
          <p:nvPr/>
        </p:nvSpPr>
        <p:spPr>
          <a:xfrm>
            <a:off x="1051560" y="1005840"/>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Operations and maintenance is 50-70% of total lifecycle cost. 80% of that cost is locked in by decisions made during early design. Design for the full lifecycle, not just the demo.</a:t>
            </a:r>
            <a:endParaRPr lang="en-US" sz="1100" dirty="0"/>
          </a:p>
        </p:txBody>
      </p:sp>
      <p:sp>
        <p:nvSpPr>
          <p:cNvPr id="10" name="Shape 8"/>
          <p:cNvSpPr/>
          <p:nvPr/>
        </p:nvSpPr>
        <p:spPr>
          <a:xfrm>
            <a:off x="457200" y="1664208"/>
            <a:ext cx="73152" cy="502920"/>
          </a:xfrm>
          <a:prstGeom prst="rect">
            <a:avLst/>
          </a:prstGeom>
          <a:solidFill>
            <a:srgbClr val="2980B9"/>
          </a:solidFill>
          <a:ln/>
        </p:spPr>
      </p:sp>
      <p:sp>
        <p:nvSpPr>
          <p:cNvPr id="11" name="Text 9"/>
          <p:cNvSpPr/>
          <p:nvPr/>
        </p:nvSpPr>
        <p:spPr>
          <a:xfrm>
            <a:off x="685800" y="1664208"/>
            <a:ext cx="320040" cy="502920"/>
          </a:xfrm>
          <a:prstGeom prst="rect">
            <a:avLst/>
          </a:prstGeom>
          <a:noFill/>
          <a:ln/>
        </p:spPr>
        <p:txBody>
          <a:bodyPr wrap="square" rtlCol="0" anchor="ctr"/>
          <a:lstStyle/>
          <a:p>
            <a:pPr indent="0" marL="0">
              <a:buNone/>
            </a:pPr>
            <a:r>
              <a:rPr lang="en-US" sz="1400" b="1" dirty="0">
                <a:solidFill>
                  <a:srgbClr val="2980B9"/>
                </a:solidFill>
                <a:latin typeface="Georgia" pitchFamily="34" charset="0"/>
                <a:ea typeface="Georgia" pitchFamily="34" charset="-122"/>
                <a:cs typeface="Georgia" pitchFamily="34" charset="-120"/>
              </a:rPr>
              <a:t>(2)</a:t>
            </a:r>
            <a:endParaRPr lang="en-US" sz="1400" dirty="0"/>
          </a:p>
        </p:txBody>
      </p:sp>
      <p:sp>
        <p:nvSpPr>
          <p:cNvPr id="12" name="Text 10"/>
          <p:cNvSpPr/>
          <p:nvPr/>
        </p:nvSpPr>
        <p:spPr>
          <a:xfrm>
            <a:off x="1051560" y="1664208"/>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Four serviceability principles: access (can you reach it?), modularity (can you swap it?), diagnostics (can you find the fault?), standardization (can you get the parts and tools?).</a:t>
            </a:r>
            <a:endParaRPr lang="en-US" sz="1100" dirty="0"/>
          </a:p>
        </p:txBody>
      </p:sp>
      <p:sp>
        <p:nvSpPr>
          <p:cNvPr id="13" name="Shape 11"/>
          <p:cNvSpPr/>
          <p:nvPr/>
        </p:nvSpPr>
        <p:spPr>
          <a:xfrm>
            <a:off x="457200" y="2322576"/>
            <a:ext cx="73152" cy="502920"/>
          </a:xfrm>
          <a:prstGeom prst="rect">
            <a:avLst/>
          </a:prstGeom>
          <a:solidFill>
            <a:srgbClr val="27AE60"/>
          </a:solidFill>
          <a:ln/>
        </p:spPr>
      </p:sp>
      <p:sp>
        <p:nvSpPr>
          <p:cNvPr id="14" name="Text 12"/>
          <p:cNvSpPr/>
          <p:nvPr/>
        </p:nvSpPr>
        <p:spPr>
          <a:xfrm>
            <a:off x="685800" y="2322576"/>
            <a:ext cx="320040" cy="502920"/>
          </a:xfrm>
          <a:prstGeom prst="rect">
            <a:avLst/>
          </a:prstGeom>
          <a:noFill/>
          <a:ln/>
        </p:spPr>
        <p:txBody>
          <a:bodyPr wrap="square" rtlCol="0" anchor="ctr"/>
          <a:lstStyle/>
          <a:p>
            <a:pPr indent="0" marL="0">
              <a:buNone/>
            </a:pPr>
            <a:r>
              <a:rPr lang="en-US" sz="1400" b="1" dirty="0">
                <a:solidFill>
                  <a:srgbClr val="27AE60"/>
                </a:solidFill>
                <a:latin typeface="Georgia" pitchFamily="34" charset="0"/>
                <a:ea typeface="Georgia" pitchFamily="34" charset="-122"/>
                <a:cs typeface="Georgia" pitchFamily="34" charset="-120"/>
              </a:rPr>
              <a:t>(3)</a:t>
            </a:r>
            <a:endParaRPr lang="en-US" sz="1400" dirty="0"/>
          </a:p>
        </p:txBody>
      </p:sp>
      <p:sp>
        <p:nvSpPr>
          <p:cNvPr id="15" name="Text 13"/>
          <p:cNvSpPr/>
          <p:nvPr/>
        </p:nvSpPr>
        <p:spPr>
          <a:xfrm>
            <a:off x="1051560" y="2322576"/>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Maintenance planning includes: wear-item identification, replacement intervals, spare parts list with vendors, calibration schedule, and troubleshooting flowcharts.</a:t>
            </a:r>
            <a:endParaRPr lang="en-US" sz="1100" dirty="0"/>
          </a:p>
        </p:txBody>
      </p:sp>
      <p:sp>
        <p:nvSpPr>
          <p:cNvPr id="16" name="Shape 14"/>
          <p:cNvSpPr/>
          <p:nvPr/>
        </p:nvSpPr>
        <p:spPr>
          <a:xfrm>
            <a:off x="457200" y="2980944"/>
            <a:ext cx="73152" cy="502920"/>
          </a:xfrm>
          <a:prstGeom prst="rect">
            <a:avLst/>
          </a:prstGeom>
          <a:solidFill>
            <a:srgbClr val="D35400"/>
          </a:solidFill>
          <a:ln/>
        </p:spPr>
      </p:sp>
      <p:sp>
        <p:nvSpPr>
          <p:cNvPr id="17" name="Text 15"/>
          <p:cNvSpPr/>
          <p:nvPr/>
        </p:nvSpPr>
        <p:spPr>
          <a:xfrm>
            <a:off x="685800" y="2980944"/>
            <a:ext cx="320040" cy="502920"/>
          </a:xfrm>
          <a:prstGeom prst="rect">
            <a:avLst/>
          </a:prstGeom>
          <a:noFill/>
          <a:ln/>
        </p:spPr>
        <p:txBody>
          <a:bodyPr wrap="square" rtlCol="0" anchor="ctr"/>
          <a:lstStyle/>
          <a:p>
            <a:pPr indent="0" marL="0">
              <a:buNone/>
            </a:pPr>
            <a:r>
              <a:rPr lang="en-US" sz="1400" b="1" dirty="0">
                <a:solidFill>
                  <a:srgbClr val="D35400"/>
                </a:solidFill>
                <a:latin typeface="Georgia" pitchFamily="34" charset="0"/>
                <a:ea typeface="Georgia" pitchFamily="34" charset="-122"/>
                <a:cs typeface="Georgia" pitchFamily="34" charset="-120"/>
              </a:rPr>
              <a:t>(4)</a:t>
            </a:r>
            <a:endParaRPr lang="en-US" sz="1400" dirty="0"/>
          </a:p>
        </p:txBody>
      </p:sp>
      <p:sp>
        <p:nvSpPr>
          <p:cNvPr id="18" name="Text 16"/>
          <p:cNvSpPr/>
          <p:nvPr/>
        </p:nvSpPr>
        <p:spPr>
          <a:xfrm>
            <a:off x="1051560" y="2980944"/>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Documentation is a deliverable, not an afterthought. Quick-start guide, operating manual, maintenance manual, and troubleshooting guide — written for the USER, not the engineer.</a:t>
            </a:r>
            <a:endParaRPr lang="en-US" sz="1100" dirty="0"/>
          </a:p>
        </p:txBody>
      </p:sp>
      <p:sp>
        <p:nvSpPr>
          <p:cNvPr id="19" name="Shape 17"/>
          <p:cNvSpPr/>
          <p:nvPr/>
        </p:nvSpPr>
        <p:spPr>
          <a:xfrm>
            <a:off x="457200" y="3639312"/>
            <a:ext cx="73152" cy="502920"/>
          </a:xfrm>
          <a:prstGeom prst="rect">
            <a:avLst/>
          </a:prstGeom>
          <a:solidFill>
            <a:srgbClr val="1B2A4A"/>
          </a:solidFill>
          <a:ln/>
        </p:spPr>
      </p:sp>
      <p:sp>
        <p:nvSpPr>
          <p:cNvPr id="20" name="Text 18"/>
          <p:cNvSpPr/>
          <p:nvPr/>
        </p:nvSpPr>
        <p:spPr>
          <a:xfrm>
            <a:off x="685800" y="3639312"/>
            <a:ext cx="320040" cy="502920"/>
          </a:xfrm>
          <a:prstGeom prst="rect">
            <a:avLst/>
          </a:prstGeom>
          <a:noFill/>
          <a:ln/>
        </p:spPr>
        <p:txBody>
          <a:bodyPr wrap="square"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(5)</a:t>
            </a:r>
            <a:endParaRPr lang="en-US" sz="1400" dirty="0"/>
          </a:p>
        </p:txBody>
      </p:sp>
      <p:sp>
        <p:nvSpPr>
          <p:cNvPr id="21" name="Text 19"/>
          <p:cNvSpPr/>
          <p:nvPr/>
        </p:nvSpPr>
        <p:spPr>
          <a:xfrm>
            <a:off x="1051560" y="3639312"/>
            <a:ext cx="7589520" cy="502920"/>
          </a:xfrm>
          <a:prstGeom prst="rect">
            <a:avLst/>
          </a:prstGeom>
          <a:noFill/>
          <a:ln/>
        </p:spPr>
        <p:txBody>
          <a:bodyPr wrap="square" rtlCol="0" anchor="ctr"/>
          <a:lstStyle/>
          <a:p>
            <a:pPr indent="0" marL="0">
              <a:buNone/>
            </a:pPr>
            <a:r>
              <a:rPr lang="en-US" sz="1100" dirty="0">
                <a:solidFill>
                  <a:srgbClr val="2D3B54"/>
                </a:solidFill>
                <a:latin typeface="Calibri" pitchFamily="34" charset="0"/>
                <a:ea typeface="Calibri" pitchFamily="34" charset="-122"/>
                <a:cs typeface="Calibri" pitchFamily="34" charset="-120"/>
              </a:rPr>
              <a:t>The handoff package must enable independent operation: all documentation, spare parts, tools, source code, CAD files, and vendor contacts. If the team disappears, the system must still be supportable.</a:t>
            </a:r>
            <a:endParaRPr lang="en-US" sz="1100" dirty="0"/>
          </a:p>
        </p:txBody>
      </p:sp>
      <p:sp>
        <p:nvSpPr>
          <p:cNvPr id="22" name="Text 20"/>
          <p:cNvSpPr/>
          <p:nvPr/>
        </p:nvSpPr>
        <p:spPr>
          <a:xfrm>
            <a:off x="457200" y="4434840"/>
            <a:ext cx="8229600" cy="182880"/>
          </a:xfrm>
          <a:prstGeom prst="rect">
            <a:avLst/>
          </a:prstGeom>
          <a:noFill/>
          <a:ln/>
        </p:spPr>
        <p:txBody>
          <a:bodyPr wrap="square" rtlCol="0" anchor="ctr"/>
          <a:lstStyle/>
          <a:p>
            <a:pPr indent="0" marL="0">
              <a:buNone/>
            </a:pPr>
            <a:r>
              <a:rPr lang="en-US" sz="800" dirty="0">
                <a:solidFill>
                  <a:srgbClr val="7A7469"/>
                </a:solidFill>
                <a:latin typeface="Calibri" pitchFamily="34" charset="0"/>
                <a:ea typeface="Calibri" pitchFamily="34" charset="-122"/>
                <a:cs typeface="Calibri" pitchFamily="34" charset="-120"/>
              </a:rPr>
              <a:t>References: [1] Blanchard, Logistics Engineering and Management, 6th ed., 2004.  [2] MIL-HDBK-472, Maintainability Prediction.  [3] ISO 14040, Life Cycle Assessment.  [4] IEC 60300, Dependability Management.</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A30"/>
        </a:solidFill>
      </p:bgPr>
    </p:bg>
    <p:spTree>
      <p:nvGrpSpPr>
        <p:cNvPr id="1" name=""/>
        <p:cNvGrpSpPr/>
        <p:nvPr/>
      </p:nvGrpSpPr>
      <p:grpSpPr>
        <a:xfrm>
          <a:off x="0" y="0"/>
          <a:ext cx="0" cy="0"/>
          <a:chOff x="0" y="0"/>
          <a:chExt cx="0" cy="0"/>
        </a:xfrm>
      </p:grpSpPr>
      <p:sp>
        <p:nvSpPr>
          <p:cNvPr id="2" name="Shape 0"/>
          <p:cNvSpPr/>
          <p:nvPr/>
        </p:nvSpPr>
        <p:spPr>
          <a:xfrm>
            <a:off x="0" y="4663440"/>
            <a:ext cx="9144000" cy="480060"/>
          </a:xfrm>
          <a:prstGeom prst="rect">
            <a:avLst/>
          </a:prstGeom>
          <a:solidFill>
            <a:srgbClr val="1B2A4A"/>
          </a:solidFill>
          <a:ln/>
        </p:spPr>
      </p:sp>
      <p:sp>
        <p:nvSpPr>
          <p:cNvPr id="3" name="Text 1"/>
          <p:cNvSpPr/>
          <p:nvPr/>
        </p:nvSpPr>
        <p:spPr>
          <a:xfrm>
            <a:off x="365760" y="4736592"/>
            <a:ext cx="5486400" cy="320040"/>
          </a:xfrm>
          <a:prstGeom prst="rect">
            <a:avLst/>
          </a:prstGeom>
          <a:noFill/>
          <a:ln/>
        </p:spPr>
        <p:txBody>
          <a:bodyPr wrap="square" rtlCol="0" anchor="ctr"/>
          <a:lstStyle/>
          <a:p>
            <a:pPr indent="0" marL="0">
              <a:buNone/>
            </a:pPr>
            <a:r>
              <a:rPr lang="en-US" sz="900" b="1" dirty="0">
                <a:solidFill>
                  <a:srgbClr val="FFFFFF"/>
                </a:solidFill>
                <a:latin typeface="Georgia" pitchFamily="34" charset="0"/>
                <a:ea typeface="Georgia" pitchFamily="34" charset="-122"/>
                <a:cs typeface="Georgia" pitchFamily="34" charset="-120"/>
              </a:rPr>
              <a:t>MINES</a:t>
            </a:r>
            <a:pPr indent="0" marL="0">
              <a:buNone/>
            </a:pPr>
            <a:r>
              <a:rPr lang="en-US" sz="800" dirty="0">
                <a:solidFill>
                  <a:srgbClr val="D0CCC6"/>
                </a:solidFill>
                <a:latin typeface="Calibri" pitchFamily="34" charset="0"/>
                <a:ea typeface="Calibri" pitchFamily="34" charset="-122"/>
                <a:cs typeface="Calibri" pitchFamily="34" charset="-120"/>
              </a:rPr>
              <a:t>  |  MEGN 301 — Mechanical Integration and Design</a:t>
            </a:r>
            <a:endParaRPr lang="en-US" sz="900" dirty="0"/>
          </a:p>
        </p:txBody>
      </p:sp>
      <p:sp>
        <p:nvSpPr>
          <p:cNvPr id="4" name="Text 2"/>
          <p:cNvSpPr/>
          <p:nvPr/>
        </p:nvSpPr>
        <p:spPr>
          <a:xfrm>
            <a:off x="548640" y="1371600"/>
            <a:ext cx="7315200" cy="73152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Operations &amp; Maintenance</a:t>
            </a:r>
            <a:endParaRPr lang="en-US" sz="3600" dirty="0"/>
          </a:p>
        </p:txBody>
      </p:sp>
      <p:sp>
        <p:nvSpPr>
          <p:cNvPr id="5" name="Text 3"/>
          <p:cNvSpPr/>
          <p:nvPr/>
        </p:nvSpPr>
        <p:spPr>
          <a:xfrm>
            <a:off x="548640" y="2286000"/>
            <a:ext cx="7315200" cy="1645920"/>
          </a:xfrm>
          <a:prstGeom prst="rect">
            <a:avLst/>
          </a:prstGeom>
          <a:noFill/>
          <a:ln/>
        </p:spPr>
        <p:txBody>
          <a:bodyPr wrap="square" rtlCol="0" anchor="ctr"/>
          <a:lstStyle/>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"A system that is easy to design but hard to maintain</a:t>
            </a:r>
            <a:endParaRPr lang="en-US" sz="1600" dirty="0"/>
          </a:p>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will cost the stakeholder far more than one that was</a:t>
            </a:r>
            <a:endParaRPr lang="en-US" sz="1600" dirty="0"/>
          </a:p>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designed for the full lifecycle."</a:t>
            </a:r>
            <a:endParaRPr lang="en-US" sz="1600" dirty="0"/>
          </a:p>
          <a:p>
            <a:pPr indent="0" marL="0">
              <a:lnSpc>
                <a:spcPct val="130000"/>
              </a:lnSpc>
              <a:buNone/>
            </a:pPr>
            <a:endParaRPr lang="en-US" sz="1600" dirty="0"/>
          </a:p>
          <a:p>
            <a:pPr indent="0" marL="0">
              <a:lnSpc>
                <a:spcPct val="130000"/>
              </a:lnSpc>
              <a:buNone/>
            </a:pPr>
            <a:r>
              <a:rPr lang="en-US" sz="1600" dirty="0">
                <a:solidFill>
                  <a:srgbClr val="D0CCC6"/>
                </a:solidFill>
                <a:latin typeface="Calibri" pitchFamily="34" charset="0"/>
                <a:ea typeface="Calibri" pitchFamily="34" charset="-122"/>
                <a:cs typeface="Calibri" pitchFamily="34" charset="-120"/>
              </a:rPr>
              <a:t>Design for the person who fixes it at 2 AM.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2026-03-08T00:11:35Z</dcterms:created>
  <dcterms:modified xsi:type="dcterms:W3CDTF">2026-03-08T00:11:35Z</dcterms:modified>
</cp:coreProperties>
</file>