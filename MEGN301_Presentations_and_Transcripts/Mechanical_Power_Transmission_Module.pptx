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the Mechanical Power Transmission module for MEGN 301. Power transmission converts the torque and speed at a motor shaft into the force and velocity your mechanism needs. Every transmission element — belt, chain, gear, shaft, linkage, or lead screw — trades speed for torque and introduces losses. This module covers the complete toolkit for connecting motors to mechanisms.</a:t>
            </a:r>
          </a:p>
          <a:p/>
          <a:p>
            <a:r>
              <a:t>ALIGNMENT NOTE — This module corresponds to Chapter 12 (Mechanical Power Transmission) of your Master Reference Document. Transmission specifications appear in your architecture block diagrams, trade studies, subsystem requirements, BOM, and ICDs.</a:t>
            </a:r>
          </a:p>
          <a:p/>
          <a:p>
            <a:r>
              <a:t>FINAL NOTES — Key updates in the final compiled document: (1) This chapter now includes all gear reduction content previously in Ch 9 (Power Architecture). (2) NEW: Quick Decision Tree added to gear selection tip (hold position → worm/lead screw, precise linear → lead screw + stepper, fast linear → belt stage, etc.). (3) NEW: Sourcing guide with specific vendors (ServoCity, Pololu, SDP/SI, McMaster) and GT2 linear axis kit pricing ($15-25). (4) Practice question 7 includes a complete Caffeinated Creatures drive system design with motor sizing analysis.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covers the fundamental equations that govern all mechanical power transmission.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mechanical power transmission obeys P = T times omega = F times v. The gear ratio i relates input and output speeds and torques. Most mechanisms need speed reduction because motors spin fast (1000 to 10000 RPM) but mechanisms need slow, forceful motion. The efficiency lesson is critical: losses compound multiplicatively. Three stages at 95% each give only 85.7% overall efficiency. Every unnecessary stage wastes energy as heat and adds complexity, cost, weight, and failure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covers flexible-element drives — belts and chains that transmit power between shafts that may not be adjacent.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belt types dominate student projects. V-belts are friction drives that slip under overload — this can be a safety feature acting as a torque limiter. Timing belts have teeth that mesh with toothed pulleys, providing positive engagement with no slip. GT2 timing belts with 2mm pitch are the standard for hobby robotics and prototyping. They are inexpensive, widely available, and provide precise speed ratios. A 20-tooth driver pulley meshing with a 60-tooth driven pulley gives a 3:1 reduction — your motor speed is divided by 3 and your torque is multiplied by 3 times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Roller chain provides positive engagement like timing belts but handles much higher loads. Chain is the go-to when belt capacity is insufficient or in dirty environments where belts degrade. The critical maintenance requirements: chain must be lubricated and tension must be adjustable. An unlubricated chain wears exponentially faster because the pins and bushings have no protective film. In student projects, apply chain oil before every test session and include a slot or adjustable mount for tension adjustment.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covers gear trains — the most versatile and precise method for transmitting rotary power between shafts.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gear types cover most applications. Two stand out for student projects: worm gears for applications requiring self-locking (the load cannot back-drive the motor), and planetary gearboxes for compact, high-ratio reduction. Pre-assembled planetary gearboxes that bolt directly to NEMA 17 stepper motors are available for 25 to 80 dollars and are the easiest path to gear reduction in a student project. For custom ratios, spur gears from robotics suppliers like ServoCity come with matching hubs and shafts. 3D-printed gears work for low-load applications but have limited strength — use herringbone profile to improve meshing and eliminate axial thrust.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Worm gears are unique among gear types because of their self-locking property. When the worm's lead angle is below the friction angle — typically below about 6 degrees — the load physically cannot drive the worm backwards. This means the mechanism holds position without any motor current or brake. This is invaluable for applications like hoists where you want the load to stay in place when the motor stops. The tradeoff is efficiency: the same sliding friction that provides self-locking also wastes 30 to 60 percent of the input power as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covers the mechanical connections between rotating and linear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Shaft-hub connections transmit torque from a shaft to a gear, pulley, or other component. Set screws are the simplest but weakest — they rely on friction between the screw tip and the shaft. Keyways provide positive mechanical interlocking and are the standard for moderate to high torque applications. Clamping hubs from robotics suppliers like ServoCity are excellent for student projects because they provide zero-backlash clamping without needing to machine a keyway. For connecting two shafts, flexible jaw couplings are the best default choice — they accommodate the inevitable slight misalignment between a motor shaft and a gearbox or mechanism shaft.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methods convert rotary to linear motion. Lead screws provide the highest force and finest resolution with self-locking — ideal for Z-axes and positioning where you need to hold position without power. Ball screws are much more efficient but not self-locking — the load will back-drive the motor. Belt-driven stages are the fastest and lightest but cannot hold position. For student projects: if you need precise positioning with holding (like a vertical lift), use a lead screw. If you need fast horizontal motion (like a gantry), use a GT2 belt stage on linear 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Linkages are mechanisms made of rigid links connected by joints. The four-bar linkage is the fundamental building block — by changing the relative lengths of the four links, you can produce rocking, rotating, or oscillating motion. Grashof's criterion predicts the mechanism type from link lengths. The slider-crank converts rotation to reciprocating linear motion and is the mechanism inside every piston engine. While linkages are less common in student projects than belt or gear drives, understanding them is essential for mechanism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selection framework starts from your output requirement and works backwards to the motor. First, define the load: what torque, speed, force, or velocity does your mechanism need? Second, calculate the required gear ratio and power. Third, select the transmission type based on shaft arrangement, efficiency needs, and whether self-locking is required. Fourth, size components using catalog ratings. Fifth, verify that the motor can supply the required power including all transmission losses. The most common student error is selecting a motor first and then discovering it cannot deliver enough torque through the transmission to the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1314D"/>
          </a:solidFill>
          <a:ln/>
        </p:spPr>
      </p:sp>
      <p:sp>
        <p:nvSpPr>
          <p:cNvPr id="3" name="Text 1"/>
          <p:cNvSpPr/>
          <p:nvPr/>
        </p:nvSpPr>
        <p:spPr>
          <a:xfrm>
            <a:off x="457200" y="274320"/>
            <a:ext cx="8229600" cy="3657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MINES  |  MEGN 301 — Mechanical Integration and Design</a:t>
            </a:r>
            <a:endParaRPr lang="en-US" sz="1000" dirty="0"/>
          </a:p>
        </p:txBody>
      </p:sp>
      <p:sp>
        <p:nvSpPr>
          <p:cNvPr id="4" name="Text 2"/>
          <p:cNvSpPr/>
          <p:nvPr/>
        </p:nvSpPr>
        <p:spPr>
          <a:xfrm>
            <a:off x="457200" y="914400"/>
            <a:ext cx="8229600" cy="365760"/>
          </a:xfrm>
          <a:prstGeom prst="rect">
            <a:avLst/>
          </a:prstGeom>
          <a:noFill/>
          <a:ln/>
        </p:spPr>
        <p:txBody>
          <a:bodyPr wrap="square" rtlCol="0" anchor="ctr"/>
          <a:lstStyle/>
          <a:p>
            <a:pPr indent="0" marL="0">
              <a:buNone/>
            </a:pPr>
            <a:r>
              <a:rPr lang="en-US" sz="1200" spc="400" kern="0" dirty="0">
                <a:solidFill>
                  <a:srgbClr val="00796B"/>
                </a:solidFill>
                <a:latin typeface="Calibri" pitchFamily="34" charset="0"/>
                <a:ea typeface="Calibri" pitchFamily="34" charset="-122"/>
                <a:cs typeface="Calibri" pitchFamily="34" charset="-120"/>
              </a:rPr>
              <a:t>Technical Reference</a:t>
            </a:r>
            <a:endParaRPr lang="en-US" sz="1200" dirty="0"/>
          </a:p>
        </p:txBody>
      </p:sp>
      <p:sp>
        <p:nvSpPr>
          <p:cNvPr id="5" name="Text 3"/>
          <p:cNvSpPr/>
          <p:nvPr/>
        </p:nvSpPr>
        <p:spPr>
          <a:xfrm>
            <a:off x="457200" y="1645920"/>
            <a:ext cx="8229600" cy="128016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Mechanical Power</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Transmission</a:t>
            </a:r>
            <a:endParaRPr lang="en-US" sz="4000" dirty="0"/>
          </a:p>
        </p:txBody>
      </p:sp>
      <p:sp>
        <p:nvSpPr>
          <p:cNvPr id="6" name="Text 4"/>
          <p:cNvSpPr/>
          <p:nvPr/>
        </p:nvSpPr>
        <p:spPr>
          <a:xfrm>
            <a:off x="457200" y="3108960"/>
            <a:ext cx="8229600" cy="548640"/>
          </a:xfrm>
          <a:prstGeom prst="rect">
            <a:avLst/>
          </a:prstGeom>
          <a:noFill/>
          <a:ln/>
        </p:spPr>
        <p:txBody>
          <a:bodyPr wrap="square" rtlCol="0" anchor="ctr"/>
          <a:lstStyle/>
          <a:p>
            <a:pPr indent="0" marL="0">
              <a:buNone/>
            </a:pPr>
            <a:r>
              <a:rPr lang="en-US" sz="1200" spc="200" kern="0" dirty="0">
                <a:solidFill>
                  <a:srgbClr val="CADCFC"/>
                </a:solidFill>
                <a:latin typeface="Calibri" pitchFamily="34" charset="0"/>
                <a:ea typeface="Calibri" pitchFamily="34" charset="-122"/>
                <a:cs typeface="Calibri" pitchFamily="34" charset="-120"/>
              </a:rPr>
              <a:t>CHAINS, BELTS, GEARS, SHAFTS, LINKAGES, AND LINEAR/ROTARY MOTION SYSTEMS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7FA"/>
          </a:solidFill>
          <a:ln/>
        </p:spPr>
      </p:sp>
      <p:sp>
        <p:nvSpPr>
          <p:cNvPr id="3" name="Shape 1"/>
          <p:cNvSpPr/>
          <p:nvPr/>
        </p:nvSpPr>
        <p:spPr>
          <a:xfrm>
            <a:off x="0" y="0"/>
            <a:ext cx="9144000" cy="548640"/>
          </a:xfrm>
          <a:prstGeom prst="rect">
            <a:avLst/>
          </a:prstGeom>
          <a:solidFill>
            <a:srgbClr val="21314D"/>
          </a:solidFill>
          <a:ln/>
        </p:spPr>
      </p:sp>
      <p:sp>
        <p:nvSpPr>
          <p:cNvPr id="4" name="Text 2"/>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5" name="Text 3"/>
          <p:cNvSpPr/>
          <p:nvPr/>
        </p:nvSpPr>
        <p:spPr>
          <a:xfrm>
            <a:off x="457200" y="1097280"/>
            <a:ext cx="1828800" cy="1371600"/>
          </a:xfrm>
          <a:prstGeom prst="rect">
            <a:avLst/>
          </a:prstGeom>
          <a:noFill/>
          <a:ln/>
        </p:spPr>
        <p:txBody>
          <a:bodyPr wrap="square" rtlCol="0" anchor="ctr"/>
          <a:lstStyle/>
          <a:p>
            <a:pPr indent="0" marL="0">
              <a:buNone/>
            </a:pPr>
            <a:r>
              <a:rPr lang="en-US" sz="7200" b="1" dirty="0">
                <a:solidFill>
                  <a:srgbClr val="00796B"/>
                </a:solidFill>
                <a:latin typeface="Calibri" pitchFamily="34" charset="0"/>
                <a:ea typeface="Calibri" pitchFamily="34" charset="-122"/>
                <a:cs typeface="Calibri" pitchFamily="34" charset="-120"/>
              </a:rPr>
              <a:t>01</a:t>
            </a:r>
            <a:endParaRPr lang="en-US" sz="7200" dirty="0"/>
          </a:p>
        </p:txBody>
      </p:sp>
      <p:sp>
        <p:nvSpPr>
          <p:cNvPr id="6" name="Text 4"/>
          <p:cNvSpPr/>
          <p:nvPr/>
        </p:nvSpPr>
        <p:spPr>
          <a:xfrm>
            <a:off x="457200" y="2560320"/>
            <a:ext cx="5486400" cy="731520"/>
          </a:xfrm>
          <a:prstGeom prst="rect">
            <a:avLst/>
          </a:prstGeom>
          <a:noFill/>
          <a:ln/>
        </p:spPr>
        <p:txBody>
          <a:bodyPr wrap="square" rtlCol="0" anchor="ctr"/>
          <a:lstStyle/>
          <a:p>
            <a:pPr indent="0" marL="0">
              <a:buNone/>
            </a:pPr>
            <a:r>
              <a:rPr lang="en-US" sz="3200" b="1" dirty="0">
                <a:solidFill>
                  <a:srgbClr val="21314D"/>
                </a:solidFill>
                <a:latin typeface="Calibri" pitchFamily="34" charset="0"/>
                <a:ea typeface="Calibri" pitchFamily="34" charset="-122"/>
                <a:cs typeface="Calibri" pitchFamily="34" charset="-120"/>
              </a:rPr>
              <a:t>Fundamental</a:t>
            </a:r>
            <a:endParaRPr lang="en-US" sz="3200" dirty="0"/>
          </a:p>
          <a:p>
            <a:pPr indent="0" marL="0">
              <a:buNone/>
            </a:pPr>
            <a:r>
              <a:rPr lang="en-US" sz="3200" b="1" dirty="0">
                <a:solidFill>
                  <a:srgbClr val="21314D"/>
                </a:solidFill>
                <a:latin typeface="Calibri" pitchFamily="34" charset="0"/>
                <a:ea typeface="Calibri" pitchFamily="34" charset="-122"/>
                <a:cs typeface="Calibri" pitchFamily="34" charset="-120"/>
              </a:rPr>
              <a:t>relationships</a:t>
            </a:r>
            <a:endParaRPr lang="en-US" sz="3200" dirty="0"/>
          </a:p>
        </p:txBody>
      </p:sp>
      <p:sp>
        <p:nvSpPr>
          <p:cNvPr id="7" name="Text 5"/>
          <p:cNvSpPr/>
          <p:nvPr/>
        </p:nvSpPr>
        <p:spPr>
          <a:xfrm>
            <a:off x="457200" y="3291840"/>
            <a:ext cx="7315200" cy="457200"/>
          </a:xfrm>
          <a:prstGeom prst="rect">
            <a:avLst/>
          </a:prstGeom>
          <a:noFill/>
          <a:ln/>
        </p:spPr>
        <p:txBody>
          <a:bodyPr wrap="square" rtlCol="0" anchor="ctr"/>
          <a:lstStyle/>
          <a:p>
            <a:pPr indent="0" marL="0">
              <a:buNone/>
            </a:pPr>
            <a:r>
              <a:rPr lang="en-US" sz="1300" dirty="0">
                <a:solidFill>
                  <a:srgbClr val="666666"/>
                </a:solidFill>
                <a:latin typeface="Calibri" pitchFamily="34" charset="0"/>
                <a:ea typeface="Calibri" pitchFamily="34" charset="-122"/>
                <a:cs typeface="Calibri" pitchFamily="34" charset="-120"/>
              </a:rPr>
              <a:t>Power, torque, speed, gear ratio, and efficiency</a:t>
            </a:r>
            <a:endParaRPr lang="en-US" sz="1300" dirty="0"/>
          </a:p>
        </p:txBody>
      </p:sp>
      <p:sp>
        <p:nvSpPr>
          <p:cNvPr id="8" name="Shape 6"/>
          <p:cNvSpPr/>
          <p:nvPr/>
        </p:nvSpPr>
        <p:spPr>
          <a:xfrm>
            <a:off x="0" y="4663440"/>
            <a:ext cx="9144000" cy="475488"/>
          </a:xfrm>
          <a:prstGeom prst="rect">
            <a:avLst/>
          </a:prstGeom>
          <a:solidFill>
            <a:srgbClr val="21314D"/>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1314D"/>
          </a:solidFill>
          <a:ln/>
        </p:spPr>
      </p:sp>
      <p:sp>
        <p:nvSpPr>
          <p:cNvPr id="3" name="Text 1"/>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4" name="Text 2"/>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21314D"/>
                </a:solidFill>
                <a:latin typeface="Calibri" pitchFamily="34" charset="0"/>
                <a:ea typeface="Calibri" pitchFamily="34" charset="-122"/>
                <a:cs typeface="Calibri" pitchFamily="34" charset="-120"/>
              </a:rPr>
              <a:t>Power transmission fundamentals</a:t>
            </a:r>
            <a:endParaRPr lang="en-US" sz="2400" dirty="0"/>
          </a:p>
        </p:txBody>
      </p:sp>
      <p:sp>
        <p:nvSpPr>
          <p:cNvPr id="5" name="Text 3"/>
          <p:cNvSpPr/>
          <p:nvPr/>
        </p:nvSpPr>
        <p:spPr>
          <a:xfrm>
            <a:off x="457200" y="1463040"/>
            <a:ext cx="8229600" cy="3200400"/>
          </a:xfrm>
          <a:prstGeom prst="rect">
            <a:avLst/>
          </a:prstGeom>
          <a:noFill/>
          <a:ln/>
        </p:spPr>
        <p:txBody>
          <a:bodyPr wrap="square" rtlCol="0" anchor="t"/>
          <a:lstStyle/>
          <a:p>
            <a:pPr indent="0" marL="0">
              <a:buNone/>
            </a:pPr>
            <a:r>
              <a:rPr lang="en-US" sz="1600" b="1" dirty="0">
                <a:solidFill>
                  <a:srgbClr val="21314D"/>
                </a:solidFill>
                <a:latin typeface="Calibri" pitchFamily="34" charset="0"/>
                <a:ea typeface="Calibri" pitchFamily="34" charset="-122"/>
                <a:cs typeface="Calibri" pitchFamily="34" charset="-120"/>
              </a:rPr>
              <a:t>Power is conserved (minus losses):</a:t>
            </a:r>
            <a:endParaRPr lang="en-US" sz="1600" dirty="0"/>
          </a:p>
          <a:p>
            <a:pPr indent="0" marL="0">
              <a:buNone/>
            </a:pPr>
            <a:r>
              <a:rPr lang="en-US" sz="2200" b="1" dirty="0">
                <a:solidFill>
                  <a:srgbClr val="00796B"/>
                </a:solidFill>
                <a:latin typeface="Calibri" pitchFamily="34" charset="0"/>
                <a:ea typeface="Calibri" pitchFamily="34" charset="-122"/>
                <a:cs typeface="Calibri" pitchFamily="34" charset="-120"/>
              </a:rPr>
              <a:t>P = T × ω = F × v</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T = torque (Nm), ω = angular velocity (rad/s), F = force (N), v = velocity (m/s)</a:t>
            </a:r>
            <a:endParaRPr lang="en-US" sz="1600" dirty="0"/>
          </a:p>
          <a:p>
            <a:pPr indent="0" marL="0">
              <a:buNone/>
            </a:pPr>
            <a:endParaRPr lang="en-US" sz="1600" dirty="0"/>
          </a:p>
          <a:p>
            <a:pPr indent="0" marL="0">
              <a:buNone/>
            </a:pPr>
            <a:r>
              <a:rPr lang="en-US" sz="1600" b="1" dirty="0">
                <a:solidFill>
                  <a:srgbClr val="21314D"/>
                </a:solidFill>
                <a:latin typeface="Calibri" pitchFamily="34" charset="0"/>
                <a:ea typeface="Calibri" pitchFamily="34" charset="-122"/>
                <a:cs typeface="Calibri" pitchFamily="34" charset="-120"/>
              </a:rPr>
              <a:t>Gear Ratio:</a:t>
            </a:r>
            <a:endParaRPr lang="en-US" sz="1600" dirty="0"/>
          </a:p>
          <a:p>
            <a:pPr indent="0" marL="0">
              <a:buNone/>
            </a:pPr>
            <a:r>
              <a:rPr lang="en-US" sz="1600" b="1" dirty="0">
                <a:solidFill>
                  <a:srgbClr val="00796B"/>
                </a:solidFill>
                <a:latin typeface="Calibri" pitchFamily="34" charset="0"/>
                <a:ea typeface="Calibri" pitchFamily="34" charset="-122"/>
                <a:cs typeface="Calibri" pitchFamily="34" charset="-120"/>
              </a:rPr>
              <a:t>i = ωᵢₙ / ωₒᵤₜ = Tₒᵤₜ / (Tᵢₙ × η) = N_driven / N_driver</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i &gt; 1 = speed REDUCTION (torque multiplication) — most mechanisms need this</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i &lt; 1 = speed INCREASE (torque reduction)</a:t>
            </a:r>
            <a:endParaRPr lang="en-US" sz="1600" dirty="0"/>
          </a:p>
          <a:p>
            <a:pPr indent="0" marL="0">
              <a:buNone/>
            </a:pPr>
            <a:endParaRPr lang="en-US" sz="1600" dirty="0"/>
          </a:p>
          <a:p>
            <a:pPr indent="0" marL="0">
              <a:buNone/>
            </a:pPr>
            <a:r>
              <a:rPr lang="en-US" sz="1600" b="1" dirty="0">
                <a:solidFill>
                  <a:srgbClr val="E65100"/>
                </a:solidFill>
                <a:latin typeface="Calibri" pitchFamily="34" charset="0"/>
                <a:ea typeface="Calibri" pitchFamily="34" charset="-122"/>
                <a:cs typeface="Calibri" pitchFamily="34" charset="-120"/>
              </a:rPr>
              <a:t>Efficiency compounds multiplicatively:</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Three stages at 95% each → 0.95³ = 85.7% overall. Minimize stages.</a:t>
            </a:r>
            <a:endParaRPr lang="en-US" sz="1600" dirty="0"/>
          </a:p>
        </p:txBody>
      </p:sp>
      <p:sp>
        <p:nvSpPr>
          <p:cNvPr id="6" name="Shape 4"/>
          <p:cNvSpPr/>
          <p:nvPr/>
        </p:nvSpPr>
        <p:spPr>
          <a:xfrm>
            <a:off x="0" y="4663440"/>
            <a:ext cx="9144000" cy="475488"/>
          </a:xfrm>
          <a:prstGeom prst="rect">
            <a:avLst/>
          </a:prstGeom>
          <a:solidFill>
            <a:srgbClr val="21314D"/>
          </a:solidFill>
          <a:ln/>
        </p:spPr>
      </p:sp>
      <p:sp>
        <p:nvSpPr>
          <p:cNvPr id="7" name="Text 5"/>
          <p:cNvSpPr/>
          <p:nvPr/>
        </p:nvSpPr>
        <p:spPr>
          <a:xfrm>
            <a:off x="365760" y="4709160"/>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MINES  |  MEGN 301 — Mechanical Integration and Design</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7FA"/>
          </a:solidFill>
          <a:ln/>
        </p:spPr>
      </p:sp>
      <p:sp>
        <p:nvSpPr>
          <p:cNvPr id="3" name="Shape 1"/>
          <p:cNvSpPr/>
          <p:nvPr/>
        </p:nvSpPr>
        <p:spPr>
          <a:xfrm>
            <a:off x="0" y="0"/>
            <a:ext cx="9144000" cy="548640"/>
          </a:xfrm>
          <a:prstGeom prst="rect">
            <a:avLst/>
          </a:prstGeom>
          <a:solidFill>
            <a:srgbClr val="21314D"/>
          </a:solidFill>
          <a:ln/>
        </p:spPr>
      </p:sp>
      <p:sp>
        <p:nvSpPr>
          <p:cNvPr id="4" name="Text 2"/>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5" name="Text 3"/>
          <p:cNvSpPr/>
          <p:nvPr/>
        </p:nvSpPr>
        <p:spPr>
          <a:xfrm>
            <a:off x="457200" y="1097280"/>
            <a:ext cx="1828800" cy="1371600"/>
          </a:xfrm>
          <a:prstGeom prst="rect">
            <a:avLst/>
          </a:prstGeom>
          <a:noFill/>
          <a:ln/>
        </p:spPr>
        <p:txBody>
          <a:bodyPr wrap="square" rtlCol="0" anchor="ctr"/>
          <a:lstStyle/>
          <a:p>
            <a:pPr indent="0" marL="0">
              <a:buNone/>
            </a:pPr>
            <a:r>
              <a:rPr lang="en-US" sz="7200" b="1" dirty="0">
                <a:solidFill>
                  <a:srgbClr val="00796B"/>
                </a:solidFill>
                <a:latin typeface="Calibri" pitchFamily="34" charset="0"/>
                <a:ea typeface="Calibri" pitchFamily="34" charset="-122"/>
                <a:cs typeface="Calibri" pitchFamily="34" charset="-120"/>
              </a:rPr>
              <a:t>02</a:t>
            </a:r>
            <a:endParaRPr lang="en-US" sz="7200" dirty="0"/>
          </a:p>
        </p:txBody>
      </p:sp>
      <p:sp>
        <p:nvSpPr>
          <p:cNvPr id="6" name="Text 4"/>
          <p:cNvSpPr/>
          <p:nvPr/>
        </p:nvSpPr>
        <p:spPr>
          <a:xfrm>
            <a:off x="457200" y="2560320"/>
            <a:ext cx="5486400" cy="731520"/>
          </a:xfrm>
          <a:prstGeom prst="rect">
            <a:avLst/>
          </a:prstGeom>
          <a:noFill/>
          <a:ln/>
        </p:spPr>
        <p:txBody>
          <a:bodyPr wrap="square" rtlCol="0" anchor="ctr"/>
          <a:lstStyle/>
          <a:p>
            <a:pPr indent="0" marL="0">
              <a:buNone/>
            </a:pPr>
            <a:r>
              <a:rPr lang="en-US" sz="3200" b="1" dirty="0">
                <a:solidFill>
                  <a:srgbClr val="21314D"/>
                </a:solidFill>
                <a:latin typeface="Calibri" pitchFamily="34" charset="0"/>
                <a:ea typeface="Calibri" pitchFamily="34" charset="-122"/>
                <a:cs typeface="Calibri" pitchFamily="34" charset="-120"/>
              </a:rPr>
              <a:t>Belt and chain</a:t>
            </a:r>
            <a:endParaRPr lang="en-US" sz="3200" dirty="0"/>
          </a:p>
          <a:p>
            <a:pPr indent="0" marL="0">
              <a:buNone/>
            </a:pPr>
            <a:r>
              <a:rPr lang="en-US" sz="3200" b="1" dirty="0">
                <a:solidFill>
                  <a:srgbClr val="21314D"/>
                </a:solidFill>
                <a:latin typeface="Calibri" pitchFamily="34" charset="0"/>
                <a:ea typeface="Calibri" pitchFamily="34" charset="-122"/>
                <a:cs typeface="Calibri" pitchFamily="34" charset="-120"/>
              </a:rPr>
              <a:t>drives</a:t>
            </a:r>
            <a:endParaRPr lang="en-US" sz="3200" dirty="0"/>
          </a:p>
        </p:txBody>
      </p:sp>
      <p:sp>
        <p:nvSpPr>
          <p:cNvPr id="7" name="Text 5"/>
          <p:cNvSpPr/>
          <p:nvPr/>
        </p:nvSpPr>
        <p:spPr>
          <a:xfrm>
            <a:off x="457200" y="3291840"/>
            <a:ext cx="7315200" cy="457200"/>
          </a:xfrm>
          <a:prstGeom prst="rect">
            <a:avLst/>
          </a:prstGeom>
          <a:noFill/>
          <a:ln/>
        </p:spPr>
        <p:txBody>
          <a:bodyPr wrap="square" rtlCol="0" anchor="ctr"/>
          <a:lstStyle/>
          <a:p>
            <a:pPr indent="0" marL="0">
              <a:buNone/>
            </a:pPr>
            <a:r>
              <a:rPr lang="en-US" sz="1300" dirty="0">
                <a:solidFill>
                  <a:srgbClr val="666666"/>
                </a:solidFill>
                <a:latin typeface="Calibri" pitchFamily="34" charset="0"/>
                <a:ea typeface="Calibri" pitchFamily="34" charset="-122"/>
                <a:cs typeface="Calibri" pitchFamily="34" charset="-120"/>
              </a:rPr>
              <a:t>V-belts, timing belts, roller chain: selection and sizing</a:t>
            </a:r>
            <a:endParaRPr lang="en-US" sz="1300" dirty="0"/>
          </a:p>
        </p:txBody>
      </p:sp>
      <p:sp>
        <p:nvSpPr>
          <p:cNvPr id="8" name="Shape 6"/>
          <p:cNvSpPr/>
          <p:nvPr/>
        </p:nvSpPr>
        <p:spPr>
          <a:xfrm>
            <a:off x="0" y="4663440"/>
            <a:ext cx="9144000" cy="475488"/>
          </a:xfrm>
          <a:prstGeom prst="rect">
            <a:avLst/>
          </a:prstGeom>
          <a:solidFill>
            <a:srgbClr val="21314D"/>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1314D"/>
          </a:solidFill>
          <a:ln/>
        </p:spPr>
      </p:sp>
      <p:sp>
        <p:nvSpPr>
          <p:cNvPr id="3" name="Text 1"/>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4" name="Text 2"/>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21314D"/>
                </a:solidFill>
                <a:latin typeface="Calibri" pitchFamily="34" charset="0"/>
                <a:ea typeface="Calibri" pitchFamily="34" charset="-122"/>
                <a:cs typeface="Calibri" pitchFamily="34" charset="-120"/>
              </a:rPr>
              <a:t>Belt drive types</a:t>
            </a:r>
            <a:endParaRPr lang="en-US" sz="2400" dirty="0"/>
          </a:p>
        </p:txBody>
      </p:sp>
      <p:sp>
        <p:nvSpPr>
          <p:cNvPr id="5" name="Text 3"/>
          <p:cNvSpPr/>
          <p:nvPr/>
        </p:nvSpPr>
        <p:spPr>
          <a:xfrm>
            <a:off x="457200" y="1463040"/>
            <a:ext cx="8229600" cy="3200400"/>
          </a:xfrm>
          <a:prstGeom prst="rect">
            <a:avLst/>
          </a:prstGeom>
          <a:noFill/>
          <a:ln/>
        </p:spPr>
        <p:txBody>
          <a:bodyPr wrap="square" rtlCol="0" anchor="t"/>
          <a:lstStyle/>
          <a:p>
            <a:pPr indent="0" marL="0">
              <a:buNone/>
            </a:pPr>
            <a:r>
              <a:rPr lang="en-US" sz="1300" b="1" dirty="0">
                <a:solidFill>
                  <a:srgbClr val="00796B"/>
                </a:solidFill>
                <a:latin typeface="Calibri" pitchFamily="34" charset="0"/>
                <a:ea typeface="Calibri" pitchFamily="34" charset="-122"/>
                <a:cs typeface="Calibri" pitchFamily="34" charset="-120"/>
              </a:rPr>
              <a:t>V-Belt — friction drive, wedge grip, 93-98% efficient</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Slips under overload (acts as torque limiter). Absorbs shock. Requires re-tensioning.</a:t>
            </a:r>
            <a:endParaRPr lang="en-US" sz="1300" dirty="0"/>
          </a:p>
          <a:p>
            <a:pPr indent="0" marL="0">
              <a:buNone/>
            </a:pPr>
            <a:r>
              <a:rPr lang="en-US" sz="1300" b="1" dirty="0">
                <a:solidFill>
                  <a:srgbClr val="00796B"/>
                </a:solidFill>
                <a:latin typeface="Calibri" pitchFamily="34" charset="0"/>
                <a:ea typeface="Calibri" pitchFamily="34" charset="-122"/>
                <a:cs typeface="Calibri" pitchFamily="34" charset="-120"/>
              </a:rPr>
              <a:t>Timing Belt (GT2/HTD) — toothed, positive engagement, 95-99% efficient</a:t>
            </a:r>
            <a:endParaRPr lang="en-US" sz="1300" dirty="0"/>
          </a:p>
          <a:p>
            <a:pPr marL="342900" indent="-342900">
              <a:buSzPct val="100000"/>
              <a:buChar char="•"/>
            </a:pPr>
            <a:r>
              <a:rPr lang="en-US" sz="1300" b="1" dirty="0">
                <a:solidFill>
                  <a:srgbClr val="363636"/>
                </a:solidFill>
                <a:latin typeface="Calibri" pitchFamily="34" charset="0"/>
                <a:ea typeface="Calibri" pitchFamily="34" charset="-122"/>
                <a:cs typeface="Calibri" pitchFamily="34" charset="-120"/>
              </a:rPr>
              <a:t>No slip. Precise positioning. No re-tensioning. DEFAULT FOR STUDENT PROJECTS.</a:t>
            </a:r>
            <a:endParaRPr lang="en-US" sz="1300" dirty="0"/>
          </a:p>
          <a:p>
            <a:pPr indent="0" marL="0">
              <a:buNone/>
            </a:pPr>
            <a:endParaRPr lang="en-US" sz="1300" dirty="0"/>
          </a:p>
          <a:p>
            <a:pPr indent="0" marL="0">
              <a:buNone/>
            </a:pPr>
            <a:r>
              <a:rPr lang="en-US" sz="1600" b="1" dirty="0">
                <a:solidFill>
                  <a:srgbClr val="21314D"/>
                </a:solidFill>
                <a:latin typeface="Calibri" pitchFamily="34" charset="0"/>
                <a:ea typeface="Calibri" pitchFamily="34" charset="-122"/>
                <a:cs typeface="Calibri" pitchFamily="34" charset="-120"/>
              </a:rPr>
              <a:t>GT2 Timing Belts for Student Projects</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GT2 profile (2mm pitch) is the standard for hobby/prototyping</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6mm or 10mm belt widths; 16T, 20T, 36T, 60T pulleys for 5mm motor shafts</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20T driver + 60T driven = 3:1 reduction. Cost: $5-15 per axis.</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Available: Amazon, Aliexpress, robotics suppliers (ServoCity, Pololu)</a:t>
            </a:r>
            <a:endParaRPr lang="en-US" sz="1300" dirty="0"/>
          </a:p>
        </p:txBody>
      </p:sp>
      <p:sp>
        <p:nvSpPr>
          <p:cNvPr id="6" name="Shape 4"/>
          <p:cNvSpPr/>
          <p:nvPr/>
        </p:nvSpPr>
        <p:spPr>
          <a:xfrm>
            <a:off x="0" y="4663440"/>
            <a:ext cx="9144000" cy="475488"/>
          </a:xfrm>
          <a:prstGeom prst="rect">
            <a:avLst/>
          </a:prstGeom>
          <a:solidFill>
            <a:srgbClr val="21314D"/>
          </a:solidFill>
          <a:ln/>
        </p:spPr>
      </p:sp>
      <p:sp>
        <p:nvSpPr>
          <p:cNvPr id="7" name="Text 5"/>
          <p:cNvSpPr/>
          <p:nvPr/>
        </p:nvSpPr>
        <p:spPr>
          <a:xfrm>
            <a:off x="365760" y="4709160"/>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MINES  |  MEGN 301 — Mechanical Integration and Design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1314D"/>
          </a:solidFill>
          <a:ln/>
        </p:spPr>
      </p:sp>
      <p:sp>
        <p:nvSpPr>
          <p:cNvPr id="3" name="Text 1"/>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4" name="Text 2"/>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21314D"/>
                </a:solidFill>
                <a:latin typeface="Calibri" pitchFamily="34" charset="0"/>
                <a:ea typeface="Calibri" pitchFamily="34" charset="-122"/>
                <a:cs typeface="Calibri" pitchFamily="34" charset="-120"/>
              </a:rPr>
              <a:t>Roller chain drives</a:t>
            </a:r>
            <a:endParaRPr lang="en-US" sz="2400" dirty="0"/>
          </a:p>
        </p:txBody>
      </p:sp>
      <p:sp>
        <p:nvSpPr>
          <p:cNvPr id="5" name="Text 3"/>
          <p:cNvSpPr/>
          <p:nvPr/>
        </p:nvSpPr>
        <p:spPr>
          <a:xfrm>
            <a:off x="457200" y="1463040"/>
            <a:ext cx="8229600" cy="3200400"/>
          </a:xfrm>
          <a:prstGeom prst="rect">
            <a:avLst/>
          </a:prstGeom>
          <a:noFill/>
          <a:ln/>
        </p:spPr>
        <p:txBody>
          <a:bodyPr wrap="square" rtlCol="0" anchor="t"/>
          <a:lstStyle/>
          <a:p>
            <a:pPr indent="0" marL="0">
              <a:buNone/>
            </a:pPr>
            <a:r>
              <a:rPr lang="en-US" sz="1300" b="1" dirty="0">
                <a:solidFill>
                  <a:srgbClr val="21314D"/>
                </a:solidFill>
                <a:latin typeface="Calibri" pitchFamily="34" charset="0"/>
                <a:ea typeface="Calibri" pitchFamily="34" charset="-122"/>
                <a:cs typeface="Calibri" pitchFamily="34" charset="-120"/>
              </a:rPr>
              <a:t>Positive engagement like timing belts, but handles much higher loads</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Standard sizes: #25 (1/4" pitch, ~100 lb), #35 (3/8", ~250 lb), #40 (1/2", ~500 lb)</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Efficiency: 95-98%. Requires lubrication. Noisy at high speed.</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Min 17 teeth on driver sprocket to avoid chordal action (speed pulsation)</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Speed ratio up to 7:1 per stage</a:t>
            </a:r>
            <a:endParaRPr lang="en-US" sz="1300" dirty="0"/>
          </a:p>
          <a:p>
            <a:pPr indent="0" marL="0">
              <a:buNone/>
            </a:pPr>
            <a:endParaRPr lang="en-US" sz="1300" dirty="0"/>
          </a:p>
          <a:p>
            <a:pPr indent="0" marL="0">
              <a:buNone/>
            </a:pPr>
            <a:r>
              <a:rPr lang="en-US" sz="1300" b="1" dirty="0">
                <a:solidFill>
                  <a:srgbClr val="E65100"/>
                </a:solidFill>
                <a:latin typeface="Calibri" pitchFamily="34" charset="0"/>
                <a:ea typeface="Calibri" pitchFamily="34" charset="-122"/>
                <a:cs typeface="Calibri" pitchFamily="34" charset="-120"/>
              </a:rPr>
              <a:t>⚠ Chain requires lubrication and tensioning</a:t>
            </a:r>
            <a:endParaRPr lang="en-US" sz="1300" dirty="0"/>
          </a:p>
          <a:p>
            <a:pPr marL="342900" indent="-342900">
              <a:buSzPct val="100000"/>
              <a:buChar char="•"/>
            </a:pPr>
            <a:r>
              <a:rPr lang="en-US" sz="1300" dirty="0">
                <a:solidFill>
                  <a:srgbClr val="E65100"/>
                </a:solidFill>
                <a:latin typeface="Calibri" pitchFamily="34" charset="0"/>
                <a:ea typeface="Calibri" pitchFamily="34" charset="-122"/>
                <a:cs typeface="Calibri" pitchFamily="34" charset="-120"/>
              </a:rPr>
              <a:t>Unlubricated chain wears rapidly — pins and bushings lose material, chain 'stretches', jumps teeth or breaks. Apply chain lube before every test session. Include adjustable tensioning in your mount design.</a:t>
            </a:r>
            <a:endParaRPr lang="en-US" sz="1300" dirty="0"/>
          </a:p>
        </p:txBody>
      </p:sp>
      <p:sp>
        <p:nvSpPr>
          <p:cNvPr id="6" name="Shape 4"/>
          <p:cNvSpPr/>
          <p:nvPr/>
        </p:nvSpPr>
        <p:spPr>
          <a:xfrm>
            <a:off x="0" y="4663440"/>
            <a:ext cx="9144000" cy="475488"/>
          </a:xfrm>
          <a:prstGeom prst="rect">
            <a:avLst/>
          </a:prstGeom>
          <a:solidFill>
            <a:srgbClr val="21314D"/>
          </a:solidFill>
          <a:ln/>
        </p:spPr>
      </p:sp>
      <p:sp>
        <p:nvSpPr>
          <p:cNvPr id="7" name="Text 5"/>
          <p:cNvSpPr/>
          <p:nvPr/>
        </p:nvSpPr>
        <p:spPr>
          <a:xfrm>
            <a:off x="365760" y="4709160"/>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MINES  |  MEGN 301 — Mechanical Integration and Design</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7FA"/>
          </a:solidFill>
          <a:ln/>
        </p:spPr>
      </p:sp>
      <p:sp>
        <p:nvSpPr>
          <p:cNvPr id="3" name="Shape 1"/>
          <p:cNvSpPr/>
          <p:nvPr/>
        </p:nvSpPr>
        <p:spPr>
          <a:xfrm>
            <a:off x="0" y="0"/>
            <a:ext cx="9144000" cy="548640"/>
          </a:xfrm>
          <a:prstGeom prst="rect">
            <a:avLst/>
          </a:prstGeom>
          <a:solidFill>
            <a:srgbClr val="21314D"/>
          </a:solidFill>
          <a:ln/>
        </p:spPr>
      </p:sp>
      <p:sp>
        <p:nvSpPr>
          <p:cNvPr id="4" name="Text 2"/>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5" name="Text 3"/>
          <p:cNvSpPr/>
          <p:nvPr/>
        </p:nvSpPr>
        <p:spPr>
          <a:xfrm>
            <a:off x="457200" y="1097280"/>
            <a:ext cx="1828800" cy="1371600"/>
          </a:xfrm>
          <a:prstGeom prst="rect">
            <a:avLst/>
          </a:prstGeom>
          <a:noFill/>
          <a:ln/>
        </p:spPr>
        <p:txBody>
          <a:bodyPr wrap="square" rtlCol="0" anchor="ctr"/>
          <a:lstStyle/>
          <a:p>
            <a:pPr indent="0" marL="0">
              <a:buNone/>
            </a:pPr>
            <a:r>
              <a:rPr lang="en-US" sz="7200" b="1" dirty="0">
                <a:solidFill>
                  <a:srgbClr val="00796B"/>
                </a:solidFill>
                <a:latin typeface="Calibri" pitchFamily="34" charset="0"/>
                <a:ea typeface="Calibri" pitchFamily="34" charset="-122"/>
                <a:cs typeface="Calibri" pitchFamily="34" charset="-120"/>
              </a:rPr>
              <a:t>03</a:t>
            </a:r>
            <a:endParaRPr lang="en-US" sz="7200" dirty="0"/>
          </a:p>
        </p:txBody>
      </p:sp>
      <p:sp>
        <p:nvSpPr>
          <p:cNvPr id="6" name="Text 4"/>
          <p:cNvSpPr/>
          <p:nvPr/>
        </p:nvSpPr>
        <p:spPr>
          <a:xfrm>
            <a:off x="457200" y="2560320"/>
            <a:ext cx="5486400" cy="731520"/>
          </a:xfrm>
          <a:prstGeom prst="rect">
            <a:avLst/>
          </a:prstGeom>
          <a:noFill/>
          <a:ln/>
        </p:spPr>
        <p:txBody>
          <a:bodyPr wrap="square" rtlCol="0" anchor="ctr"/>
          <a:lstStyle/>
          <a:p>
            <a:pPr indent="0" marL="0">
              <a:buNone/>
            </a:pPr>
            <a:r>
              <a:rPr lang="en-US" sz="3200" b="1" dirty="0">
                <a:solidFill>
                  <a:srgbClr val="21314D"/>
                </a:solidFill>
                <a:latin typeface="Calibri" pitchFamily="34" charset="0"/>
                <a:ea typeface="Calibri" pitchFamily="34" charset="-122"/>
                <a:cs typeface="Calibri" pitchFamily="34" charset="-120"/>
              </a:rPr>
              <a:t>Gear trains</a:t>
            </a:r>
            <a:endParaRPr lang="en-US" sz="3200" dirty="0"/>
          </a:p>
        </p:txBody>
      </p:sp>
      <p:sp>
        <p:nvSpPr>
          <p:cNvPr id="7" name="Text 5"/>
          <p:cNvSpPr/>
          <p:nvPr/>
        </p:nvSpPr>
        <p:spPr>
          <a:xfrm>
            <a:off x="457200" y="3291840"/>
            <a:ext cx="7315200" cy="457200"/>
          </a:xfrm>
          <a:prstGeom prst="rect">
            <a:avLst/>
          </a:prstGeom>
          <a:noFill/>
          <a:ln/>
        </p:spPr>
        <p:txBody>
          <a:bodyPr wrap="square" rtlCol="0" anchor="ctr"/>
          <a:lstStyle/>
          <a:p>
            <a:pPr indent="0" marL="0">
              <a:buNone/>
            </a:pPr>
            <a:r>
              <a:rPr lang="en-US" sz="1300" dirty="0">
                <a:solidFill>
                  <a:srgbClr val="666666"/>
                </a:solidFill>
                <a:latin typeface="Calibri" pitchFamily="34" charset="0"/>
                <a:ea typeface="Calibri" pitchFamily="34" charset="-122"/>
                <a:cs typeface="Calibri" pitchFamily="34" charset="-120"/>
              </a:rPr>
              <a:t>Spur, helical, bevel, worm, and planetary gears</a:t>
            </a:r>
            <a:endParaRPr lang="en-US" sz="1300" dirty="0"/>
          </a:p>
        </p:txBody>
      </p:sp>
      <p:sp>
        <p:nvSpPr>
          <p:cNvPr id="8" name="Shape 6"/>
          <p:cNvSpPr/>
          <p:nvPr/>
        </p:nvSpPr>
        <p:spPr>
          <a:xfrm>
            <a:off x="0" y="4663440"/>
            <a:ext cx="9144000" cy="475488"/>
          </a:xfrm>
          <a:prstGeom prst="rect">
            <a:avLst/>
          </a:prstGeom>
          <a:solidFill>
            <a:srgbClr val="21314D"/>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1314D"/>
          </a:solidFill>
          <a:ln/>
        </p:spPr>
      </p:sp>
      <p:sp>
        <p:nvSpPr>
          <p:cNvPr id="3" name="Text 1"/>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4" name="Text 2"/>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21314D"/>
                </a:solidFill>
                <a:latin typeface="Calibri" pitchFamily="34" charset="0"/>
                <a:ea typeface="Calibri" pitchFamily="34" charset="-122"/>
                <a:cs typeface="Calibri" pitchFamily="34" charset="-120"/>
              </a:rPr>
              <a:t>Gear types comparison</a:t>
            </a:r>
            <a:endParaRPr lang="en-US" sz="2400" dirty="0"/>
          </a:p>
        </p:txBody>
      </p:sp>
      <p:sp>
        <p:nvSpPr>
          <p:cNvPr id="5" name="Text 3"/>
          <p:cNvSpPr/>
          <p:nvPr/>
        </p:nvSpPr>
        <p:spPr>
          <a:xfrm>
            <a:off x="457200" y="1463040"/>
            <a:ext cx="8229600" cy="3200400"/>
          </a:xfrm>
          <a:prstGeom prst="rect">
            <a:avLst/>
          </a:prstGeom>
          <a:noFill/>
          <a:ln/>
        </p:spPr>
        <p:txBody>
          <a:bodyPr wrap="square" rtlCol="0" anchor="t"/>
          <a:lstStyle/>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Spur — parallel shafts, 94-98%, simplest, stock parts, noisy at high speed</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Helical — parallel shafts, 94-98%, quieter than spur, creates axial thrust</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Bevel — intersecting shafts (90°), 93-97%, right-angle drives</a:t>
            </a:r>
            <a:endParaRPr lang="en-US" sz="1300" dirty="0"/>
          </a:p>
          <a:p>
            <a:pPr marL="342900" indent="-342900">
              <a:buSzPct val="100000"/>
              <a:buChar char="•"/>
            </a:pPr>
            <a:r>
              <a:rPr lang="en-US" sz="1300" b="1" dirty="0">
                <a:solidFill>
                  <a:srgbClr val="00796B"/>
                </a:solidFill>
                <a:latin typeface="Calibri" pitchFamily="34" charset="0"/>
                <a:ea typeface="Calibri" pitchFamily="34" charset="-122"/>
                <a:cs typeface="Calibri" pitchFamily="34" charset="-120"/>
              </a:rPr>
              <a:t>Worm — 90° non-intersecting, 40-90%, SELF-LOCKING, high ratio (5:1-100:1)</a:t>
            </a:r>
            <a:endParaRPr lang="en-US" sz="1300" dirty="0"/>
          </a:p>
          <a:p>
            <a:pPr marL="342900" indent="-342900">
              <a:buSzPct val="100000"/>
              <a:buChar char="•"/>
            </a:pPr>
            <a:r>
              <a:rPr lang="en-US" sz="1300" b="1" dirty="0">
                <a:solidFill>
                  <a:srgbClr val="00796B"/>
                </a:solidFill>
                <a:latin typeface="Calibri" pitchFamily="34" charset="0"/>
                <a:ea typeface="Calibri" pitchFamily="34" charset="-122"/>
                <a:cs typeface="Calibri" pitchFamily="34" charset="-120"/>
              </a:rPr>
              <a:t>Planetary — coaxial, 90-97%, compact high-torque, pre-assembled gearboxes</a:t>
            </a:r>
            <a:endParaRPr lang="en-US" sz="1300" dirty="0"/>
          </a:p>
          <a:p>
            <a:pPr indent="0" marL="0">
              <a:buNone/>
            </a:pPr>
            <a:endParaRPr lang="en-US" sz="1300" dirty="0"/>
          </a:p>
          <a:p>
            <a:pPr indent="0" marL="0">
              <a:buNone/>
            </a:pPr>
            <a:r>
              <a:rPr lang="en-US" sz="1600" b="1" dirty="0">
                <a:solidFill>
                  <a:srgbClr val="21314D"/>
                </a:solidFill>
                <a:latin typeface="Calibri" pitchFamily="34" charset="0"/>
                <a:ea typeface="Calibri" pitchFamily="34" charset="-122"/>
                <a:cs typeface="Calibri" pitchFamily="34" charset="-120"/>
              </a:rPr>
              <a:t>For MEGN 301 Student Projects:</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Option 1: Pre-assembled planetary gearbox ($25-80) — easiest integration</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Option 2: Spur gears from ServoCity/Actobotics — most flexible</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Option 3: 3D-printed gears — cheapest but lowest strength; use herringbone profile</a:t>
            </a:r>
            <a:endParaRPr lang="en-US" sz="1300" dirty="0"/>
          </a:p>
        </p:txBody>
      </p:sp>
      <p:sp>
        <p:nvSpPr>
          <p:cNvPr id="6" name="Shape 4"/>
          <p:cNvSpPr/>
          <p:nvPr/>
        </p:nvSpPr>
        <p:spPr>
          <a:xfrm>
            <a:off x="0" y="4663440"/>
            <a:ext cx="9144000" cy="475488"/>
          </a:xfrm>
          <a:prstGeom prst="rect">
            <a:avLst/>
          </a:prstGeom>
          <a:solidFill>
            <a:srgbClr val="21314D"/>
          </a:solidFill>
          <a:ln/>
        </p:spPr>
      </p:sp>
      <p:sp>
        <p:nvSpPr>
          <p:cNvPr id="7" name="Text 5"/>
          <p:cNvSpPr/>
          <p:nvPr/>
        </p:nvSpPr>
        <p:spPr>
          <a:xfrm>
            <a:off x="365760" y="4709160"/>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MINES  |  MEGN 301 — Mechanical Integration and Design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1314D"/>
          </a:solidFill>
          <a:ln/>
        </p:spPr>
      </p:sp>
      <p:sp>
        <p:nvSpPr>
          <p:cNvPr id="3" name="Text 1"/>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4" name="Text 2"/>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21314D"/>
                </a:solidFill>
                <a:latin typeface="Calibri" pitchFamily="34" charset="0"/>
                <a:ea typeface="Calibri" pitchFamily="34" charset="-122"/>
                <a:cs typeface="Calibri" pitchFamily="34" charset="-120"/>
              </a:rPr>
              <a:t>Worm gears: self-locking explained</a:t>
            </a:r>
            <a:endParaRPr lang="en-US" sz="2400" dirty="0"/>
          </a:p>
        </p:txBody>
      </p:sp>
      <p:sp>
        <p:nvSpPr>
          <p:cNvPr id="5" name="Text 3"/>
          <p:cNvSpPr/>
          <p:nvPr/>
        </p:nvSpPr>
        <p:spPr>
          <a:xfrm>
            <a:off x="457200" y="1463040"/>
            <a:ext cx="8229600" cy="3200400"/>
          </a:xfrm>
          <a:prstGeom prst="rect">
            <a:avLst/>
          </a:prstGeom>
          <a:noFill/>
          <a:ln/>
        </p:spPr>
        <p:txBody>
          <a:bodyPr wrap="square" rtlCol="0" anchor="t"/>
          <a:lstStyle/>
          <a:p>
            <a:pPr indent="0" marL="0">
              <a:buNone/>
            </a:pPr>
            <a:r>
              <a:rPr lang="en-US" sz="1300" b="1" dirty="0">
                <a:solidFill>
                  <a:srgbClr val="21314D"/>
                </a:solidFill>
                <a:latin typeface="Calibri" pitchFamily="34" charset="0"/>
                <a:ea typeface="Calibri" pitchFamily="34" charset="-122"/>
                <a:cs typeface="Calibri" pitchFamily="34" charset="-120"/>
              </a:rPr>
              <a:t>Worm gear = helical screw (worm) meshing with a wheel</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Very high ratios in single stage: 5:1 to 100:1</a:t>
            </a:r>
            <a:endParaRPr lang="en-US" sz="1300" dirty="0"/>
          </a:p>
          <a:p>
            <a:pPr indent="0" marL="0">
              <a:buNone/>
            </a:pPr>
            <a:endParaRPr lang="en-US" sz="1300" dirty="0"/>
          </a:p>
          <a:p>
            <a:pPr indent="0" marL="0">
              <a:buNone/>
            </a:pPr>
            <a:r>
              <a:rPr lang="en-US" sz="1600" b="1" dirty="0">
                <a:solidFill>
                  <a:srgbClr val="00796B"/>
                </a:solidFill>
                <a:latin typeface="Calibri" pitchFamily="34" charset="0"/>
                <a:ea typeface="Calibri" pitchFamily="34" charset="-122"/>
                <a:cs typeface="Calibri" pitchFamily="34" charset="-120"/>
              </a:rPr>
              <a:t>Self-Locking Property</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When lead angle &lt; friction angle (~6°), the load CANNOT back-drive the worm</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Critical for: hoists, jacks, positioning stages — holds position without power</a:t>
            </a:r>
            <a:endParaRPr lang="en-US" sz="1300" dirty="0"/>
          </a:p>
          <a:p>
            <a:pPr indent="0" marL="0">
              <a:buNone/>
            </a:pPr>
            <a:endParaRPr lang="en-US" sz="1300" dirty="0"/>
          </a:p>
          <a:p>
            <a:pPr indent="0" marL="0">
              <a:buNone/>
            </a:pPr>
            <a:r>
              <a:rPr lang="en-US" sz="1600" b="1" dirty="0">
                <a:solidFill>
                  <a:srgbClr val="E65100"/>
                </a:solidFill>
                <a:latin typeface="Calibri" pitchFamily="34" charset="0"/>
                <a:ea typeface="Calibri" pitchFamily="34" charset="-122"/>
                <a:cs typeface="Calibri" pitchFamily="34" charset="-120"/>
              </a:rPr>
              <a:t>The Tradeoff: Efficiency</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Same friction that enables self-locking means 40-70% efficiency</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Lost energy becomes HEAT — may need cooling for continuous operation</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Rule: if you need self-locking, accept the efficiency penalty</a:t>
            </a:r>
            <a:endParaRPr lang="en-US" sz="1300" dirty="0"/>
          </a:p>
        </p:txBody>
      </p:sp>
      <p:sp>
        <p:nvSpPr>
          <p:cNvPr id="6" name="Shape 4"/>
          <p:cNvSpPr/>
          <p:nvPr/>
        </p:nvSpPr>
        <p:spPr>
          <a:xfrm>
            <a:off x="0" y="4663440"/>
            <a:ext cx="9144000" cy="475488"/>
          </a:xfrm>
          <a:prstGeom prst="rect">
            <a:avLst/>
          </a:prstGeom>
          <a:solidFill>
            <a:srgbClr val="21314D"/>
          </a:solidFill>
          <a:ln/>
        </p:spPr>
      </p:sp>
      <p:sp>
        <p:nvSpPr>
          <p:cNvPr id="7" name="Text 5"/>
          <p:cNvSpPr/>
          <p:nvPr/>
        </p:nvSpPr>
        <p:spPr>
          <a:xfrm>
            <a:off x="365760" y="4709160"/>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MINES  |  MEGN 301 — Mechanical Integration and Design</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7FA"/>
          </a:solidFill>
          <a:ln/>
        </p:spPr>
      </p:sp>
      <p:sp>
        <p:nvSpPr>
          <p:cNvPr id="3" name="Shape 1"/>
          <p:cNvSpPr/>
          <p:nvPr/>
        </p:nvSpPr>
        <p:spPr>
          <a:xfrm>
            <a:off x="0" y="0"/>
            <a:ext cx="9144000" cy="548640"/>
          </a:xfrm>
          <a:prstGeom prst="rect">
            <a:avLst/>
          </a:prstGeom>
          <a:solidFill>
            <a:srgbClr val="21314D"/>
          </a:solidFill>
          <a:ln/>
        </p:spPr>
      </p:sp>
      <p:sp>
        <p:nvSpPr>
          <p:cNvPr id="4" name="Text 2"/>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5" name="Text 3"/>
          <p:cNvSpPr/>
          <p:nvPr/>
        </p:nvSpPr>
        <p:spPr>
          <a:xfrm>
            <a:off x="457200" y="1097280"/>
            <a:ext cx="1828800" cy="1371600"/>
          </a:xfrm>
          <a:prstGeom prst="rect">
            <a:avLst/>
          </a:prstGeom>
          <a:noFill/>
          <a:ln/>
        </p:spPr>
        <p:txBody>
          <a:bodyPr wrap="square" rtlCol="0" anchor="ctr"/>
          <a:lstStyle/>
          <a:p>
            <a:pPr indent="0" marL="0">
              <a:buNone/>
            </a:pPr>
            <a:r>
              <a:rPr lang="en-US" sz="7200" b="1" dirty="0">
                <a:solidFill>
                  <a:srgbClr val="00796B"/>
                </a:solidFill>
                <a:latin typeface="Calibri" pitchFamily="34" charset="0"/>
                <a:ea typeface="Calibri" pitchFamily="34" charset="-122"/>
                <a:cs typeface="Calibri" pitchFamily="34" charset="-120"/>
              </a:rPr>
              <a:t>04</a:t>
            </a:r>
            <a:endParaRPr lang="en-US" sz="7200" dirty="0"/>
          </a:p>
        </p:txBody>
      </p:sp>
      <p:sp>
        <p:nvSpPr>
          <p:cNvPr id="6" name="Text 4"/>
          <p:cNvSpPr/>
          <p:nvPr/>
        </p:nvSpPr>
        <p:spPr>
          <a:xfrm>
            <a:off x="457200" y="2560320"/>
            <a:ext cx="5486400" cy="731520"/>
          </a:xfrm>
          <a:prstGeom prst="rect">
            <a:avLst/>
          </a:prstGeom>
          <a:noFill/>
          <a:ln/>
        </p:spPr>
        <p:txBody>
          <a:bodyPr wrap="square" rtlCol="0" anchor="ctr"/>
          <a:lstStyle/>
          <a:p>
            <a:pPr indent="0" marL="0">
              <a:buNone/>
            </a:pPr>
            <a:r>
              <a:rPr lang="en-US" sz="3200" b="1" dirty="0">
                <a:solidFill>
                  <a:srgbClr val="21314D"/>
                </a:solidFill>
                <a:latin typeface="Calibri" pitchFamily="34" charset="0"/>
                <a:ea typeface="Calibri" pitchFamily="34" charset="-122"/>
                <a:cs typeface="Calibri" pitchFamily="34" charset="-120"/>
              </a:rPr>
              <a:t>Shafts, couplings</a:t>
            </a:r>
            <a:endParaRPr lang="en-US" sz="3200" dirty="0"/>
          </a:p>
          <a:p>
            <a:pPr indent="0" marL="0">
              <a:buNone/>
            </a:pPr>
            <a:r>
              <a:rPr lang="en-US" sz="3200" b="1" dirty="0">
                <a:solidFill>
                  <a:srgbClr val="21314D"/>
                </a:solidFill>
                <a:latin typeface="Calibri" pitchFamily="34" charset="0"/>
                <a:ea typeface="Calibri" pitchFamily="34" charset="-122"/>
                <a:cs typeface="Calibri" pitchFamily="34" charset="-120"/>
              </a:rPr>
              <a:t>&amp; linear motion</a:t>
            </a:r>
            <a:endParaRPr lang="en-US" sz="3200" dirty="0"/>
          </a:p>
        </p:txBody>
      </p:sp>
      <p:sp>
        <p:nvSpPr>
          <p:cNvPr id="7" name="Text 5"/>
          <p:cNvSpPr/>
          <p:nvPr/>
        </p:nvSpPr>
        <p:spPr>
          <a:xfrm>
            <a:off x="457200" y="3291840"/>
            <a:ext cx="7315200" cy="457200"/>
          </a:xfrm>
          <a:prstGeom prst="rect">
            <a:avLst/>
          </a:prstGeom>
          <a:noFill/>
          <a:ln/>
        </p:spPr>
        <p:txBody>
          <a:bodyPr wrap="square" rtlCol="0" anchor="ctr"/>
          <a:lstStyle/>
          <a:p>
            <a:pPr indent="0" marL="0">
              <a:buNone/>
            </a:pPr>
            <a:r>
              <a:rPr lang="en-US" sz="1300" dirty="0">
                <a:solidFill>
                  <a:srgbClr val="666666"/>
                </a:solidFill>
                <a:latin typeface="Calibri" pitchFamily="34" charset="0"/>
                <a:ea typeface="Calibri" pitchFamily="34" charset="-122"/>
                <a:cs typeface="Calibri" pitchFamily="34" charset="-120"/>
              </a:rPr>
              <a:t>Shaft-hub connections, couplings, lead screws, and belt-driven stages</a:t>
            </a:r>
            <a:endParaRPr lang="en-US" sz="1300" dirty="0"/>
          </a:p>
        </p:txBody>
      </p:sp>
      <p:sp>
        <p:nvSpPr>
          <p:cNvPr id="8" name="Shape 6"/>
          <p:cNvSpPr/>
          <p:nvPr/>
        </p:nvSpPr>
        <p:spPr>
          <a:xfrm>
            <a:off x="0" y="4663440"/>
            <a:ext cx="9144000" cy="475488"/>
          </a:xfrm>
          <a:prstGeom prst="rect">
            <a:avLst/>
          </a:prstGeom>
          <a:solidFill>
            <a:srgbClr val="21314D"/>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1314D"/>
          </a:solidFill>
          <a:ln/>
        </p:spPr>
      </p:sp>
      <p:sp>
        <p:nvSpPr>
          <p:cNvPr id="3" name="Text 1"/>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4" name="Text 2"/>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21314D"/>
                </a:solidFill>
                <a:latin typeface="Calibri" pitchFamily="34" charset="0"/>
                <a:ea typeface="Calibri" pitchFamily="34" charset="-122"/>
                <a:cs typeface="Calibri" pitchFamily="34" charset="-120"/>
              </a:rPr>
              <a:t>Shaft-hub connections and couplings</a:t>
            </a:r>
            <a:endParaRPr lang="en-US" sz="2400" dirty="0"/>
          </a:p>
        </p:txBody>
      </p:sp>
      <p:sp>
        <p:nvSpPr>
          <p:cNvPr id="5" name="Text 3"/>
          <p:cNvSpPr/>
          <p:nvPr/>
        </p:nvSpPr>
        <p:spPr>
          <a:xfrm>
            <a:off x="457200" y="1463040"/>
            <a:ext cx="8229600" cy="3200400"/>
          </a:xfrm>
          <a:prstGeom prst="rect">
            <a:avLst/>
          </a:prstGeom>
          <a:noFill/>
          <a:ln/>
        </p:spPr>
        <p:txBody>
          <a:bodyPr wrap="square" rtlCol="0" anchor="t"/>
          <a:lstStyle/>
          <a:p>
            <a:pPr indent="0" marL="0">
              <a:buNone/>
            </a:pPr>
            <a:r>
              <a:rPr lang="en-US" sz="1600" b="1" dirty="0">
                <a:solidFill>
                  <a:srgbClr val="21314D"/>
                </a:solidFill>
                <a:latin typeface="Calibri" pitchFamily="34" charset="0"/>
                <a:ea typeface="Calibri" pitchFamily="34" charset="-122"/>
                <a:cs typeface="Calibri" pitchFamily="34" charset="-120"/>
              </a:rPr>
              <a:t>Shaft-Hub Torque Transmission</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Set screws: simplest; slips under high torque; two at 90° better than one</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Keyways: positive torque transfer; most reliable for moderate-to-high torque</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Clamping hubs: split hub clamps shaft; no keyway needed; zero backlash</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Press fits: interference fit; permanent; highest capacity</a:t>
            </a:r>
            <a:endParaRPr lang="en-US" sz="1600" dirty="0"/>
          </a:p>
          <a:p>
            <a:pPr indent="0" marL="0">
              <a:buNone/>
            </a:pPr>
            <a:endParaRPr lang="en-US" sz="1600" dirty="0"/>
          </a:p>
          <a:p>
            <a:pPr indent="0" marL="0">
              <a:buNone/>
            </a:pPr>
            <a:r>
              <a:rPr lang="en-US" sz="1600" b="1" dirty="0">
                <a:solidFill>
                  <a:srgbClr val="21314D"/>
                </a:solidFill>
                <a:latin typeface="Calibri" pitchFamily="34" charset="0"/>
                <a:ea typeface="Calibri" pitchFamily="34" charset="-122"/>
                <a:cs typeface="Calibri" pitchFamily="34" charset="-120"/>
              </a:rPr>
              <a:t>Shaft Couplings (connecting two shafts)</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Rigid: zero misalignment tolerance; both shafts must be perfectly coaxial</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Flexible jaw (Lovejoy): ~1° angular, 0.5mm parallel — good default for motors</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Beam (helical): very flexible; zero backlash; precision CNC/3D printers</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Universal joint: large angular misalignment (up to 45°); use in pairs</a:t>
            </a:r>
            <a:endParaRPr lang="en-US" sz="1600" dirty="0"/>
          </a:p>
        </p:txBody>
      </p:sp>
      <p:sp>
        <p:nvSpPr>
          <p:cNvPr id="6" name="Shape 4"/>
          <p:cNvSpPr/>
          <p:nvPr/>
        </p:nvSpPr>
        <p:spPr>
          <a:xfrm>
            <a:off x="0" y="4663440"/>
            <a:ext cx="9144000" cy="475488"/>
          </a:xfrm>
          <a:prstGeom prst="rect">
            <a:avLst/>
          </a:prstGeom>
          <a:solidFill>
            <a:srgbClr val="21314D"/>
          </a:solidFill>
          <a:ln/>
        </p:spPr>
      </p:sp>
      <p:sp>
        <p:nvSpPr>
          <p:cNvPr id="7" name="Text 5"/>
          <p:cNvSpPr/>
          <p:nvPr/>
        </p:nvSpPr>
        <p:spPr>
          <a:xfrm>
            <a:off x="365760" y="4709160"/>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MINES  |  MEGN 301 — Mechanical Integration and Design</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1314D"/>
          </a:solidFill>
          <a:ln/>
        </p:spPr>
      </p:sp>
      <p:sp>
        <p:nvSpPr>
          <p:cNvPr id="3" name="Text 1"/>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4" name="Text 2"/>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21314D"/>
                </a:solidFill>
                <a:latin typeface="Calibri" pitchFamily="34" charset="0"/>
                <a:ea typeface="Calibri" pitchFamily="34" charset="-122"/>
                <a:cs typeface="Calibri" pitchFamily="34" charset="-120"/>
              </a:rPr>
              <a:t>Linear motion systems</a:t>
            </a:r>
            <a:endParaRPr lang="en-US" sz="2400" dirty="0"/>
          </a:p>
        </p:txBody>
      </p:sp>
      <p:sp>
        <p:nvSpPr>
          <p:cNvPr id="5" name="Text 3"/>
          <p:cNvSpPr/>
          <p:nvPr/>
        </p:nvSpPr>
        <p:spPr>
          <a:xfrm>
            <a:off x="457200" y="1463040"/>
            <a:ext cx="8229600" cy="3200400"/>
          </a:xfrm>
          <a:prstGeom prst="rect">
            <a:avLst/>
          </a:prstGeom>
          <a:noFill/>
          <a:ln/>
        </p:spPr>
        <p:txBody>
          <a:bodyPr wrap="square" rtlCol="0" anchor="t"/>
          <a:lstStyle/>
          <a:p>
            <a:pPr marL="342900" indent="-342900">
              <a:buSzPct val="100000"/>
              <a:buChar char="•"/>
            </a:pPr>
            <a:r>
              <a:rPr lang="en-US" sz="1300" b="1" dirty="0">
                <a:solidFill>
                  <a:srgbClr val="363636"/>
                </a:solidFill>
                <a:latin typeface="Calibri" pitchFamily="34" charset="0"/>
                <a:ea typeface="Calibri" pitchFamily="34" charset="-122"/>
                <a:cs typeface="Calibri" pitchFamily="34" charset="-120"/>
              </a:rPr>
              <a:t>Lead Screw — rotary to linear, 30-50% efficient, SELF-LOCKING, high force, fine resolution</a:t>
            </a:r>
            <a:endParaRPr lang="en-US" sz="1300" dirty="0"/>
          </a:p>
          <a:p>
            <a:pPr lvl="1" indent="0" marL="0">
              <a:buNone/>
            </a:pPr>
            <a:r>
              <a:rPr lang="en-US" sz="1300" dirty="0">
                <a:solidFill>
                  <a:srgbClr val="00796B"/>
                </a:solidFill>
                <a:latin typeface="Calibri" pitchFamily="34" charset="0"/>
                <a:ea typeface="Calibri" pitchFamily="34" charset="-122"/>
                <a:cs typeface="Calibri" pitchFamily="34" charset="-120"/>
              </a:rPr>
              <a:t>  2mm lead + 200 step/rev stepper = 0.01mm/step resolution</a:t>
            </a:r>
            <a:endParaRPr lang="en-US" sz="1300" dirty="0"/>
          </a:p>
          <a:p>
            <a:pPr marL="342900" indent="-342900">
              <a:buSzPct val="100000"/>
              <a:buChar char="•"/>
            </a:pPr>
            <a:r>
              <a:rPr lang="en-US" sz="1300" b="1" dirty="0">
                <a:solidFill>
                  <a:srgbClr val="363636"/>
                </a:solidFill>
                <a:latin typeface="Calibri" pitchFamily="34" charset="0"/>
                <a:ea typeface="Calibri" pitchFamily="34" charset="-122"/>
                <a:cs typeface="Calibri" pitchFamily="34" charset="-120"/>
              </a:rPr>
              <a:t>Ball Screw — 85-95% efficient, NOT self-locking, higher speed, more expensive</a:t>
            </a:r>
            <a:endParaRPr lang="en-US" sz="1300" dirty="0"/>
          </a:p>
          <a:p>
            <a:pPr marL="342900" indent="-342900">
              <a:buSzPct val="100000"/>
              <a:buChar char="•"/>
            </a:pPr>
            <a:r>
              <a:rPr lang="en-US" sz="1300" b="1" dirty="0">
                <a:solidFill>
                  <a:srgbClr val="363636"/>
                </a:solidFill>
                <a:latin typeface="Calibri" pitchFamily="34" charset="0"/>
                <a:ea typeface="Calibri" pitchFamily="34" charset="-122"/>
                <a:cs typeface="Calibri" pitchFamily="34" charset="-120"/>
              </a:rPr>
              <a:t>Rack &amp; Pinion — fast linear, long travel, bidirectional, has backlash</a:t>
            </a:r>
            <a:endParaRPr lang="en-US" sz="1300" dirty="0"/>
          </a:p>
          <a:p>
            <a:pPr marL="342900" indent="-342900">
              <a:buSzPct val="100000"/>
              <a:buChar char="•"/>
            </a:pPr>
            <a:r>
              <a:rPr lang="en-US" sz="1300" b="1" dirty="0">
                <a:solidFill>
                  <a:srgbClr val="363636"/>
                </a:solidFill>
                <a:latin typeface="Calibri" pitchFamily="34" charset="0"/>
                <a:ea typeface="Calibri" pitchFamily="34" charset="-122"/>
                <a:cs typeface="Calibri" pitchFamily="34" charset="-120"/>
              </a:rPr>
              <a:t>Belt-Driven Stage — GT2 belt + linear rails, fast, quiet, lightweight</a:t>
            </a:r>
            <a:endParaRPr lang="en-US" sz="1300" dirty="0"/>
          </a:p>
          <a:p>
            <a:pPr lvl="1" indent="0" marL="0">
              <a:buNone/>
            </a:pPr>
            <a:r>
              <a:rPr lang="en-US" sz="1300" dirty="0">
                <a:solidFill>
                  <a:srgbClr val="00796B"/>
                </a:solidFill>
                <a:latin typeface="Calibri" pitchFamily="34" charset="0"/>
                <a:ea typeface="Calibri" pitchFamily="34" charset="-122"/>
                <a:cs typeface="Calibri" pitchFamily="34" charset="-120"/>
              </a:rPr>
              <a:t>  Most common: 3D printer X/Y axes, desktop CNC, camera sliders</a:t>
            </a:r>
            <a:endParaRPr lang="en-US" sz="1300" dirty="0"/>
          </a:p>
          <a:p>
            <a:pPr marL="342900" indent="-342900">
              <a:buSzPct val="100000"/>
              <a:buChar char="•"/>
            </a:pPr>
            <a:r>
              <a:rPr lang="en-US" sz="1300" b="1" dirty="0">
                <a:solidFill>
                  <a:srgbClr val="363636"/>
                </a:solidFill>
                <a:latin typeface="Calibri" pitchFamily="34" charset="0"/>
                <a:ea typeface="Calibri" pitchFamily="34" charset="-122"/>
                <a:cs typeface="Calibri" pitchFamily="34" charset="-120"/>
              </a:rPr>
              <a:t>Slider-Crank — rotary to reciprocating, fixed stroke = 2× crank radius</a:t>
            </a:r>
            <a:endParaRPr lang="en-US" sz="1300" dirty="0"/>
          </a:p>
          <a:p>
            <a:pPr indent="0" marL="0">
              <a:buNone/>
            </a:pPr>
            <a:endParaRPr lang="en-US" sz="1300" dirty="0"/>
          </a:p>
          <a:p>
            <a:pPr indent="0" marL="0">
              <a:buNone/>
            </a:pPr>
            <a:r>
              <a:rPr lang="en-US" sz="1300" b="1" dirty="0">
                <a:solidFill>
                  <a:srgbClr val="21314D"/>
                </a:solidFill>
                <a:latin typeface="Calibri" pitchFamily="34" charset="0"/>
                <a:ea typeface="Calibri" pitchFamily="34" charset="-122"/>
                <a:cs typeface="Calibri" pitchFamily="34" charset="-120"/>
              </a:rPr>
              <a:t>Need position holding without power? → Lead screw or worm gear</a:t>
            </a:r>
            <a:endParaRPr lang="en-US" sz="1300" dirty="0"/>
          </a:p>
          <a:p>
            <a:pPr indent="0" marL="0">
              <a:buNone/>
            </a:pPr>
            <a:r>
              <a:rPr lang="en-US" sz="1300" b="1" dirty="0">
                <a:solidFill>
                  <a:srgbClr val="21314D"/>
                </a:solidFill>
                <a:latin typeface="Calibri" pitchFamily="34" charset="0"/>
                <a:ea typeface="Calibri" pitchFamily="34" charset="-122"/>
                <a:cs typeface="Calibri" pitchFamily="34" charset="-120"/>
              </a:rPr>
              <a:t>Need speed? → Belt-driven stage or rack &amp; pinion</a:t>
            </a:r>
            <a:endParaRPr lang="en-US" sz="1300" dirty="0"/>
          </a:p>
        </p:txBody>
      </p:sp>
      <p:sp>
        <p:nvSpPr>
          <p:cNvPr id="6" name="Shape 4"/>
          <p:cNvSpPr/>
          <p:nvPr/>
        </p:nvSpPr>
        <p:spPr>
          <a:xfrm>
            <a:off x="0" y="4663440"/>
            <a:ext cx="9144000" cy="475488"/>
          </a:xfrm>
          <a:prstGeom prst="rect">
            <a:avLst/>
          </a:prstGeom>
          <a:solidFill>
            <a:srgbClr val="21314D"/>
          </a:solidFill>
          <a:ln/>
        </p:spPr>
      </p:sp>
      <p:sp>
        <p:nvSpPr>
          <p:cNvPr id="7" name="Text 5"/>
          <p:cNvSpPr/>
          <p:nvPr/>
        </p:nvSpPr>
        <p:spPr>
          <a:xfrm>
            <a:off x="365760" y="4709160"/>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MINES  |  MEGN 301 — Mechanical Integration and Design</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1314D"/>
          </a:solidFill>
          <a:ln/>
        </p:spPr>
      </p:sp>
      <p:sp>
        <p:nvSpPr>
          <p:cNvPr id="3" name="Text 1"/>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4" name="Text 2"/>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21314D"/>
                </a:solidFill>
                <a:latin typeface="Calibri" pitchFamily="34" charset="0"/>
                <a:ea typeface="Calibri" pitchFamily="34" charset="-122"/>
                <a:cs typeface="Calibri" pitchFamily="34" charset="-120"/>
              </a:rPr>
              <a:t>Linkages: four-bar and slider-crank</a:t>
            </a:r>
            <a:endParaRPr lang="en-US" sz="2400" dirty="0"/>
          </a:p>
        </p:txBody>
      </p:sp>
      <p:sp>
        <p:nvSpPr>
          <p:cNvPr id="5" name="Text 3"/>
          <p:cNvSpPr/>
          <p:nvPr/>
        </p:nvSpPr>
        <p:spPr>
          <a:xfrm>
            <a:off x="457200" y="1463040"/>
            <a:ext cx="8229600" cy="3200400"/>
          </a:xfrm>
          <a:prstGeom prst="rect">
            <a:avLst/>
          </a:prstGeom>
          <a:noFill/>
          <a:ln/>
        </p:spPr>
        <p:txBody>
          <a:bodyPr wrap="square" rtlCol="0" anchor="t"/>
          <a:lstStyle/>
          <a:p>
            <a:pPr indent="0" marL="0">
              <a:buNone/>
            </a:pPr>
            <a:r>
              <a:rPr lang="en-US" sz="1300" b="1" dirty="0">
                <a:solidFill>
                  <a:srgbClr val="21314D"/>
                </a:solidFill>
                <a:latin typeface="Calibri" pitchFamily="34" charset="0"/>
                <a:ea typeface="Calibri" pitchFamily="34" charset="-122"/>
                <a:cs typeface="Calibri" pitchFamily="34" charset="-120"/>
              </a:rPr>
              <a:t>Four-Bar Linkage — most fundamental planar mechanism</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4 rigid links + 4 pin joints. Varying link lengths produces:</a:t>
            </a:r>
            <a:endParaRPr lang="en-US" sz="1300" dirty="0"/>
          </a:p>
          <a:p>
            <a:pPr lvl="1" marL="685800" indent="-342900">
              <a:buSzPct val="100000"/>
              <a:buChar char="•"/>
            </a:pPr>
            <a:r>
              <a:rPr lang="en-US" sz="1300" dirty="0">
                <a:solidFill>
                  <a:srgbClr val="363636"/>
                </a:solidFill>
                <a:latin typeface="Calibri" pitchFamily="34" charset="0"/>
                <a:ea typeface="Calibri" pitchFamily="34" charset="-122"/>
                <a:cs typeface="Calibri" pitchFamily="34" charset="-120"/>
              </a:rPr>
              <a:t>  Crank-rocker: one link rotates, other oscillates</a:t>
            </a:r>
            <a:endParaRPr lang="en-US" sz="1300" dirty="0"/>
          </a:p>
          <a:p>
            <a:pPr lvl="1" marL="685800" indent="-342900">
              <a:buSzPct val="100000"/>
              <a:buChar char="•"/>
            </a:pPr>
            <a:r>
              <a:rPr lang="en-US" sz="1300" dirty="0">
                <a:solidFill>
                  <a:srgbClr val="363636"/>
                </a:solidFill>
                <a:latin typeface="Calibri" pitchFamily="34" charset="0"/>
                <a:ea typeface="Calibri" pitchFamily="34" charset="-122"/>
                <a:cs typeface="Calibri" pitchFamily="34" charset="-120"/>
              </a:rPr>
              <a:t>  Double-crank: both rotate fully</a:t>
            </a:r>
            <a:endParaRPr lang="en-US" sz="1300" dirty="0"/>
          </a:p>
          <a:p>
            <a:pPr lvl="1" marL="685800" indent="-342900">
              <a:buSzPct val="100000"/>
              <a:buChar char="•"/>
            </a:pPr>
            <a:r>
              <a:rPr lang="en-US" sz="1300" dirty="0">
                <a:solidFill>
                  <a:srgbClr val="363636"/>
                </a:solidFill>
                <a:latin typeface="Calibri" pitchFamily="34" charset="0"/>
                <a:ea typeface="Calibri" pitchFamily="34" charset="-122"/>
                <a:cs typeface="Calibri" pitchFamily="34" charset="-120"/>
              </a:rPr>
              <a:t>  Double-rocker: both oscillate</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Grashof criterion: s + l ≤ p + q for at least one full-rotating link</a:t>
            </a:r>
            <a:endParaRPr lang="en-US" sz="1300" dirty="0"/>
          </a:p>
          <a:p>
            <a:pPr indent="0" marL="0">
              <a:buNone/>
            </a:pPr>
            <a:endParaRPr lang="en-US" sz="1300" dirty="0"/>
          </a:p>
          <a:p>
            <a:pPr indent="0" marL="0">
              <a:buNone/>
            </a:pPr>
            <a:r>
              <a:rPr lang="en-US" sz="1300" b="1" dirty="0">
                <a:solidFill>
                  <a:srgbClr val="21314D"/>
                </a:solidFill>
                <a:latin typeface="Calibri" pitchFamily="34" charset="0"/>
                <a:ea typeface="Calibri" pitchFamily="34" charset="-122"/>
                <a:cs typeface="Calibri" pitchFamily="34" charset="-120"/>
              </a:rPr>
              <a:t>Slider-Crank — rotary ↔ reciprocating linear</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Crank + connecting rod + slider. Stroke = 2 × crank radius.</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Every piston engine, reciprocating compressor, and many packaging machines.</a:t>
            </a:r>
            <a:endParaRPr lang="en-US" sz="1300" dirty="0"/>
          </a:p>
        </p:txBody>
      </p:sp>
      <p:sp>
        <p:nvSpPr>
          <p:cNvPr id="6" name="Shape 4"/>
          <p:cNvSpPr/>
          <p:nvPr/>
        </p:nvSpPr>
        <p:spPr>
          <a:xfrm>
            <a:off x="0" y="4663440"/>
            <a:ext cx="9144000" cy="475488"/>
          </a:xfrm>
          <a:prstGeom prst="rect">
            <a:avLst/>
          </a:prstGeom>
          <a:solidFill>
            <a:srgbClr val="21314D"/>
          </a:solidFill>
          <a:ln/>
        </p:spPr>
      </p:sp>
      <p:sp>
        <p:nvSpPr>
          <p:cNvPr id="7" name="Text 5"/>
          <p:cNvSpPr/>
          <p:nvPr/>
        </p:nvSpPr>
        <p:spPr>
          <a:xfrm>
            <a:off x="365760" y="4709160"/>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MINES  |  MEGN 301 — Mechanical Integration and Design</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1314D"/>
          </a:solidFill>
          <a:ln/>
        </p:spPr>
      </p:sp>
      <p:sp>
        <p:nvSpPr>
          <p:cNvPr id="3" name="Text 1"/>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4" name="Text 2"/>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21314D"/>
                </a:solidFill>
                <a:latin typeface="Calibri" pitchFamily="34" charset="0"/>
                <a:ea typeface="Calibri" pitchFamily="34" charset="-122"/>
                <a:cs typeface="Calibri" pitchFamily="34" charset="-120"/>
              </a:rPr>
              <a:t>Selection framework and design rules</a:t>
            </a:r>
            <a:endParaRPr lang="en-US" sz="2400" dirty="0"/>
          </a:p>
        </p:txBody>
      </p:sp>
      <p:sp>
        <p:nvSpPr>
          <p:cNvPr id="5" name="Text 3"/>
          <p:cNvSpPr/>
          <p:nvPr/>
        </p:nvSpPr>
        <p:spPr>
          <a:xfrm>
            <a:off x="457200" y="1463040"/>
            <a:ext cx="8229600" cy="3200400"/>
          </a:xfrm>
          <a:prstGeom prst="rect">
            <a:avLst/>
          </a:prstGeom>
          <a:noFill/>
          <a:ln/>
        </p:spPr>
        <p:txBody>
          <a:bodyPr wrap="square" rtlCol="0" anchor="t"/>
          <a:lstStyle/>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Speed reduction, parallel shafts → Timing belt or planetary gearbox</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Speed reduction, right angle → Bevel or worm gear</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High ratio, compact → Planetary gearbox or worm gear</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Precise linear positioning → Lead screw + stepper</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Fast linear motion → Belt-driven stage or rack &amp; pinion</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Hold position without power → Worm gear or lead screw (self-locking)</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Absorb shock/misalignment → V-belt or flexible coupling</a:t>
            </a:r>
            <a:endParaRPr lang="en-US" sz="1300" dirty="0"/>
          </a:p>
          <a:p>
            <a:pPr indent="0" marL="0">
              <a:buNone/>
            </a:pPr>
            <a:endParaRPr lang="en-US" sz="1300" dirty="0"/>
          </a:p>
          <a:p>
            <a:pPr indent="0" marL="0">
              <a:buNone/>
            </a:pPr>
            <a:r>
              <a:rPr lang="en-US" sz="1300" b="1" dirty="0">
                <a:solidFill>
                  <a:srgbClr val="E65100"/>
                </a:solidFill>
                <a:latin typeface="Calibri" pitchFamily="34" charset="0"/>
                <a:ea typeface="Calibri" pitchFamily="34" charset="-122"/>
                <a:cs typeface="Calibri" pitchFamily="34" charset="-120"/>
              </a:rPr>
              <a:t>ALWAYS: Calculate required output torque/force FIRST, then size the transmission backwards to the motor.</a:t>
            </a:r>
            <a:endParaRPr lang="en-US" sz="1300" dirty="0"/>
          </a:p>
        </p:txBody>
      </p:sp>
      <p:sp>
        <p:nvSpPr>
          <p:cNvPr id="6" name="Shape 4"/>
          <p:cNvSpPr/>
          <p:nvPr/>
        </p:nvSpPr>
        <p:spPr>
          <a:xfrm>
            <a:off x="0" y="4663440"/>
            <a:ext cx="9144000" cy="475488"/>
          </a:xfrm>
          <a:prstGeom prst="rect">
            <a:avLst/>
          </a:prstGeom>
          <a:solidFill>
            <a:srgbClr val="21314D"/>
          </a:solidFill>
          <a:ln/>
        </p:spPr>
      </p:sp>
      <p:sp>
        <p:nvSpPr>
          <p:cNvPr id="7" name="Text 5"/>
          <p:cNvSpPr/>
          <p:nvPr/>
        </p:nvSpPr>
        <p:spPr>
          <a:xfrm>
            <a:off x="365760" y="4709160"/>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MINES  |  MEGN 301 — Mechanical Integration and Design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Mechanical Power Transmission</dc:title>
  <dc:subject>PptxGenJS Presentation</dc:subject>
  <dc:creator>Prof. Adam Duran</dc:creator>
  <cp:lastModifiedBy>Prof. Adam Duran</cp:lastModifiedBy>
  <cp:revision>1</cp:revision>
  <dcterms:created xsi:type="dcterms:W3CDTF">2026-03-08T05:28:46Z</dcterms:created>
  <dcterms:modified xsi:type="dcterms:W3CDTF">2026-03-08T05:28:46Z</dcterms:modified>
</cp:coreProperties>
</file>