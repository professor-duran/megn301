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Subsystem Integration for MEGN 301. Integration is where individually verified components come together as a system — and where the majority of project failures occur. Eighty percent of integration problems are interface problems: mismatched voltages, incompatible protocols, misaligned mounting holes, and timing conflicts. This module teaches you how to plan integration systematically, manage interfaces rigorously, debug problems efficiently, and maintain configuration control so you always know what you built.</a:t>
            </a:r>
          </a:p>
          <a:p/>
          <a:p>
            <a:r>
              <a:t>ALIGNMENT NOTE — This module corresponds to Chapter 5 of your Master Reference Document and supports Sprints 4-5 (subsystem demonstrations and complete system demonstration). The V-Model places integration at the vertex and ascending right side.</a:t>
            </a:r>
          </a:p>
          <a:p/>
          <a:p>
            <a:r>
              <a:t>BOTTOM LINE: Never big-bang. Add one element at a time, test at every stage. When something breaks, use the five-step debug process. 80% of integration failures are at interfaces — write ICDs during architecture, not during integration. Use an N² diagram to find every interface. Change one variable at a time.</a:t>
            </a:r>
          </a:p>
          <a:p/>
          <a:p>
            <a:r>
              <a:t>FINAL NOTES — Key updates in the final compiled document: (1) NEW 'Diagnosing the Brown-Out Blues' case study — complete five-step debugging walkthrough of MCU reset during motor start, caused by star grounding violation. The most common student integration failure, fixed with a $0.50 capacitor. (2) Integration checklist expanded to five entry criteria. (3) Version control tip with GitHub Desktop recommendation and CAD naming convention. (4) Regression testing warning strengthened.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learning outcomes covering integration planning, interface management, debugging, configuration management, testing,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covers integration strategy — how to plan the assembly sequence to catch problems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integration approaches. Big-bang is the most common student mistake — everything assembled at once, nothing works, and you cannot tell why. Bottom-up is the standard: verify components, integrate into subsystems, test, combine into system, test again. Test gates enforce discipline.</a:t>
            </a:r>
          </a:p>
          <a:p/>
          <a:p>
            <a:r>
              <a:t>INTEGRATION CHECKLIST — Before connecting subsystem B to subsystem A, verify: (1) Both subsystems individually pass standalone tests. (2) Interface signals measured against ICD (voltage levels, protocol, pinout). (3) Connector polarity confirmed — mark pin 1 on both sides. (4) Power supply can source combined current draw. (5) Known-good rollback point documented and reproducible. If ANY of these are 'no,' stop and fix before proceeding.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1 shows the five-stage bottom-up integration sequence with test gates.</a:t>
            </a:r>
          </a:p>
          <a:p/>
          <a:p>
            <a:r>
              <a:t>CRITICAL SUBSYSTEM DEMONSTRATIONS (Sprint 4) — Before full system integration, demonstrate your two most critical subassemblies to your instructor. Define: (1) Demonstration goals — specific, measurable outcomes. (2) Required hardware and setup. (3) Binary success criteria from subsystem requirements. (4) Step-by-step procedure. A successful subsystem demo is the ENTRY CRITERION for system integration — do not proceed to full integration until both critical subassemblies work.</a:t>
            </a:r>
          </a:p>
          <a:p/>
          <a:p>
            <a:r>
              <a:t>THE DEMO TRAP — A subsystem that works once under ideal conditions may fail intermittently under real conditions. Run multiple trials, test at boundary conditions, document actual measured values.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2 shows six interface types. 80% of integration failures occur at interfaces.</a:t>
            </a:r>
          </a:p>
          <a:p/>
          <a:p>
            <a:r>
              <a:t>THE N² (N-SQUARED) DIAGRAM — A standard SE tool for systematically identifying all interfaces. Subsystems on the diagonal; off-diagonal cells show what each subsystem sends to each other. Each non-empty cell requires an ICD. Empty cells confirm no interface exists — also valuable information.</a:t>
            </a:r>
          </a:p>
          <a:p/>
          <a:p>
            <a:r>
              <a:t>ICD TEMPLATE — For each electrical interface, specify at minimum: Interface ID, Subsystems connected, Physical connector (type and P/N), Pinout with signal names, Protocol and data rate, Voltage levels and logic family, Max current per pin, Cable spec and max length, Owner (the sub-team responsible).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ICDs are the contracts between subsystem teams. Write them during architecture, not during integration. Every interface needs a single owner.</a:t>
            </a:r>
          </a:p>
          <a:p/>
          <a:p>
            <a:r>
              <a:t>NEW CASE STUDY IN COMPILED NOTES — 'Diagnosing the Brown-Out Blues': Your MCU resets every time the motor starts. Five-step diagnosis: (1) Reproduce — 100% reproducible on motor command. (2) Isolate — system works without motor; works with motor on separate supply. (3) Characterize — oscilloscope shows 5V MCU rail dipping to 3.1V for 50ms during 8A motor inrush. (4) Root-cause — star grounding violation; motor return current shares MCU ground wire, creating V=I×R drop below brown-out threshold. (5) Fix — add 1000µF bulk cap on MCU rail + separate power/ground wires for motor (star topology). Cost: $0.50. Time: 10 minutes. But only if you measure with an oscilloscope instead of guessing.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covers integration testing and systematic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levels of integration testing: smoke test for safety, interface verification against ICDs, functional integration for end-to-end chains, and performance margin testing.</a:t>
            </a:r>
          </a:p>
          <a:p/>
          <a:p>
            <a:r>
              <a:t>VERSION CONTROL FOR ME STUDENTS — If the command line is intimidating, use a GUI Git client like GitHub Desktop or Sourcetree. For CAD files, use a naming convention in shared Google Drive: Enclosure_V3-2_2026-04-15.SLDPRT. This is infinitely better than Final_Final_reallyFinal.SLDPRT.</a:t>
            </a:r>
          </a:p>
          <a:p/>
          <a:p>
            <a:r>
              <a:t>REGRESSION TESTING — Any change to a subsystem may invalidate prior verification. After making a change, re-run all affected tests. Without regression testing, you may fix one problem and silently introduce three others.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 shows the five-step debugging methodology. The key principle: change ONE variable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common integration problems with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covers configuration management — knowing what you built and controlling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 shows three pillars of configuration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configuration management: Git for code, versioned BOMs, revision-controlled drawings, and build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applies integration concepts to your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Ten-item integration plan template. Write it before building and present at CDR.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practical integration tips.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Seven-step integration workflow aligned to the design review cadence.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Twelve-item readiness checklist. Complete before starting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integration anti-patterns to avoid.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testing is how you prevent fixes from creating new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FDR documentation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takeaways for subsystem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Integration is not assembly — it is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slideLayout" Target="../slideLayouts/slideLayout1.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slideLayout" Target="../slideLayouts/slideLayout1.xml"/><Relationship Id="rId1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1B2A4A"/>
          </a:solidFill>
          <a:ln/>
        </p:spPr>
      </p:sp>
      <p:sp>
        <p:nvSpPr>
          <p:cNvPr id="3" name="Text 1"/>
          <p:cNvSpPr/>
          <p:nvPr/>
        </p:nvSpPr>
        <p:spPr>
          <a:xfrm>
            <a:off x="365760" y="73152"/>
            <a:ext cx="5486400" cy="22860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640080"/>
            <a:ext cx="7315200" cy="365760"/>
          </a:xfrm>
          <a:prstGeom prst="rect">
            <a:avLst/>
          </a:prstGeom>
          <a:noFill/>
          <a:ln/>
        </p:spPr>
        <p:txBody>
          <a:bodyPr wrap="square" rtlCol="0" anchor="ctr"/>
          <a:lstStyle/>
          <a:p>
            <a:pPr indent="0" marL="0">
              <a:buNone/>
            </a:pPr>
            <a:r>
              <a:rPr lang="en-US" sz="1400" b="1" spc="300" kern="0" dirty="0">
                <a:solidFill>
                  <a:srgbClr val="C0392B"/>
                </a:solidFill>
                <a:latin typeface="Calibri" pitchFamily="34" charset="0"/>
                <a:ea typeface="Calibri" pitchFamily="34" charset="-122"/>
                <a:cs typeface="Calibri" pitchFamily="34" charset="-120"/>
              </a:rPr>
              <a:t>Systems Engineering Foundations</a:t>
            </a:r>
            <a:endParaRPr lang="en-US" sz="1400" dirty="0"/>
          </a:p>
        </p:txBody>
      </p:sp>
      <p:sp>
        <p:nvSpPr>
          <p:cNvPr id="5" name="Text 3"/>
          <p:cNvSpPr/>
          <p:nvPr/>
        </p:nvSpPr>
        <p:spPr>
          <a:xfrm>
            <a:off x="548640" y="1188720"/>
            <a:ext cx="7772400" cy="2011680"/>
          </a:xfrm>
          <a:prstGeom prst="rect">
            <a:avLst/>
          </a:prstGeom>
          <a:noFill/>
          <a:ln/>
        </p:spPr>
        <p:txBody>
          <a:bodyPr wrap="square" rtlCol="0" anchor="ctr"/>
          <a:lstStyle/>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Subsystem</a:t>
            </a:r>
            <a:endParaRPr lang="en-US" sz="4400" dirty="0"/>
          </a:p>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Integration</a:t>
            </a:r>
            <a:endParaRPr lang="en-US" sz="4400" dirty="0"/>
          </a:p>
        </p:txBody>
      </p:sp>
      <p:sp>
        <p:nvSpPr>
          <p:cNvPr id="6" name="Text 4"/>
          <p:cNvSpPr/>
          <p:nvPr/>
        </p:nvSpPr>
        <p:spPr>
          <a:xfrm>
            <a:off x="548640" y="3383280"/>
            <a:ext cx="7772400" cy="320040"/>
          </a:xfrm>
          <a:prstGeom prst="rect">
            <a:avLst/>
          </a:prstGeom>
          <a:noFill/>
          <a:ln/>
        </p:spPr>
        <p:txBody>
          <a:bodyPr wrap="square" rtlCol="0" anchor="ctr"/>
          <a:lstStyle/>
          <a:p>
            <a:pPr indent="0" marL="0">
              <a:buNone/>
            </a:pPr>
            <a:r>
              <a:rPr lang="en-US" sz="1000" spc="200" kern="0" dirty="0">
                <a:solidFill>
                  <a:srgbClr val="7A7469"/>
                </a:solidFill>
                <a:latin typeface="Calibri" pitchFamily="34" charset="0"/>
                <a:ea typeface="Calibri" pitchFamily="34" charset="-122"/>
                <a:cs typeface="Calibri" pitchFamily="34" charset="-120"/>
              </a:rPr>
              <a:t>INTEGRATION STRATEGY, INTERFACE MANAGEMENT, DEBUGGING, AND CONFIGURATION CONTROL</a:t>
            </a:r>
            <a:endParaRPr lang="en-US" sz="1000" dirty="0"/>
          </a:p>
        </p:txBody>
      </p:sp>
      <p:sp>
        <p:nvSpPr>
          <p:cNvPr id="7" name="Shape 5"/>
          <p:cNvSpPr/>
          <p:nvPr/>
        </p:nvSpPr>
        <p:spPr>
          <a:xfrm>
            <a:off x="548640" y="3794760"/>
            <a:ext cx="2011680" cy="54864"/>
          </a:xfrm>
          <a:prstGeom prst="rect">
            <a:avLst/>
          </a:prstGeom>
          <a:solidFill>
            <a:srgbClr val="C0392B"/>
          </a:solidFill>
          <a:ln/>
        </p:spPr>
      </p:sp>
      <p:sp>
        <p:nvSpPr>
          <p:cNvPr id="8" name="Shape 6"/>
          <p:cNvSpPr/>
          <p:nvPr/>
        </p:nvSpPr>
        <p:spPr>
          <a:xfrm>
            <a:off x="0" y="4800600"/>
            <a:ext cx="9144000" cy="342900"/>
          </a:xfrm>
          <a:prstGeom prst="rect">
            <a:avLst/>
          </a:prstGeom>
          <a:solidFill>
            <a:srgbClr val="1B2A4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548640" y="548640"/>
            <a:ext cx="8229600" cy="4572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Learning outcomes</a:t>
            </a:r>
            <a:endParaRPr lang="en-US" sz="2800" dirty="0"/>
          </a:p>
        </p:txBody>
      </p:sp>
      <p:pic>
        <p:nvPicPr>
          <p:cNvPr id="7" name="Image 0" descr="preencoded.png">    </p:cNvPr>
          <p:cNvPicPr>
            <a:picLocks noChangeAspect="1"/>
          </p:cNvPicPr>
          <p:nvPr/>
        </p:nvPicPr>
        <p:blipFill>
          <a:blip r:embed="rId1"/>
          <a:stretch>
            <a:fillRect/>
          </a:stretch>
        </p:blipFill>
        <p:spPr>
          <a:xfrm>
            <a:off x="640080" y="1097280"/>
            <a:ext cx="256032" cy="256032"/>
          </a:xfrm>
          <a:prstGeom prst="rect">
            <a:avLst/>
          </a:prstGeom>
        </p:spPr>
      </p:pic>
      <p:sp>
        <p:nvSpPr>
          <p:cNvPr id="8" name="Text 5"/>
          <p:cNvSpPr/>
          <p:nvPr/>
        </p:nvSpPr>
        <p:spPr>
          <a:xfrm>
            <a:off x="1051560" y="105156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Plan a bottom-up integration sequence with test gates at each stage</a:t>
            </a:r>
            <a:endParaRPr lang="en-US" sz="1250" dirty="0"/>
          </a:p>
        </p:txBody>
      </p:sp>
      <p:pic>
        <p:nvPicPr>
          <p:cNvPr id="9" name="Image 1" descr="preencoded.png">    </p:cNvPr>
          <p:cNvPicPr>
            <a:picLocks noChangeAspect="1"/>
          </p:cNvPicPr>
          <p:nvPr/>
        </p:nvPicPr>
        <p:blipFill>
          <a:blip r:embed="rId2"/>
          <a:stretch>
            <a:fillRect/>
          </a:stretch>
        </p:blipFill>
        <p:spPr>
          <a:xfrm>
            <a:off x="640080" y="1691640"/>
            <a:ext cx="256032" cy="256032"/>
          </a:xfrm>
          <a:prstGeom prst="rect">
            <a:avLst/>
          </a:prstGeom>
        </p:spPr>
      </p:pic>
      <p:sp>
        <p:nvSpPr>
          <p:cNvPr id="10" name="Text 6"/>
          <p:cNvSpPr/>
          <p:nvPr/>
        </p:nvSpPr>
        <p:spPr>
          <a:xfrm>
            <a:off x="1051560" y="164592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Identify and specify all interface types (electrical, mechanical, thermal, software, fluid, human) using ICDs</a:t>
            </a:r>
            <a:endParaRPr lang="en-US" sz="1250" dirty="0"/>
          </a:p>
        </p:txBody>
      </p:sp>
      <p:pic>
        <p:nvPicPr>
          <p:cNvPr id="11" name="Image 2" descr="preencoded.png">    </p:cNvPr>
          <p:cNvPicPr>
            <a:picLocks noChangeAspect="1"/>
          </p:cNvPicPr>
          <p:nvPr/>
        </p:nvPicPr>
        <p:blipFill>
          <a:blip r:embed="rId3"/>
          <a:stretch>
            <a:fillRect/>
          </a:stretch>
        </p:blipFill>
        <p:spPr>
          <a:xfrm>
            <a:off x="640080" y="2286000"/>
            <a:ext cx="256032" cy="256032"/>
          </a:xfrm>
          <a:prstGeom prst="rect">
            <a:avLst/>
          </a:prstGeom>
        </p:spPr>
      </p:pic>
      <p:sp>
        <p:nvSpPr>
          <p:cNvPr id="12" name="Text 7"/>
          <p:cNvSpPr/>
          <p:nvPr/>
        </p:nvSpPr>
        <p:spPr>
          <a:xfrm>
            <a:off x="1051560" y="224028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Apply systematic debugging techniques: reproduce, isolate, characterize, root-cause, verify fix</a:t>
            </a:r>
            <a:endParaRPr lang="en-US" sz="1250" dirty="0"/>
          </a:p>
        </p:txBody>
      </p:sp>
      <p:pic>
        <p:nvPicPr>
          <p:cNvPr id="13" name="Image 3" descr="preencoded.png">    </p:cNvPr>
          <p:cNvPicPr>
            <a:picLocks noChangeAspect="1"/>
          </p:cNvPicPr>
          <p:nvPr/>
        </p:nvPicPr>
        <p:blipFill>
          <a:blip r:embed="rId4"/>
          <a:stretch>
            <a:fillRect/>
          </a:stretch>
        </p:blipFill>
        <p:spPr>
          <a:xfrm>
            <a:off x="640080" y="2880360"/>
            <a:ext cx="256032" cy="256032"/>
          </a:xfrm>
          <a:prstGeom prst="rect">
            <a:avLst/>
          </a:prstGeom>
        </p:spPr>
      </p:pic>
      <p:sp>
        <p:nvSpPr>
          <p:cNvPr id="14" name="Text 8"/>
          <p:cNvSpPr/>
          <p:nvPr/>
        </p:nvSpPr>
        <p:spPr>
          <a:xfrm>
            <a:off x="1051560" y="283464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Implement configuration management with version control, baselines, and change control</a:t>
            </a:r>
            <a:endParaRPr lang="en-US" sz="1250" dirty="0"/>
          </a:p>
        </p:txBody>
      </p:sp>
      <p:pic>
        <p:nvPicPr>
          <p:cNvPr id="15" name="Image 4" descr="preencoded.png">    </p:cNvPr>
          <p:cNvPicPr>
            <a:picLocks noChangeAspect="1"/>
          </p:cNvPicPr>
          <p:nvPr/>
        </p:nvPicPr>
        <p:blipFill>
          <a:blip r:embed="rId5"/>
          <a:stretch>
            <a:fillRect/>
          </a:stretch>
        </p:blipFill>
        <p:spPr>
          <a:xfrm>
            <a:off x="640080" y="3474720"/>
            <a:ext cx="256032" cy="256032"/>
          </a:xfrm>
          <a:prstGeom prst="rect">
            <a:avLst/>
          </a:prstGeom>
        </p:spPr>
      </p:pic>
      <p:sp>
        <p:nvSpPr>
          <p:cNvPr id="16" name="Text 9"/>
          <p:cNvSpPr/>
          <p:nvPr/>
        </p:nvSpPr>
        <p:spPr>
          <a:xfrm>
            <a:off x="1051560" y="342900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Conduct integration testing and update the VCRM with results</a:t>
            </a:r>
            <a:endParaRPr lang="en-US" sz="1250" dirty="0"/>
          </a:p>
        </p:txBody>
      </p:sp>
      <p:pic>
        <p:nvPicPr>
          <p:cNvPr id="17" name="Image 5" descr="preencoded.png">    </p:cNvPr>
          <p:cNvPicPr>
            <a:picLocks noChangeAspect="1"/>
          </p:cNvPicPr>
          <p:nvPr/>
        </p:nvPicPr>
        <p:blipFill>
          <a:blip r:embed="rId6"/>
          <a:stretch>
            <a:fillRect/>
          </a:stretch>
        </p:blipFill>
        <p:spPr>
          <a:xfrm>
            <a:off x="640080" y="4069080"/>
            <a:ext cx="256032" cy="256032"/>
          </a:xfrm>
          <a:prstGeom prst="rect">
            <a:avLst/>
          </a:prstGeom>
        </p:spPr>
      </p:pic>
      <p:sp>
        <p:nvSpPr>
          <p:cNvPr id="18" name="Text 10"/>
          <p:cNvSpPr/>
          <p:nvPr/>
        </p:nvSpPr>
        <p:spPr>
          <a:xfrm>
            <a:off x="1051560" y="402336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Produce CDR/FDR-ready integration evidence packages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01</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Integration</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strategy</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Bottom-up assembly, test gates, and integration sequencing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Integration approaches</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Big-Bang (Don't Do This)</a:t>
            </a:r>
            <a:endParaRPr lang="en-US" sz="1200" dirty="0"/>
          </a:p>
        </p:txBody>
      </p:sp>
      <p:sp>
        <p:nvSpPr>
          <p:cNvPr id="9" name="Text 7"/>
          <p:cNvSpPr/>
          <p:nvPr/>
        </p:nvSpPr>
        <p:spPr>
          <a:xfrm>
            <a:off x="2926080" y="96012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Assemble everything at once, power on, and hope. When it fails — and it will — you cannot isolate the problem because every interface is suspect simultaneously. Debugging takes 10× longer than incremental integration.</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Bottom-Up (Recommended)</a:t>
            </a:r>
            <a:endParaRPr lang="en-US" sz="1200" dirty="0"/>
          </a:p>
        </p:txBody>
      </p:sp>
      <p:sp>
        <p:nvSpPr>
          <p:cNvPr id="12" name="Text 10"/>
          <p:cNvSpPr/>
          <p:nvPr/>
        </p:nvSpPr>
        <p:spPr>
          <a:xfrm>
            <a:off x="2926080" y="182880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Verify components individually → integrate into subsystems → test each subsystem → combine subsystems into system → system test. At each stage, you add ONE new element and test. If something breaks, the new element or its interface is the suspect.</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Incremental Build</a:t>
            </a:r>
            <a:endParaRPr lang="en-US" sz="1200" dirty="0"/>
          </a:p>
        </p:txBody>
      </p:sp>
      <p:sp>
        <p:nvSpPr>
          <p:cNvPr id="15" name="Text 13"/>
          <p:cNvSpPr/>
          <p:nvPr/>
        </p:nvSpPr>
        <p:spPr>
          <a:xfrm>
            <a:off x="2926080" y="269748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 variant of bottom-up: start with the most reliable subsystem, verify it works standalone, then add the next subsystem and test the combination. Repeat until the full system is assembled. Each addition is a controlled experiment.</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Integration Test Gates</a:t>
            </a:r>
            <a:endParaRPr lang="en-US" sz="1200" dirty="0"/>
          </a:p>
        </p:txBody>
      </p:sp>
      <p:sp>
        <p:nvSpPr>
          <p:cNvPr id="18" name="Text 16"/>
          <p:cNvSpPr/>
          <p:nvPr/>
        </p:nvSpPr>
        <p:spPr>
          <a:xfrm>
            <a:off x="2926080" y="356616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Define entry and exit criteria for each integration stage. Entry: all components from the previous stage verified. Exit: all tests at the current stage pass. Never advance with open failures — they compound.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Integration strategy — bottom-up with test gates</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703320"/>
          </a:xfrm>
          <a:prstGeom prst="rect">
            <a:avLst/>
          </a:prstGeom>
        </p:spPr>
      </p:pic>
      <p:sp>
        <p:nvSpPr>
          <p:cNvPr id="4" name="Shape 1"/>
          <p:cNvSpPr/>
          <p:nvPr/>
        </p:nvSpPr>
        <p:spPr>
          <a:xfrm>
            <a:off x="0" y="4663440"/>
            <a:ext cx="9144000" cy="480060"/>
          </a:xfrm>
          <a:prstGeom prst="rect">
            <a:avLst/>
          </a:prstGeom>
          <a:solidFill>
            <a:srgbClr val="1B2A4A"/>
          </a:solidFill>
          <a:ln/>
        </p:spPr>
      </p:sp>
      <p:sp>
        <p:nvSpPr>
          <p:cNvPr id="5" name="Text 2"/>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Interface management</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447288"/>
          </a:xfrm>
          <a:prstGeom prst="rect">
            <a:avLst/>
          </a:prstGeom>
        </p:spPr>
      </p:pic>
      <p:sp>
        <p:nvSpPr>
          <p:cNvPr id="4" name="Text 1"/>
          <p:cNvSpPr/>
          <p:nvPr/>
        </p:nvSpPr>
        <p:spPr>
          <a:xfrm>
            <a:off x="274320" y="3995928"/>
            <a:ext cx="8595360" cy="182880"/>
          </a:xfrm>
          <a:prstGeom prst="rect">
            <a:avLst/>
          </a:prstGeom>
          <a:noFill/>
          <a:ln/>
        </p:spPr>
        <p:txBody>
          <a:bodyPr wrap="square" rtlCol="0" anchor="ctr"/>
          <a:lstStyle/>
          <a:p>
            <a:pPr algn="ctr" indent="0" marL="0">
              <a:buNone/>
            </a:pPr>
            <a:r>
              <a:rPr lang="en-US" sz="900" i="1" dirty="0">
                <a:solidFill>
                  <a:srgbClr val="7A7469"/>
                </a:solidFill>
                <a:latin typeface="Calibri" pitchFamily="34" charset="0"/>
                <a:ea typeface="Calibri" pitchFamily="34" charset="-122"/>
                <a:cs typeface="Calibri" pitchFamily="34" charset="-120"/>
              </a:rPr>
              <a:t>Fig. 2: Six interface types with specifications and common failure modes — 80% of integration failures are at interfaces</a:t>
            </a:r>
            <a:endParaRPr lang="en-US" sz="90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Interface Control Documents (ICDs)</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What an ICD Contains</a:t>
            </a:r>
            <a:endParaRPr lang="en-US" sz="1200" dirty="0"/>
          </a:p>
        </p:txBody>
      </p:sp>
      <p:sp>
        <p:nvSpPr>
          <p:cNvPr id="9" name="Text 7"/>
          <p:cNvSpPr/>
          <p:nvPr/>
        </p:nvSpPr>
        <p:spPr>
          <a:xfrm>
            <a:off x="2926080" y="96012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For every interface: what crosses it (signals, power, data, force, fluid), in what format (voltage, protocol, thread type), with what constraints (max current, tolerance, pressure rating), connector part numbers, pin assignments, and a block diagram of the connection.</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When to Write It</a:t>
            </a:r>
            <a:endParaRPr lang="en-US" sz="1200" dirty="0"/>
          </a:p>
        </p:txBody>
      </p:sp>
      <p:sp>
        <p:nvSpPr>
          <p:cNvPr id="12" name="Text 10"/>
          <p:cNvSpPr/>
          <p:nvPr/>
        </p:nvSpPr>
        <p:spPr>
          <a:xfrm>
            <a:off x="2926080" y="182880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Write ICDs DURING architecture definition — not during integration. The ICD is a contract between the teams building each side of the interface. Both teams design to the ICD. If the ICD is wrong, both sides are wrong.</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Integration Test from ICD</a:t>
            </a:r>
            <a:endParaRPr lang="en-US" sz="1200" dirty="0"/>
          </a:p>
        </p:txBody>
      </p:sp>
      <p:sp>
        <p:nvSpPr>
          <p:cNvPr id="15" name="Text 13"/>
          <p:cNvSpPr/>
          <p:nvPr/>
        </p:nvSpPr>
        <p:spPr>
          <a:xfrm>
            <a:off x="2926080" y="269748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The ICD defines what to test at each interface: measure actual voltage vs specified, verify protocol communication, check mechanical fit, measure thermal performance. The ICD IS the integration test specification.</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One Interface, One Owner</a:t>
            </a:r>
            <a:endParaRPr lang="en-US" sz="1200" dirty="0"/>
          </a:p>
        </p:txBody>
      </p:sp>
      <p:sp>
        <p:nvSpPr>
          <p:cNvPr id="18" name="Text 16"/>
          <p:cNvSpPr/>
          <p:nvPr/>
        </p:nvSpPr>
        <p:spPr>
          <a:xfrm>
            <a:off x="2926080" y="356616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Every interface has a single owner responsible for the ICD. When two teams share an interface, assign ONE person as the owner. Unowned interfaces are where problems hide.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02</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Integration</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testing &amp; debug</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Testing at integration, systematic debugging, and problem isolation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Integration testing</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Smoke Test</a:t>
            </a:r>
            <a:endParaRPr lang="en-US" sz="1200" dirty="0"/>
          </a:p>
        </p:txBody>
      </p:sp>
      <p:sp>
        <p:nvSpPr>
          <p:cNvPr id="9" name="Text 7"/>
          <p:cNvSpPr/>
          <p:nvPr/>
        </p:nvSpPr>
        <p:spPr>
          <a:xfrm>
            <a:off x="2743200" y="96012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First power-on of a newly integrated assembly. Check: does anything smoke, overheat, or make unexpected sounds? Monitor voltage rails, current draw, and temperatures. This is a safety check, not a performance test.</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Interface Verification</a:t>
            </a:r>
            <a:endParaRPr lang="en-US" sz="1200" dirty="0"/>
          </a:p>
        </p:txBody>
      </p:sp>
      <p:sp>
        <p:nvSpPr>
          <p:cNvPr id="12" name="Text 10"/>
          <p:cNvSpPr/>
          <p:nvPr/>
        </p:nvSpPr>
        <p:spPr>
          <a:xfrm>
            <a:off x="2743200" y="182880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Systematically verify every interface against its ICD: voltage levels correct? Communication protocol working? Mechanical fits within tolerance? Fluid connections leak-free? This catches the 80% of problems that live at interfaces.</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Functional Integration Test</a:t>
            </a:r>
            <a:endParaRPr lang="en-US" sz="1200" dirty="0"/>
          </a:p>
        </p:txBody>
      </p:sp>
      <p:sp>
        <p:nvSpPr>
          <p:cNvPr id="15" name="Text 13"/>
          <p:cNvSpPr/>
          <p:nvPr/>
        </p:nvSpPr>
        <p:spPr>
          <a:xfrm>
            <a:off x="2743200" y="269748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Exercise each function end-to-end across the integrated system. Sensor reads → data processes → actuator responds. Verify that the chain works, not just individual links.</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Performance Margin Test</a:t>
            </a:r>
            <a:endParaRPr lang="en-US" sz="1200" dirty="0"/>
          </a:p>
        </p:txBody>
      </p:sp>
      <p:sp>
        <p:nvSpPr>
          <p:cNvPr id="18" name="Text 16"/>
          <p:cNvSpPr/>
          <p:nvPr/>
        </p:nvSpPr>
        <p:spPr>
          <a:xfrm>
            <a:off x="2743200" y="356616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Once functional, test against performance requirements with margin. If the spec is ±0.5°C, verify you achieve ±0.3°C. Margin protects against environmental variation, aging, and unit-to-unit differences.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Systematic debugging</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200400"/>
          </a:xfrm>
          <a:prstGeom prst="rect">
            <a:avLst/>
          </a:prstGeom>
        </p:spPr>
      </p:pic>
      <p:sp>
        <p:nvSpPr>
          <p:cNvPr id="4" name="Text 1"/>
          <p:cNvSpPr/>
          <p:nvPr/>
        </p:nvSpPr>
        <p:spPr>
          <a:xfrm>
            <a:off x="274320" y="3749040"/>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3: Five-step debugging process — reproduce, isolate, characterize, root-cause, verify fix</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Common integration problems</a:t>
            </a:r>
            <a:endParaRPr lang="en-US" sz="2200" dirty="0"/>
          </a:p>
        </p:txBody>
      </p:sp>
      <p:pic>
        <p:nvPicPr>
          <p:cNvPr id="7" name="Image 0" descr="preencoded.png">    </p:cNvPr>
          <p:cNvPicPr>
            <a:picLocks noChangeAspect="1"/>
          </p:cNvPicPr>
          <p:nvPr/>
        </p:nvPicPr>
        <p:blipFill>
          <a:blip r:embed="rId1"/>
          <a:stretch>
            <a:fillRect/>
          </a:stretch>
        </p:blipFill>
        <p:spPr>
          <a:xfrm>
            <a:off x="457200" y="1051560"/>
            <a:ext cx="256032" cy="256032"/>
          </a:xfrm>
          <a:prstGeom prst="rect">
            <a:avLst/>
          </a:prstGeom>
        </p:spPr>
      </p:pic>
      <p:sp>
        <p:nvSpPr>
          <p:cNvPr id="8" name="Text 5"/>
          <p:cNvSpPr/>
          <p:nvPr/>
        </p:nvSpPr>
        <p:spPr>
          <a:xfrm>
            <a:off x="914400" y="9601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Ground loops and noise coupling — motor currents flowing through signal ground. Fix: star-point grounding, separate power and signal returns.</a:t>
            </a:r>
            <a:endParaRPr lang="en-US" sz="1000" dirty="0"/>
          </a:p>
        </p:txBody>
      </p:sp>
      <p:pic>
        <p:nvPicPr>
          <p:cNvPr id="9" name="Image 1" descr="preencoded.png">    </p:cNvPr>
          <p:cNvPicPr>
            <a:picLocks noChangeAspect="1"/>
          </p:cNvPicPr>
          <p:nvPr/>
        </p:nvPicPr>
        <p:blipFill>
          <a:blip r:embed="rId2"/>
          <a:stretch>
            <a:fillRect/>
          </a:stretch>
        </p:blipFill>
        <p:spPr>
          <a:xfrm>
            <a:off x="457200" y="1645920"/>
            <a:ext cx="256032" cy="256032"/>
          </a:xfrm>
          <a:prstGeom prst="rect">
            <a:avLst/>
          </a:prstGeom>
        </p:spPr>
      </p:pic>
      <p:sp>
        <p:nvSpPr>
          <p:cNvPr id="10" name="Text 6"/>
          <p:cNvSpPr/>
          <p:nvPr/>
        </p:nvSpPr>
        <p:spPr>
          <a:xfrm>
            <a:off x="914400" y="155448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Voltage level mismatches — 3.3V MCU driving a 5V input or vice versa. Fix: level shifters, voltage dividers, or matching logic families.</a:t>
            </a:r>
            <a:endParaRPr lang="en-US" sz="1000" dirty="0"/>
          </a:p>
        </p:txBody>
      </p:sp>
      <p:pic>
        <p:nvPicPr>
          <p:cNvPr id="11" name="Image 2" descr="preencoded.png">    </p:cNvPr>
          <p:cNvPicPr>
            <a:picLocks noChangeAspect="1"/>
          </p:cNvPicPr>
          <p:nvPr/>
        </p:nvPicPr>
        <p:blipFill>
          <a:blip r:embed="rId3"/>
          <a:stretch>
            <a:fillRect/>
          </a:stretch>
        </p:blipFill>
        <p:spPr>
          <a:xfrm>
            <a:off x="457200" y="2240280"/>
            <a:ext cx="256032" cy="256032"/>
          </a:xfrm>
          <a:prstGeom prst="rect">
            <a:avLst/>
          </a:prstGeom>
        </p:spPr>
      </p:pic>
      <p:sp>
        <p:nvSpPr>
          <p:cNvPr id="12" name="Text 7"/>
          <p:cNvSpPr/>
          <p:nvPr/>
        </p:nvSpPr>
        <p:spPr>
          <a:xfrm>
            <a:off x="914400" y="214884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Mechanical interference — parts that fit individually but collide when assembled. Fix: assembly-level CAD review, tolerance stack-up analysis.</a:t>
            </a:r>
            <a:endParaRPr lang="en-US" sz="1000" dirty="0"/>
          </a:p>
        </p:txBody>
      </p:sp>
      <p:pic>
        <p:nvPicPr>
          <p:cNvPr id="13" name="Image 3" descr="preencoded.png">    </p:cNvPr>
          <p:cNvPicPr>
            <a:picLocks noChangeAspect="1"/>
          </p:cNvPicPr>
          <p:nvPr/>
        </p:nvPicPr>
        <p:blipFill>
          <a:blip r:embed="rId4"/>
          <a:stretch>
            <a:fillRect/>
          </a:stretch>
        </p:blipFill>
        <p:spPr>
          <a:xfrm>
            <a:off x="457200" y="2834640"/>
            <a:ext cx="256032" cy="256032"/>
          </a:xfrm>
          <a:prstGeom prst="rect">
            <a:avLst/>
          </a:prstGeom>
        </p:spPr>
      </p:pic>
      <p:sp>
        <p:nvSpPr>
          <p:cNvPr id="14" name="Text 8"/>
          <p:cNvSpPr/>
          <p:nvPr/>
        </p:nvSpPr>
        <p:spPr>
          <a:xfrm>
            <a:off x="914400" y="274320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Timing and sequencing — modules that work individually but fail when operating simultaneously. Fix: defined startup sequence, synchronization protocols.</a:t>
            </a:r>
            <a:endParaRPr lang="en-US" sz="1000" dirty="0"/>
          </a:p>
        </p:txBody>
      </p:sp>
      <p:pic>
        <p:nvPicPr>
          <p:cNvPr id="15" name="Image 4" descr="preencoded.png">    </p:cNvPr>
          <p:cNvPicPr>
            <a:picLocks noChangeAspect="1"/>
          </p:cNvPicPr>
          <p:nvPr/>
        </p:nvPicPr>
        <p:blipFill>
          <a:blip r:embed="rId5"/>
          <a:stretch>
            <a:fillRect/>
          </a:stretch>
        </p:blipFill>
        <p:spPr>
          <a:xfrm>
            <a:off x="457200" y="3429000"/>
            <a:ext cx="256032" cy="256032"/>
          </a:xfrm>
          <a:prstGeom prst="rect">
            <a:avLst/>
          </a:prstGeom>
        </p:spPr>
      </p:pic>
      <p:sp>
        <p:nvSpPr>
          <p:cNvPr id="16" name="Text 9"/>
          <p:cNvSpPr/>
          <p:nvPr/>
        </p:nvSpPr>
        <p:spPr>
          <a:xfrm>
            <a:off x="914400" y="333756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Thermal crosstalk — heat from one subsystem degrading the performance of an adjacent one. Fix: thermal isolation, directed airflow, layout separation.</a:t>
            </a:r>
            <a:endParaRPr lang="en-US" sz="1000" dirty="0"/>
          </a:p>
        </p:txBody>
      </p:sp>
      <p:pic>
        <p:nvPicPr>
          <p:cNvPr id="17" name="Image 5" descr="preencoded.png">    </p:cNvPr>
          <p:cNvPicPr>
            <a:picLocks noChangeAspect="1"/>
          </p:cNvPicPr>
          <p:nvPr/>
        </p:nvPicPr>
        <p:blipFill>
          <a:blip r:embed="rId6"/>
          <a:stretch>
            <a:fillRect/>
          </a:stretch>
        </p:blipFill>
        <p:spPr>
          <a:xfrm>
            <a:off x="457200" y="4023360"/>
            <a:ext cx="256032" cy="256032"/>
          </a:xfrm>
          <a:prstGeom prst="rect">
            <a:avLst/>
          </a:prstGeom>
        </p:spPr>
      </p:pic>
      <p:sp>
        <p:nvSpPr>
          <p:cNvPr id="18" name="Text 10"/>
          <p:cNvSpPr/>
          <p:nvPr/>
        </p:nvSpPr>
        <p:spPr>
          <a:xfrm>
            <a:off x="914400" y="39319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Firmware version mismatches — different team members running different code versions. Fix: version control (Git), tagged releases, configuration management.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03</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Configuration</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management</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Version control, baselines, change control, and build records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Configuration management</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200400"/>
          </a:xfrm>
          <a:prstGeom prst="rect">
            <a:avLst/>
          </a:prstGeom>
        </p:spPr>
      </p:pic>
      <p:sp>
        <p:nvSpPr>
          <p:cNvPr id="4" name="Text 1"/>
          <p:cNvSpPr/>
          <p:nvPr/>
        </p:nvSpPr>
        <p:spPr>
          <a:xfrm>
            <a:off x="274320" y="3749040"/>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4: Version control, baseline management, and change control — knowing what you built</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Configuration management in practice</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Git for Code</a:t>
            </a:r>
            <a:endParaRPr lang="en-US" sz="1200" dirty="0"/>
          </a:p>
        </p:txBody>
      </p:sp>
      <p:sp>
        <p:nvSpPr>
          <p:cNvPr id="9" name="Text 7"/>
          <p:cNvSpPr/>
          <p:nvPr/>
        </p:nvSpPr>
        <p:spPr>
          <a:xfrm>
            <a:off x="2743200" y="96012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Every line of firmware, test scripts, and documentation lives in a Git repository. Commit often with descriptive messages. Tag releases. Branch for experiments. Never work on main/master directly.</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BOM Version Control</a:t>
            </a:r>
            <a:endParaRPr lang="en-US" sz="1200" dirty="0"/>
          </a:p>
        </p:txBody>
      </p:sp>
      <p:sp>
        <p:nvSpPr>
          <p:cNvPr id="12" name="Text 10"/>
          <p:cNvSpPr/>
          <p:nvPr/>
        </p:nvSpPr>
        <p:spPr>
          <a:xfrm>
            <a:off x="2743200" y="182880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Your Bill of Materials is a controlled document. When you change a component, increment the BOM revision. Record why the change was made. The BOM at FDR must match what is on the bench.</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Drawing Revisions</a:t>
            </a:r>
            <a:endParaRPr lang="en-US" sz="1200" dirty="0"/>
          </a:p>
        </p:txBody>
      </p:sp>
      <p:sp>
        <p:nvSpPr>
          <p:cNvPr id="15" name="Text 13"/>
          <p:cNvSpPr/>
          <p:nvPr/>
        </p:nvSpPr>
        <p:spPr>
          <a:xfrm>
            <a:off x="2743200" y="269748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CAD models and drawings carry revision letters (Rev A, B, C...). Mark what changed between revisions. A drawing without a revision history is uncontrolled and unreliable.</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Build Records</a:t>
            </a:r>
            <a:endParaRPr lang="en-US" sz="1200" dirty="0"/>
          </a:p>
        </p:txBody>
      </p:sp>
      <p:sp>
        <p:nvSpPr>
          <p:cNvPr id="18" name="Text 16"/>
          <p:cNvSpPr/>
          <p:nvPr/>
        </p:nvSpPr>
        <p:spPr>
          <a:xfrm>
            <a:off x="2743200" y="356616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For each assembled unit, record: BOM revision, firmware version, component serial numbers, assembly date, and tester name. This is how you trace a field failure back to a specific build.</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04</a:t>
            </a:r>
            <a:endParaRPr lang="en-US" sz="4800" dirty="0"/>
          </a:p>
        </p:txBody>
      </p:sp>
      <p:sp>
        <p:nvSpPr>
          <p:cNvPr id="5" name="Text 3"/>
          <p:cNvSpPr/>
          <p:nvPr/>
        </p:nvSpPr>
        <p:spPr>
          <a:xfrm>
            <a:off x="548640" y="1554480"/>
            <a:ext cx="5486400" cy="109728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Practice &amp;</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application</a:t>
            </a:r>
            <a:endParaRPr lang="en-US" sz="3200" dirty="0"/>
          </a:p>
        </p:txBody>
      </p:sp>
      <p:sp>
        <p:nvSpPr>
          <p:cNvPr id="6" name="Text 4"/>
          <p:cNvSpPr/>
          <p:nvPr/>
        </p:nvSpPr>
        <p:spPr>
          <a:xfrm>
            <a:off x="548640" y="274320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Integration planning, checklists, and project workflow</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Integration plan template</a:t>
            </a:r>
            <a:endParaRPr lang="en-US" sz="2200" dirty="0"/>
          </a:p>
        </p:txBody>
      </p:sp>
      <p:sp>
        <p:nvSpPr>
          <p:cNvPr id="7" name="Text 5"/>
          <p:cNvSpPr/>
          <p:nvPr/>
        </p:nvSpPr>
        <p:spPr>
          <a:xfrm>
            <a:off x="548640" y="960120"/>
            <a:ext cx="7772400" cy="27432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Write your integration plan BEFORE you start building. Present it at CDR.</a:t>
            </a:r>
            <a:endParaRPr lang="en-US" sz="1200" dirty="0"/>
          </a:p>
        </p:txBody>
      </p:sp>
      <p:pic>
        <p:nvPicPr>
          <p:cNvPr id="8" name="Image 0" descr="preencoded.png">    </p:cNvPr>
          <p:cNvPicPr>
            <a:picLocks noChangeAspect="1"/>
          </p:cNvPicPr>
          <p:nvPr/>
        </p:nvPicPr>
        <p:blipFill>
          <a:blip r:embed="rId1"/>
          <a:stretch>
            <a:fillRect/>
          </a:stretch>
        </p:blipFill>
        <p:spPr>
          <a:xfrm>
            <a:off x="457200" y="1298448"/>
            <a:ext cx="182880" cy="182880"/>
          </a:xfrm>
          <a:prstGeom prst="rect">
            <a:avLst/>
          </a:prstGeom>
        </p:spPr>
      </p:pic>
      <p:sp>
        <p:nvSpPr>
          <p:cNvPr id="9" name="Text 6"/>
          <p:cNvSpPr/>
          <p:nvPr/>
        </p:nvSpPr>
        <p:spPr>
          <a:xfrm>
            <a:off x="777240" y="1280160"/>
            <a:ext cx="7863840" cy="2743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Integration sequence: which modules integrate first, second, third? (lowest risk first)</a:t>
            </a:r>
            <a:endParaRPr lang="en-US" sz="950" dirty="0"/>
          </a:p>
        </p:txBody>
      </p:sp>
      <p:pic>
        <p:nvPicPr>
          <p:cNvPr id="10" name="Image 1" descr="preencoded.png">    </p:cNvPr>
          <p:cNvPicPr>
            <a:picLocks noChangeAspect="1"/>
          </p:cNvPicPr>
          <p:nvPr/>
        </p:nvPicPr>
        <p:blipFill>
          <a:blip r:embed="rId2"/>
          <a:stretch>
            <a:fillRect/>
          </a:stretch>
        </p:blipFill>
        <p:spPr>
          <a:xfrm>
            <a:off x="457200" y="1618488"/>
            <a:ext cx="182880" cy="182880"/>
          </a:xfrm>
          <a:prstGeom prst="rect">
            <a:avLst/>
          </a:prstGeom>
        </p:spPr>
      </p:pic>
      <p:sp>
        <p:nvSpPr>
          <p:cNvPr id="11" name="Text 7"/>
          <p:cNvSpPr/>
          <p:nvPr/>
        </p:nvSpPr>
        <p:spPr>
          <a:xfrm>
            <a:off x="777240" y="1600200"/>
            <a:ext cx="7863840" cy="2743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Interface list: every interface between every pair of modules, with ICD reference</a:t>
            </a:r>
            <a:endParaRPr lang="en-US" sz="950" dirty="0"/>
          </a:p>
        </p:txBody>
      </p:sp>
      <p:pic>
        <p:nvPicPr>
          <p:cNvPr id="12" name="Image 2" descr="preencoded.png">    </p:cNvPr>
          <p:cNvPicPr>
            <a:picLocks noChangeAspect="1"/>
          </p:cNvPicPr>
          <p:nvPr/>
        </p:nvPicPr>
        <p:blipFill>
          <a:blip r:embed="rId3"/>
          <a:stretch>
            <a:fillRect/>
          </a:stretch>
        </p:blipFill>
        <p:spPr>
          <a:xfrm>
            <a:off x="457200" y="1938528"/>
            <a:ext cx="182880" cy="182880"/>
          </a:xfrm>
          <a:prstGeom prst="rect">
            <a:avLst/>
          </a:prstGeom>
        </p:spPr>
      </p:pic>
      <p:sp>
        <p:nvSpPr>
          <p:cNvPr id="13" name="Text 8"/>
          <p:cNvSpPr/>
          <p:nvPr/>
        </p:nvSpPr>
        <p:spPr>
          <a:xfrm>
            <a:off x="777240" y="1920240"/>
            <a:ext cx="7863840" cy="2743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Test at each stage: what tests pass before proceeding? (entry/exit criteria)</a:t>
            </a:r>
            <a:endParaRPr lang="en-US" sz="950" dirty="0"/>
          </a:p>
        </p:txBody>
      </p:sp>
      <p:pic>
        <p:nvPicPr>
          <p:cNvPr id="14" name="Image 3" descr="preencoded.png">    </p:cNvPr>
          <p:cNvPicPr>
            <a:picLocks noChangeAspect="1"/>
          </p:cNvPicPr>
          <p:nvPr/>
        </p:nvPicPr>
        <p:blipFill>
          <a:blip r:embed="rId4"/>
          <a:stretch>
            <a:fillRect/>
          </a:stretch>
        </p:blipFill>
        <p:spPr>
          <a:xfrm>
            <a:off x="457200" y="2258568"/>
            <a:ext cx="182880" cy="182880"/>
          </a:xfrm>
          <a:prstGeom prst="rect">
            <a:avLst/>
          </a:prstGeom>
        </p:spPr>
      </p:pic>
      <p:sp>
        <p:nvSpPr>
          <p:cNvPr id="15" name="Text 9"/>
          <p:cNvSpPr/>
          <p:nvPr/>
        </p:nvSpPr>
        <p:spPr>
          <a:xfrm>
            <a:off x="777240" y="2240280"/>
            <a:ext cx="7863840" cy="2743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Equipment needed: test instruments, fixtures, cables, adapters, software tools</a:t>
            </a:r>
            <a:endParaRPr lang="en-US" sz="950" dirty="0"/>
          </a:p>
        </p:txBody>
      </p:sp>
      <p:pic>
        <p:nvPicPr>
          <p:cNvPr id="16" name="Image 4" descr="preencoded.png">    </p:cNvPr>
          <p:cNvPicPr>
            <a:picLocks noChangeAspect="1"/>
          </p:cNvPicPr>
          <p:nvPr/>
        </p:nvPicPr>
        <p:blipFill>
          <a:blip r:embed="rId5"/>
          <a:stretch>
            <a:fillRect/>
          </a:stretch>
        </p:blipFill>
        <p:spPr>
          <a:xfrm>
            <a:off x="457200" y="2578608"/>
            <a:ext cx="182880" cy="182880"/>
          </a:xfrm>
          <a:prstGeom prst="rect">
            <a:avLst/>
          </a:prstGeom>
        </p:spPr>
      </p:pic>
      <p:sp>
        <p:nvSpPr>
          <p:cNvPr id="17" name="Text 10"/>
          <p:cNvSpPr/>
          <p:nvPr/>
        </p:nvSpPr>
        <p:spPr>
          <a:xfrm>
            <a:off x="777240" y="2560320"/>
            <a:ext cx="7863840" cy="2743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Schedule: integration milestones mapped to project timeline with buffer</a:t>
            </a:r>
            <a:endParaRPr lang="en-US" sz="950" dirty="0"/>
          </a:p>
        </p:txBody>
      </p:sp>
      <p:pic>
        <p:nvPicPr>
          <p:cNvPr id="18" name="Image 5" descr="preencoded.png">    </p:cNvPr>
          <p:cNvPicPr>
            <a:picLocks noChangeAspect="1"/>
          </p:cNvPicPr>
          <p:nvPr/>
        </p:nvPicPr>
        <p:blipFill>
          <a:blip r:embed="rId6"/>
          <a:stretch>
            <a:fillRect/>
          </a:stretch>
        </p:blipFill>
        <p:spPr>
          <a:xfrm>
            <a:off x="457200" y="2898648"/>
            <a:ext cx="182880" cy="182880"/>
          </a:xfrm>
          <a:prstGeom prst="rect">
            <a:avLst/>
          </a:prstGeom>
        </p:spPr>
      </p:pic>
      <p:sp>
        <p:nvSpPr>
          <p:cNvPr id="19" name="Text 11"/>
          <p:cNvSpPr/>
          <p:nvPr/>
        </p:nvSpPr>
        <p:spPr>
          <a:xfrm>
            <a:off x="777240" y="2880360"/>
            <a:ext cx="7863840" cy="2743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Team assignments: who integrates what? Who runs which tests?</a:t>
            </a:r>
            <a:endParaRPr lang="en-US" sz="950" dirty="0"/>
          </a:p>
        </p:txBody>
      </p:sp>
      <p:pic>
        <p:nvPicPr>
          <p:cNvPr id="20" name="Image 6" descr="preencoded.png">    </p:cNvPr>
          <p:cNvPicPr>
            <a:picLocks noChangeAspect="1"/>
          </p:cNvPicPr>
          <p:nvPr/>
        </p:nvPicPr>
        <p:blipFill>
          <a:blip r:embed="rId7"/>
          <a:stretch>
            <a:fillRect/>
          </a:stretch>
        </p:blipFill>
        <p:spPr>
          <a:xfrm>
            <a:off x="457200" y="3218688"/>
            <a:ext cx="182880" cy="182880"/>
          </a:xfrm>
          <a:prstGeom prst="rect">
            <a:avLst/>
          </a:prstGeom>
        </p:spPr>
      </p:pic>
      <p:sp>
        <p:nvSpPr>
          <p:cNvPr id="21" name="Text 12"/>
          <p:cNvSpPr/>
          <p:nvPr/>
        </p:nvSpPr>
        <p:spPr>
          <a:xfrm>
            <a:off x="777240" y="3200400"/>
            <a:ext cx="7863840" cy="2743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Risk mitigation: what are the highest-risk interfaces? What is the fallback plan?</a:t>
            </a:r>
            <a:endParaRPr lang="en-US" sz="950" dirty="0"/>
          </a:p>
        </p:txBody>
      </p:sp>
      <p:pic>
        <p:nvPicPr>
          <p:cNvPr id="22" name="Image 7" descr="preencoded.png">    </p:cNvPr>
          <p:cNvPicPr>
            <a:picLocks noChangeAspect="1"/>
          </p:cNvPicPr>
          <p:nvPr/>
        </p:nvPicPr>
        <p:blipFill>
          <a:blip r:embed="rId8"/>
          <a:stretch>
            <a:fillRect/>
          </a:stretch>
        </p:blipFill>
        <p:spPr>
          <a:xfrm>
            <a:off x="457200" y="3538728"/>
            <a:ext cx="182880" cy="182880"/>
          </a:xfrm>
          <a:prstGeom prst="rect">
            <a:avLst/>
          </a:prstGeom>
        </p:spPr>
      </p:pic>
      <p:sp>
        <p:nvSpPr>
          <p:cNvPr id="23" name="Text 13"/>
          <p:cNvSpPr/>
          <p:nvPr/>
        </p:nvSpPr>
        <p:spPr>
          <a:xfrm>
            <a:off x="777240" y="3520440"/>
            <a:ext cx="7863840" cy="2743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Configuration control: how will you track versions, revisions, and build records?</a:t>
            </a:r>
            <a:endParaRPr lang="en-US" sz="950" dirty="0"/>
          </a:p>
        </p:txBody>
      </p:sp>
      <p:pic>
        <p:nvPicPr>
          <p:cNvPr id="24" name="Image 8" descr="preencoded.png">    </p:cNvPr>
          <p:cNvPicPr>
            <a:picLocks noChangeAspect="1"/>
          </p:cNvPicPr>
          <p:nvPr/>
        </p:nvPicPr>
        <p:blipFill>
          <a:blip r:embed="rId9"/>
          <a:stretch>
            <a:fillRect/>
          </a:stretch>
        </p:blipFill>
        <p:spPr>
          <a:xfrm>
            <a:off x="457200" y="3858768"/>
            <a:ext cx="182880" cy="182880"/>
          </a:xfrm>
          <a:prstGeom prst="rect">
            <a:avLst/>
          </a:prstGeom>
        </p:spPr>
      </p:pic>
      <p:sp>
        <p:nvSpPr>
          <p:cNvPr id="25" name="Text 14"/>
          <p:cNvSpPr/>
          <p:nvPr/>
        </p:nvSpPr>
        <p:spPr>
          <a:xfrm>
            <a:off x="777240" y="3840480"/>
            <a:ext cx="7863840" cy="2743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Documentation: test logs, photos, data files — where stored, naming convention</a:t>
            </a:r>
            <a:endParaRPr lang="en-US" sz="950" dirty="0"/>
          </a:p>
        </p:txBody>
      </p:sp>
      <p:pic>
        <p:nvPicPr>
          <p:cNvPr id="26" name="Image 9" descr="preencoded.png">    </p:cNvPr>
          <p:cNvPicPr>
            <a:picLocks noChangeAspect="1"/>
          </p:cNvPicPr>
          <p:nvPr/>
        </p:nvPicPr>
        <p:blipFill>
          <a:blip r:embed="rId10"/>
          <a:stretch>
            <a:fillRect/>
          </a:stretch>
        </p:blipFill>
        <p:spPr>
          <a:xfrm>
            <a:off x="457200" y="4178808"/>
            <a:ext cx="182880" cy="182880"/>
          </a:xfrm>
          <a:prstGeom prst="rect">
            <a:avLst/>
          </a:prstGeom>
        </p:spPr>
      </p:pic>
      <p:sp>
        <p:nvSpPr>
          <p:cNvPr id="27" name="Text 15"/>
          <p:cNvSpPr/>
          <p:nvPr/>
        </p:nvSpPr>
        <p:spPr>
          <a:xfrm>
            <a:off x="777240" y="4160520"/>
            <a:ext cx="7863840" cy="2743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Regression plan: after any change, which tests must be re-run to confirm no regressions?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Practical integration tips</a:t>
            </a:r>
            <a:endParaRPr lang="en-US" sz="2200" dirty="0"/>
          </a:p>
        </p:txBody>
      </p:sp>
      <p:pic>
        <p:nvPicPr>
          <p:cNvPr id="7" name="Image 0" descr="preencoded.png">    </p:cNvPr>
          <p:cNvPicPr>
            <a:picLocks noChangeAspect="1"/>
          </p:cNvPicPr>
          <p:nvPr/>
        </p:nvPicPr>
        <p:blipFill>
          <a:blip r:embed="rId1"/>
          <a:stretch>
            <a:fillRect/>
          </a:stretch>
        </p:blipFill>
        <p:spPr>
          <a:xfrm>
            <a:off x="457200" y="1051560"/>
            <a:ext cx="256032" cy="256032"/>
          </a:xfrm>
          <a:prstGeom prst="rect">
            <a:avLst/>
          </a:prstGeom>
        </p:spPr>
      </p:pic>
      <p:sp>
        <p:nvSpPr>
          <p:cNvPr id="8" name="Text 5"/>
          <p:cNvSpPr/>
          <p:nvPr/>
        </p:nvSpPr>
        <p:spPr>
          <a:xfrm>
            <a:off x="914400" y="9601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Integrate the lowest-risk subsystem first. Get one thing working, then add complexity. Success builds confidence and provides a known-good baseline for debugging.</a:t>
            </a:r>
            <a:endParaRPr lang="en-US" sz="1000" dirty="0"/>
          </a:p>
        </p:txBody>
      </p:sp>
      <p:pic>
        <p:nvPicPr>
          <p:cNvPr id="9" name="Image 1" descr="preencoded.png">    </p:cNvPr>
          <p:cNvPicPr>
            <a:picLocks noChangeAspect="1"/>
          </p:cNvPicPr>
          <p:nvPr/>
        </p:nvPicPr>
        <p:blipFill>
          <a:blip r:embed="rId2"/>
          <a:stretch>
            <a:fillRect/>
          </a:stretch>
        </p:blipFill>
        <p:spPr>
          <a:xfrm>
            <a:off x="457200" y="1645920"/>
            <a:ext cx="256032" cy="256032"/>
          </a:xfrm>
          <a:prstGeom prst="rect">
            <a:avLst/>
          </a:prstGeom>
        </p:spPr>
      </p:pic>
      <p:sp>
        <p:nvSpPr>
          <p:cNvPr id="10" name="Text 6"/>
          <p:cNvSpPr/>
          <p:nvPr/>
        </p:nvSpPr>
        <p:spPr>
          <a:xfrm>
            <a:off x="914400" y="155448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Test every interface BEFORE system integration. Wire the two modules together, verify communication, then disconnect and continue building. Interface bugs found early are 10× cheaper.</a:t>
            </a:r>
            <a:endParaRPr lang="en-US" sz="1000" dirty="0"/>
          </a:p>
        </p:txBody>
      </p:sp>
      <p:pic>
        <p:nvPicPr>
          <p:cNvPr id="11" name="Image 2" descr="preencoded.png">    </p:cNvPr>
          <p:cNvPicPr>
            <a:picLocks noChangeAspect="1"/>
          </p:cNvPicPr>
          <p:nvPr/>
        </p:nvPicPr>
        <p:blipFill>
          <a:blip r:embed="rId3"/>
          <a:stretch>
            <a:fillRect/>
          </a:stretch>
        </p:blipFill>
        <p:spPr>
          <a:xfrm>
            <a:off x="457200" y="2240280"/>
            <a:ext cx="256032" cy="256032"/>
          </a:xfrm>
          <a:prstGeom prst="rect">
            <a:avLst/>
          </a:prstGeom>
        </p:spPr>
      </p:pic>
      <p:sp>
        <p:nvSpPr>
          <p:cNvPr id="12" name="Text 7"/>
          <p:cNvSpPr/>
          <p:nvPr/>
        </p:nvSpPr>
        <p:spPr>
          <a:xfrm>
            <a:off x="914400" y="214884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Keep a detailed integration log: date, what was added, what was tested, what passed, what failed, what was changed. This log is invaluable when debugging and essential at FDR.</a:t>
            </a:r>
            <a:endParaRPr lang="en-US" sz="1000" dirty="0"/>
          </a:p>
        </p:txBody>
      </p:sp>
      <p:pic>
        <p:nvPicPr>
          <p:cNvPr id="13" name="Image 3" descr="preencoded.png">    </p:cNvPr>
          <p:cNvPicPr>
            <a:picLocks noChangeAspect="1"/>
          </p:cNvPicPr>
          <p:nvPr/>
        </p:nvPicPr>
        <p:blipFill>
          <a:blip r:embed="rId4"/>
          <a:stretch>
            <a:fillRect/>
          </a:stretch>
        </p:blipFill>
        <p:spPr>
          <a:xfrm>
            <a:off x="457200" y="2834640"/>
            <a:ext cx="256032" cy="256032"/>
          </a:xfrm>
          <a:prstGeom prst="rect">
            <a:avLst/>
          </a:prstGeom>
        </p:spPr>
      </p:pic>
      <p:sp>
        <p:nvSpPr>
          <p:cNvPr id="14" name="Text 8"/>
          <p:cNvSpPr/>
          <p:nvPr/>
        </p:nvSpPr>
        <p:spPr>
          <a:xfrm>
            <a:off x="914400" y="274320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Tag working configurations in Git. When something breaks, you can always roll back to the last known-good state. Never develop on an unstable baseline.</a:t>
            </a:r>
            <a:endParaRPr lang="en-US" sz="1000" dirty="0"/>
          </a:p>
        </p:txBody>
      </p:sp>
      <p:pic>
        <p:nvPicPr>
          <p:cNvPr id="15" name="Image 4" descr="preencoded.png">    </p:cNvPr>
          <p:cNvPicPr>
            <a:picLocks noChangeAspect="1"/>
          </p:cNvPicPr>
          <p:nvPr/>
        </p:nvPicPr>
        <p:blipFill>
          <a:blip r:embed="rId5"/>
          <a:stretch>
            <a:fillRect/>
          </a:stretch>
        </p:blipFill>
        <p:spPr>
          <a:xfrm>
            <a:off x="457200" y="3429000"/>
            <a:ext cx="256032" cy="256032"/>
          </a:xfrm>
          <a:prstGeom prst="rect">
            <a:avLst/>
          </a:prstGeom>
        </p:spPr>
      </p:pic>
      <p:sp>
        <p:nvSpPr>
          <p:cNvPr id="16" name="Text 9"/>
          <p:cNvSpPr/>
          <p:nvPr/>
        </p:nvSpPr>
        <p:spPr>
          <a:xfrm>
            <a:off x="914400" y="333756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Allocate 30-40% of your schedule for integration and testing. Students consistently underestimate this. If you plan 1 week, it will take 2. If you plan 2, it might take 3.</a:t>
            </a:r>
            <a:endParaRPr lang="en-US" sz="1000" dirty="0"/>
          </a:p>
        </p:txBody>
      </p:sp>
      <p:pic>
        <p:nvPicPr>
          <p:cNvPr id="17" name="Image 5" descr="preencoded.png">    </p:cNvPr>
          <p:cNvPicPr>
            <a:picLocks noChangeAspect="1"/>
          </p:cNvPicPr>
          <p:nvPr/>
        </p:nvPicPr>
        <p:blipFill>
          <a:blip r:embed="rId6"/>
          <a:stretch>
            <a:fillRect/>
          </a:stretch>
        </p:blipFill>
        <p:spPr>
          <a:xfrm>
            <a:off x="457200" y="4023360"/>
            <a:ext cx="256032" cy="256032"/>
          </a:xfrm>
          <a:prstGeom prst="rect">
            <a:avLst/>
          </a:prstGeom>
        </p:spPr>
      </p:pic>
      <p:sp>
        <p:nvSpPr>
          <p:cNvPr id="18" name="Text 10"/>
          <p:cNvSpPr/>
          <p:nvPr/>
        </p:nvSpPr>
        <p:spPr>
          <a:xfrm>
            <a:off x="914400" y="39319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Take photos at every integration milestone. Visual evidence of what the system looked like at each stage is invaluable for documentation and debugging.</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Integration workflow for your projects</a:t>
            </a:r>
            <a:endParaRPr lang="en-US" sz="2200" dirty="0"/>
          </a:p>
        </p:txBody>
      </p:sp>
      <p:sp>
        <p:nvSpPr>
          <p:cNvPr id="7" name="Shape 5"/>
          <p:cNvSpPr/>
          <p:nvPr/>
        </p:nvSpPr>
        <p:spPr>
          <a:xfrm>
            <a:off x="548640" y="1060704"/>
            <a:ext cx="201168" cy="201168"/>
          </a:xfrm>
          <a:prstGeom prst="rect">
            <a:avLst>
              <a:gd name="adj" fmla="val 13636"/>
            </a:avLst>
          </a:prstGeom>
          <a:solidFill>
            <a:srgbClr val="C0392B"/>
          </a:solidFill>
          <a:ln/>
        </p:spPr>
      </p:sp>
      <p:sp>
        <p:nvSpPr>
          <p:cNvPr id="8" name="Text 6"/>
          <p:cNvSpPr/>
          <p:nvPr/>
        </p:nvSpPr>
        <p:spPr>
          <a:xfrm>
            <a:off x="548640" y="106070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 name="Text 7"/>
          <p:cNvSpPr/>
          <p:nvPr/>
        </p:nvSpPr>
        <p:spPr>
          <a:xfrm>
            <a:off x="914400" y="1005840"/>
            <a:ext cx="7772400" cy="384048"/>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Before CDR: Write integration plan with sequence, interfaces, and test criteria. Set up version control.</a:t>
            </a:r>
            <a:endParaRPr lang="en-US" sz="1000" dirty="0"/>
          </a:p>
        </p:txBody>
      </p:sp>
      <p:sp>
        <p:nvSpPr>
          <p:cNvPr id="10" name="Shape 8"/>
          <p:cNvSpPr/>
          <p:nvPr/>
        </p:nvSpPr>
        <p:spPr>
          <a:xfrm>
            <a:off x="548640" y="1563624"/>
            <a:ext cx="201168" cy="201168"/>
          </a:xfrm>
          <a:prstGeom prst="rect">
            <a:avLst>
              <a:gd name="adj" fmla="val 13636"/>
            </a:avLst>
          </a:prstGeom>
          <a:solidFill>
            <a:srgbClr val="C0392B"/>
          </a:solidFill>
          <a:ln/>
        </p:spPr>
      </p:sp>
      <p:sp>
        <p:nvSpPr>
          <p:cNvPr id="11" name="Text 9"/>
          <p:cNvSpPr/>
          <p:nvPr/>
        </p:nvSpPr>
        <p:spPr>
          <a:xfrm>
            <a:off x="548640" y="156362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2" name="Text 10"/>
          <p:cNvSpPr/>
          <p:nvPr/>
        </p:nvSpPr>
        <p:spPr>
          <a:xfrm>
            <a:off x="914400" y="1508760"/>
            <a:ext cx="7772400" cy="384048"/>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At CDR: Present integration plan. Reviewers verify interface coverage and test completeness.</a:t>
            </a:r>
            <a:endParaRPr lang="en-US" sz="1000" dirty="0"/>
          </a:p>
        </p:txBody>
      </p:sp>
      <p:sp>
        <p:nvSpPr>
          <p:cNvPr id="13" name="Shape 11"/>
          <p:cNvSpPr/>
          <p:nvPr/>
        </p:nvSpPr>
        <p:spPr>
          <a:xfrm>
            <a:off x="548640" y="2066544"/>
            <a:ext cx="201168" cy="201168"/>
          </a:xfrm>
          <a:prstGeom prst="rect">
            <a:avLst>
              <a:gd name="adj" fmla="val 13636"/>
            </a:avLst>
          </a:prstGeom>
          <a:solidFill>
            <a:srgbClr val="C0392B"/>
          </a:solidFill>
          <a:ln/>
        </p:spPr>
      </p:sp>
      <p:sp>
        <p:nvSpPr>
          <p:cNvPr id="14" name="Text 12"/>
          <p:cNvSpPr/>
          <p:nvPr/>
        </p:nvSpPr>
        <p:spPr>
          <a:xfrm>
            <a:off x="548640" y="206654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5" name="Text 13"/>
          <p:cNvSpPr/>
          <p:nvPr/>
        </p:nvSpPr>
        <p:spPr>
          <a:xfrm>
            <a:off x="914400" y="2011680"/>
            <a:ext cx="7772400" cy="384048"/>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Weeks 1-2 post-CDR: Component-level testing. Verify every incoming component against its specification.</a:t>
            </a:r>
            <a:endParaRPr lang="en-US" sz="1000" dirty="0"/>
          </a:p>
        </p:txBody>
      </p:sp>
      <p:sp>
        <p:nvSpPr>
          <p:cNvPr id="16" name="Shape 14"/>
          <p:cNvSpPr/>
          <p:nvPr/>
        </p:nvSpPr>
        <p:spPr>
          <a:xfrm>
            <a:off x="548640" y="2569464"/>
            <a:ext cx="201168" cy="201168"/>
          </a:xfrm>
          <a:prstGeom prst="rect">
            <a:avLst>
              <a:gd name="adj" fmla="val 13636"/>
            </a:avLst>
          </a:prstGeom>
          <a:solidFill>
            <a:srgbClr val="C0392B"/>
          </a:solidFill>
          <a:ln/>
        </p:spPr>
      </p:sp>
      <p:sp>
        <p:nvSpPr>
          <p:cNvPr id="17" name="Text 15"/>
          <p:cNvSpPr/>
          <p:nvPr/>
        </p:nvSpPr>
        <p:spPr>
          <a:xfrm>
            <a:off x="548640" y="256946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8" name="Text 16"/>
          <p:cNvSpPr/>
          <p:nvPr/>
        </p:nvSpPr>
        <p:spPr>
          <a:xfrm>
            <a:off x="914400" y="2514600"/>
            <a:ext cx="7772400" cy="384048"/>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Weeks 2-3: Subsystem integration. Test each subsystem against subsystem requirements. Fix issues before proceeding.</a:t>
            </a:r>
            <a:endParaRPr lang="en-US" sz="1000" dirty="0"/>
          </a:p>
        </p:txBody>
      </p:sp>
      <p:sp>
        <p:nvSpPr>
          <p:cNvPr id="19" name="Shape 17"/>
          <p:cNvSpPr/>
          <p:nvPr/>
        </p:nvSpPr>
        <p:spPr>
          <a:xfrm>
            <a:off x="548640" y="3072384"/>
            <a:ext cx="201168" cy="201168"/>
          </a:xfrm>
          <a:prstGeom prst="rect">
            <a:avLst>
              <a:gd name="adj" fmla="val 13636"/>
            </a:avLst>
          </a:prstGeom>
          <a:solidFill>
            <a:srgbClr val="C0392B"/>
          </a:solidFill>
          <a:ln/>
        </p:spPr>
      </p:sp>
      <p:sp>
        <p:nvSpPr>
          <p:cNvPr id="20" name="Text 18"/>
          <p:cNvSpPr/>
          <p:nvPr/>
        </p:nvSpPr>
        <p:spPr>
          <a:xfrm>
            <a:off x="548640" y="307238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1" name="Text 19"/>
          <p:cNvSpPr/>
          <p:nvPr/>
        </p:nvSpPr>
        <p:spPr>
          <a:xfrm>
            <a:off x="914400" y="3017520"/>
            <a:ext cx="7772400" cy="384048"/>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Weeks 3-4: System integration. Combine subsystems incrementally. Interface verification at each step.</a:t>
            </a:r>
            <a:endParaRPr lang="en-US" sz="1000" dirty="0"/>
          </a:p>
        </p:txBody>
      </p:sp>
      <p:sp>
        <p:nvSpPr>
          <p:cNvPr id="22" name="Shape 20"/>
          <p:cNvSpPr/>
          <p:nvPr/>
        </p:nvSpPr>
        <p:spPr>
          <a:xfrm>
            <a:off x="548640" y="3575304"/>
            <a:ext cx="201168" cy="201168"/>
          </a:xfrm>
          <a:prstGeom prst="rect">
            <a:avLst>
              <a:gd name="adj" fmla="val 13636"/>
            </a:avLst>
          </a:prstGeom>
          <a:solidFill>
            <a:srgbClr val="C0392B"/>
          </a:solidFill>
          <a:ln/>
        </p:spPr>
      </p:sp>
      <p:sp>
        <p:nvSpPr>
          <p:cNvPr id="23" name="Text 21"/>
          <p:cNvSpPr/>
          <p:nvPr/>
        </p:nvSpPr>
        <p:spPr>
          <a:xfrm>
            <a:off x="548640" y="357530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4" name="Text 22"/>
          <p:cNvSpPr/>
          <p:nvPr/>
        </p:nvSpPr>
        <p:spPr>
          <a:xfrm>
            <a:off x="914400" y="3520440"/>
            <a:ext cx="7772400" cy="384048"/>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Weeks 4-5: System verification testing. Execute all test procedures. Update VCRM. Disposition any failures.</a:t>
            </a:r>
            <a:endParaRPr lang="en-US" sz="1000" dirty="0"/>
          </a:p>
        </p:txBody>
      </p:sp>
      <p:sp>
        <p:nvSpPr>
          <p:cNvPr id="25" name="Shape 23"/>
          <p:cNvSpPr/>
          <p:nvPr/>
        </p:nvSpPr>
        <p:spPr>
          <a:xfrm>
            <a:off x="548640" y="4078224"/>
            <a:ext cx="201168" cy="201168"/>
          </a:xfrm>
          <a:prstGeom prst="rect">
            <a:avLst>
              <a:gd name="adj" fmla="val 13636"/>
            </a:avLst>
          </a:prstGeom>
          <a:solidFill>
            <a:srgbClr val="C0392B"/>
          </a:solidFill>
          <a:ln/>
        </p:spPr>
      </p:sp>
      <p:sp>
        <p:nvSpPr>
          <p:cNvPr id="26" name="Text 24"/>
          <p:cNvSpPr/>
          <p:nvPr/>
        </p:nvSpPr>
        <p:spPr>
          <a:xfrm>
            <a:off x="548640" y="407822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27" name="Text 25"/>
          <p:cNvSpPr/>
          <p:nvPr/>
        </p:nvSpPr>
        <p:spPr>
          <a:xfrm>
            <a:off x="914400" y="4023360"/>
            <a:ext cx="7772400" cy="384048"/>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Before FDR: Complete VCRM. Compile evidence packages. Prepare integration summary for presentation.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Integration readiness checklist</a:t>
            </a:r>
            <a:endParaRPr lang="en-US" sz="2200" dirty="0"/>
          </a:p>
        </p:txBody>
      </p:sp>
      <p:sp>
        <p:nvSpPr>
          <p:cNvPr id="7" name="Text 5"/>
          <p:cNvSpPr/>
          <p:nvPr/>
        </p:nvSpPr>
        <p:spPr>
          <a:xfrm>
            <a:off x="548640" y="960120"/>
            <a:ext cx="7772400" cy="27432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Before you start integrating, verify ALL of the following:</a:t>
            </a:r>
            <a:endParaRPr lang="en-US" sz="1200" dirty="0"/>
          </a:p>
        </p:txBody>
      </p:sp>
      <p:pic>
        <p:nvPicPr>
          <p:cNvPr id="8" name="Image 0" descr="preencoded.png">    </p:cNvPr>
          <p:cNvPicPr>
            <a:picLocks noChangeAspect="1"/>
          </p:cNvPicPr>
          <p:nvPr/>
        </p:nvPicPr>
        <p:blipFill>
          <a:blip r:embed="rId1"/>
          <a:stretch>
            <a:fillRect/>
          </a:stretch>
        </p:blipFill>
        <p:spPr>
          <a:xfrm>
            <a:off x="457200" y="1298448"/>
            <a:ext cx="182880" cy="182880"/>
          </a:xfrm>
          <a:prstGeom prst="rect">
            <a:avLst/>
          </a:prstGeom>
        </p:spPr>
      </p:pic>
      <p:sp>
        <p:nvSpPr>
          <p:cNvPr id="9" name="Text 6"/>
          <p:cNvSpPr/>
          <p:nvPr/>
        </p:nvSpPr>
        <p:spPr>
          <a:xfrm>
            <a:off x="777240" y="128016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All components received and individually verified against specifications?</a:t>
            </a:r>
            <a:endParaRPr lang="en-US" sz="950" dirty="0"/>
          </a:p>
        </p:txBody>
      </p:sp>
      <p:pic>
        <p:nvPicPr>
          <p:cNvPr id="10" name="Image 1" descr="preencoded.png">    </p:cNvPr>
          <p:cNvPicPr>
            <a:picLocks noChangeAspect="1"/>
          </p:cNvPicPr>
          <p:nvPr/>
        </p:nvPicPr>
        <p:blipFill>
          <a:blip r:embed="rId2"/>
          <a:stretch>
            <a:fillRect/>
          </a:stretch>
        </p:blipFill>
        <p:spPr>
          <a:xfrm>
            <a:off x="457200" y="1572768"/>
            <a:ext cx="182880" cy="182880"/>
          </a:xfrm>
          <a:prstGeom prst="rect">
            <a:avLst/>
          </a:prstGeom>
        </p:spPr>
      </p:pic>
      <p:sp>
        <p:nvSpPr>
          <p:cNvPr id="11" name="Text 7"/>
          <p:cNvSpPr/>
          <p:nvPr/>
        </p:nvSpPr>
        <p:spPr>
          <a:xfrm>
            <a:off x="777240" y="155448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ICDs written for every interface with connector part numbers and pin assignments?</a:t>
            </a:r>
            <a:endParaRPr lang="en-US" sz="950" dirty="0"/>
          </a:p>
        </p:txBody>
      </p:sp>
      <p:pic>
        <p:nvPicPr>
          <p:cNvPr id="12" name="Image 2" descr="preencoded.png">    </p:cNvPr>
          <p:cNvPicPr>
            <a:picLocks noChangeAspect="1"/>
          </p:cNvPicPr>
          <p:nvPr/>
        </p:nvPicPr>
        <p:blipFill>
          <a:blip r:embed="rId3"/>
          <a:stretch>
            <a:fillRect/>
          </a:stretch>
        </p:blipFill>
        <p:spPr>
          <a:xfrm>
            <a:off x="457200" y="1847088"/>
            <a:ext cx="182880" cy="182880"/>
          </a:xfrm>
          <a:prstGeom prst="rect">
            <a:avLst/>
          </a:prstGeom>
        </p:spPr>
      </p:pic>
      <p:sp>
        <p:nvSpPr>
          <p:cNvPr id="13" name="Text 8"/>
          <p:cNvSpPr/>
          <p:nvPr/>
        </p:nvSpPr>
        <p:spPr>
          <a:xfrm>
            <a:off x="777240" y="182880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Integration sequence defined (which subsystem first, second, third)?</a:t>
            </a:r>
            <a:endParaRPr lang="en-US" sz="950" dirty="0"/>
          </a:p>
        </p:txBody>
      </p:sp>
      <p:pic>
        <p:nvPicPr>
          <p:cNvPr id="14" name="Image 3" descr="preencoded.png">    </p:cNvPr>
          <p:cNvPicPr>
            <a:picLocks noChangeAspect="1"/>
          </p:cNvPicPr>
          <p:nvPr/>
        </p:nvPicPr>
        <p:blipFill>
          <a:blip r:embed="rId4"/>
          <a:stretch>
            <a:fillRect/>
          </a:stretch>
        </p:blipFill>
        <p:spPr>
          <a:xfrm>
            <a:off x="457200" y="2121408"/>
            <a:ext cx="182880" cy="182880"/>
          </a:xfrm>
          <a:prstGeom prst="rect">
            <a:avLst/>
          </a:prstGeom>
        </p:spPr>
      </p:pic>
      <p:sp>
        <p:nvSpPr>
          <p:cNvPr id="15" name="Text 9"/>
          <p:cNvSpPr/>
          <p:nvPr/>
        </p:nvSpPr>
        <p:spPr>
          <a:xfrm>
            <a:off x="777240" y="210312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Test procedures written for each integration stage with pass/fail criteria?</a:t>
            </a:r>
            <a:endParaRPr lang="en-US" sz="950" dirty="0"/>
          </a:p>
        </p:txBody>
      </p:sp>
      <p:pic>
        <p:nvPicPr>
          <p:cNvPr id="16" name="Image 4" descr="preencoded.png">    </p:cNvPr>
          <p:cNvPicPr>
            <a:picLocks noChangeAspect="1"/>
          </p:cNvPicPr>
          <p:nvPr/>
        </p:nvPicPr>
        <p:blipFill>
          <a:blip r:embed="rId5"/>
          <a:stretch>
            <a:fillRect/>
          </a:stretch>
        </p:blipFill>
        <p:spPr>
          <a:xfrm>
            <a:off x="457200" y="2395728"/>
            <a:ext cx="182880" cy="182880"/>
          </a:xfrm>
          <a:prstGeom prst="rect">
            <a:avLst/>
          </a:prstGeom>
        </p:spPr>
      </p:pic>
      <p:sp>
        <p:nvSpPr>
          <p:cNvPr id="17" name="Text 10"/>
          <p:cNvSpPr/>
          <p:nvPr/>
        </p:nvSpPr>
        <p:spPr>
          <a:xfrm>
            <a:off x="777240" y="237744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Test equipment available and calibrated (oscilloscope, DMM, power supply)?</a:t>
            </a:r>
            <a:endParaRPr lang="en-US" sz="950" dirty="0"/>
          </a:p>
        </p:txBody>
      </p:sp>
      <p:pic>
        <p:nvPicPr>
          <p:cNvPr id="18" name="Image 5" descr="preencoded.png">    </p:cNvPr>
          <p:cNvPicPr>
            <a:picLocks noChangeAspect="1"/>
          </p:cNvPicPr>
          <p:nvPr/>
        </p:nvPicPr>
        <p:blipFill>
          <a:blip r:embed="rId6"/>
          <a:stretch>
            <a:fillRect/>
          </a:stretch>
        </p:blipFill>
        <p:spPr>
          <a:xfrm>
            <a:off x="457200" y="2670048"/>
            <a:ext cx="182880" cy="182880"/>
          </a:xfrm>
          <a:prstGeom prst="rect">
            <a:avLst/>
          </a:prstGeom>
        </p:spPr>
      </p:pic>
      <p:sp>
        <p:nvSpPr>
          <p:cNvPr id="19" name="Text 11"/>
          <p:cNvSpPr/>
          <p:nvPr/>
        </p:nvSpPr>
        <p:spPr>
          <a:xfrm>
            <a:off x="777240" y="265176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Version control set up (Git repo, BOM revision, drawing revision)?</a:t>
            </a:r>
            <a:endParaRPr lang="en-US" sz="950" dirty="0"/>
          </a:p>
        </p:txBody>
      </p:sp>
      <p:pic>
        <p:nvPicPr>
          <p:cNvPr id="20" name="Image 6" descr="preencoded.png">    </p:cNvPr>
          <p:cNvPicPr>
            <a:picLocks noChangeAspect="1"/>
          </p:cNvPicPr>
          <p:nvPr/>
        </p:nvPicPr>
        <p:blipFill>
          <a:blip r:embed="rId7"/>
          <a:stretch>
            <a:fillRect/>
          </a:stretch>
        </p:blipFill>
        <p:spPr>
          <a:xfrm>
            <a:off x="457200" y="2944368"/>
            <a:ext cx="182880" cy="182880"/>
          </a:xfrm>
          <a:prstGeom prst="rect">
            <a:avLst/>
          </a:prstGeom>
        </p:spPr>
      </p:pic>
      <p:sp>
        <p:nvSpPr>
          <p:cNvPr id="21" name="Text 12"/>
          <p:cNvSpPr/>
          <p:nvPr/>
        </p:nvSpPr>
        <p:spPr>
          <a:xfrm>
            <a:off x="777240" y="292608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Integration log template ready (date, change, test, result columns)?</a:t>
            </a:r>
            <a:endParaRPr lang="en-US" sz="950" dirty="0"/>
          </a:p>
        </p:txBody>
      </p:sp>
      <p:pic>
        <p:nvPicPr>
          <p:cNvPr id="22" name="Image 7" descr="preencoded.png">    </p:cNvPr>
          <p:cNvPicPr>
            <a:picLocks noChangeAspect="1"/>
          </p:cNvPicPr>
          <p:nvPr/>
        </p:nvPicPr>
        <p:blipFill>
          <a:blip r:embed="rId8"/>
          <a:stretch>
            <a:fillRect/>
          </a:stretch>
        </p:blipFill>
        <p:spPr>
          <a:xfrm>
            <a:off x="457200" y="3218688"/>
            <a:ext cx="182880" cy="182880"/>
          </a:xfrm>
          <a:prstGeom prst="rect">
            <a:avLst/>
          </a:prstGeom>
        </p:spPr>
      </p:pic>
      <p:sp>
        <p:nvSpPr>
          <p:cNvPr id="23" name="Text 13"/>
          <p:cNvSpPr/>
          <p:nvPr/>
        </p:nvSpPr>
        <p:spPr>
          <a:xfrm>
            <a:off x="777240" y="320040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Team roles assigned (who integrates, who tests, who documents)?</a:t>
            </a:r>
            <a:endParaRPr lang="en-US" sz="950" dirty="0"/>
          </a:p>
        </p:txBody>
      </p:sp>
      <p:pic>
        <p:nvPicPr>
          <p:cNvPr id="24" name="Image 8" descr="preencoded.png">    </p:cNvPr>
          <p:cNvPicPr>
            <a:picLocks noChangeAspect="1"/>
          </p:cNvPicPr>
          <p:nvPr/>
        </p:nvPicPr>
        <p:blipFill>
          <a:blip r:embed="rId9"/>
          <a:stretch>
            <a:fillRect/>
          </a:stretch>
        </p:blipFill>
        <p:spPr>
          <a:xfrm>
            <a:off x="457200" y="3493008"/>
            <a:ext cx="182880" cy="182880"/>
          </a:xfrm>
          <a:prstGeom prst="rect">
            <a:avLst/>
          </a:prstGeom>
        </p:spPr>
      </p:pic>
      <p:sp>
        <p:nvSpPr>
          <p:cNvPr id="25" name="Text 14"/>
          <p:cNvSpPr/>
          <p:nvPr/>
        </p:nvSpPr>
        <p:spPr>
          <a:xfrm>
            <a:off x="777240" y="347472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Schedule has 30-40% buffer for unexpected problems?</a:t>
            </a:r>
            <a:endParaRPr lang="en-US" sz="950" dirty="0"/>
          </a:p>
        </p:txBody>
      </p:sp>
      <p:pic>
        <p:nvPicPr>
          <p:cNvPr id="26" name="Image 9" descr="preencoded.png">    </p:cNvPr>
          <p:cNvPicPr>
            <a:picLocks noChangeAspect="1"/>
          </p:cNvPicPr>
          <p:nvPr/>
        </p:nvPicPr>
        <p:blipFill>
          <a:blip r:embed="rId10"/>
          <a:stretch>
            <a:fillRect/>
          </a:stretch>
        </p:blipFill>
        <p:spPr>
          <a:xfrm>
            <a:off x="457200" y="3767328"/>
            <a:ext cx="182880" cy="182880"/>
          </a:xfrm>
          <a:prstGeom prst="rect">
            <a:avLst/>
          </a:prstGeom>
        </p:spPr>
      </p:pic>
      <p:sp>
        <p:nvSpPr>
          <p:cNvPr id="27" name="Text 15"/>
          <p:cNvSpPr/>
          <p:nvPr/>
        </p:nvSpPr>
        <p:spPr>
          <a:xfrm>
            <a:off x="777240" y="374904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Backup plan: what if the highest-risk interface fails?</a:t>
            </a:r>
            <a:endParaRPr lang="en-US" sz="950" dirty="0"/>
          </a:p>
        </p:txBody>
      </p:sp>
      <p:pic>
        <p:nvPicPr>
          <p:cNvPr id="28" name="Image 10" descr="preencoded.png">    </p:cNvPr>
          <p:cNvPicPr>
            <a:picLocks noChangeAspect="1"/>
          </p:cNvPicPr>
          <p:nvPr/>
        </p:nvPicPr>
        <p:blipFill>
          <a:blip r:embed="rId11"/>
          <a:stretch>
            <a:fillRect/>
          </a:stretch>
        </p:blipFill>
        <p:spPr>
          <a:xfrm>
            <a:off x="457200" y="4041648"/>
            <a:ext cx="182880" cy="182880"/>
          </a:xfrm>
          <a:prstGeom prst="rect">
            <a:avLst/>
          </a:prstGeom>
        </p:spPr>
      </p:pic>
      <p:sp>
        <p:nvSpPr>
          <p:cNvPr id="29" name="Text 16"/>
          <p:cNvSpPr/>
          <p:nvPr/>
        </p:nvSpPr>
        <p:spPr>
          <a:xfrm>
            <a:off x="777240" y="402336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Safety review: any high-voltage, high-pressure, or moving parts require PPE?</a:t>
            </a:r>
            <a:endParaRPr lang="en-US" sz="950" dirty="0"/>
          </a:p>
        </p:txBody>
      </p:sp>
      <p:pic>
        <p:nvPicPr>
          <p:cNvPr id="30" name="Image 11" descr="preencoded.png">    </p:cNvPr>
          <p:cNvPicPr>
            <a:picLocks noChangeAspect="1"/>
          </p:cNvPicPr>
          <p:nvPr/>
        </p:nvPicPr>
        <p:blipFill>
          <a:blip r:embed="rId12"/>
          <a:stretch>
            <a:fillRect/>
          </a:stretch>
        </p:blipFill>
        <p:spPr>
          <a:xfrm>
            <a:off x="457200" y="4315968"/>
            <a:ext cx="182880" cy="182880"/>
          </a:xfrm>
          <a:prstGeom prst="rect">
            <a:avLst/>
          </a:prstGeom>
        </p:spPr>
      </p:pic>
      <p:sp>
        <p:nvSpPr>
          <p:cNvPr id="31" name="Text 17"/>
          <p:cNvSpPr/>
          <p:nvPr/>
        </p:nvSpPr>
        <p:spPr>
          <a:xfrm>
            <a:off x="777240" y="429768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Workspace organized: adequate bench space, lighting, tool access?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Integration anti-patterns</a:t>
            </a:r>
            <a:endParaRPr lang="en-US" sz="2200" dirty="0"/>
          </a:p>
        </p:txBody>
      </p:sp>
      <p:pic>
        <p:nvPicPr>
          <p:cNvPr id="7" name="Image 0" descr="preencoded.png">    </p:cNvPr>
          <p:cNvPicPr>
            <a:picLocks noChangeAspect="1"/>
          </p:cNvPicPr>
          <p:nvPr/>
        </p:nvPicPr>
        <p:blipFill>
          <a:blip r:embed="rId1"/>
          <a:stretch>
            <a:fillRect/>
          </a:stretch>
        </p:blipFill>
        <p:spPr>
          <a:xfrm>
            <a:off x="457200" y="1051560"/>
            <a:ext cx="256032" cy="256032"/>
          </a:xfrm>
          <a:prstGeom prst="rect">
            <a:avLst/>
          </a:prstGeom>
        </p:spPr>
      </p:pic>
      <p:sp>
        <p:nvSpPr>
          <p:cNvPr id="8" name="Text 5"/>
          <p:cNvSpPr/>
          <p:nvPr/>
        </p:nvSpPr>
        <p:spPr>
          <a:xfrm>
            <a:off x="914400" y="9601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'Big-bang assembly' — connecting everything at once. When it doesn't work, you cannot isolate the problem. Add one module at a time and test after each addition.</a:t>
            </a:r>
            <a:endParaRPr lang="en-US" sz="1000" dirty="0"/>
          </a:p>
        </p:txBody>
      </p:sp>
      <p:pic>
        <p:nvPicPr>
          <p:cNvPr id="9" name="Image 1" descr="preencoded.png">    </p:cNvPr>
          <p:cNvPicPr>
            <a:picLocks noChangeAspect="1"/>
          </p:cNvPicPr>
          <p:nvPr/>
        </p:nvPicPr>
        <p:blipFill>
          <a:blip r:embed="rId2"/>
          <a:stretch>
            <a:fillRect/>
          </a:stretch>
        </p:blipFill>
        <p:spPr>
          <a:xfrm>
            <a:off x="457200" y="1645920"/>
            <a:ext cx="256032" cy="256032"/>
          </a:xfrm>
          <a:prstGeom prst="rect">
            <a:avLst/>
          </a:prstGeom>
        </p:spPr>
      </p:pic>
      <p:sp>
        <p:nvSpPr>
          <p:cNvPr id="10" name="Text 6"/>
          <p:cNvSpPr/>
          <p:nvPr/>
        </p:nvSpPr>
        <p:spPr>
          <a:xfrm>
            <a:off x="914400" y="155448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'It worked on my bench' — a component verified in isolation fails in the system. Cause: shared grounds, timing conflicts, loading effects. Test interfaces, not just components.</a:t>
            </a:r>
            <a:endParaRPr lang="en-US" sz="1000" dirty="0"/>
          </a:p>
        </p:txBody>
      </p:sp>
      <p:pic>
        <p:nvPicPr>
          <p:cNvPr id="11" name="Image 2" descr="preencoded.png">    </p:cNvPr>
          <p:cNvPicPr>
            <a:picLocks noChangeAspect="1"/>
          </p:cNvPicPr>
          <p:nvPr/>
        </p:nvPicPr>
        <p:blipFill>
          <a:blip r:embed="rId3"/>
          <a:stretch>
            <a:fillRect/>
          </a:stretch>
        </p:blipFill>
        <p:spPr>
          <a:xfrm>
            <a:off x="457200" y="2240280"/>
            <a:ext cx="256032" cy="256032"/>
          </a:xfrm>
          <a:prstGeom prst="rect">
            <a:avLst/>
          </a:prstGeom>
        </p:spPr>
      </p:pic>
      <p:sp>
        <p:nvSpPr>
          <p:cNvPr id="12" name="Text 7"/>
          <p:cNvSpPr/>
          <p:nvPr/>
        </p:nvSpPr>
        <p:spPr>
          <a:xfrm>
            <a:off x="914400" y="214884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'Fix it in software' — using code to work around hardware interface problems. The software fix masks the real issue, creates fragile dependencies, and fails unpredictably.</a:t>
            </a:r>
            <a:endParaRPr lang="en-US" sz="1000" dirty="0"/>
          </a:p>
        </p:txBody>
      </p:sp>
      <p:pic>
        <p:nvPicPr>
          <p:cNvPr id="13" name="Image 3" descr="preencoded.png">    </p:cNvPr>
          <p:cNvPicPr>
            <a:picLocks noChangeAspect="1"/>
          </p:cNvPicPr>
          <p:nvPr/>
        </p:nvPicPr>
        <p:blipFill>
          <a:blip r:embed="rId4"/>
          <a:stretch>
            <a:fillRect/>
          </a:stretch>
        </p:blipFill>
        <p:spPr>
          <a:xfrm>
            <a:off x="457200" y="2834640"/>
            <a:ext cx="256032" cy="256032"/>
          </a:xfrm>
          <a:prstGeom prst="rect">
            <a:avLst/>
          </a:prstGeom>
        </p:spPr>
      </p:pic>
      <p:sp>
        <p:nvSpPr>
          <p:cNvPr id="14" name="Text 8"/>
          <p:cNvSpPr/>
          <p:nvPr/>
        </p:nvSpPr>
        <p:spPr>
          <a:xfrm>
            <a:off x="914400" y="274320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'Undocumented changes' — modifying the system without updating drawings, BOM, or code. 'I'll fix the docs later' never happens. Change the documentation when you change the system.</a:t>
            </a:r>
            <a:endParaRPr lang="en-US" sz="1000" dirty="0"/>
          </a:p>
        </p:txBody>
      </p:sp>
      <p:pic>
        <p:nvPicPr>
          <p:cNvPr id="15" name="Image 4" descr="preencoded.png">    </p:cNvPr>
          <p:cNvPicPr>
            <a:picLocks noChangeAspect="1"/>
          </p:cNvPicPr>
          <p:nvPr/>
        </p:nvPicPr>
        <p:blipFill>
          <a:blip r:embed="rId5"/>
          <a:stretch>
            <a:fillRect/>
          </a:stretch>
        </p:blipFill>
        <p:spPr>
          <a:xfrm>
            <a:off x="457200" y="3429000"/>
            <a:ext cx="256032" cy="256032"/>
          </a:xfrm>
          <a:prstGeom prst="rect">
            <a:avLst/>
          </a:prstGeom>
        </p:spPr>
      </p:pic>
      <p:sp>
        <p:nvSpPr>
          <p:cNvPr id="16" name="Text 9"/>
          <p:cNvSpPr/>
          <p:nvPr/>
        </p:nvSpPr>
        <p:spPr>
          <a:xfrm>
            <a:off x="914400" y="333756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'Testing optional' — skipping integration tests because 'we're running out of time.' You're not saving time — you're borrowing it. The bugs will surface during FDR demonstration instead.</a:t>
            </a:r>
            <a:endParaRPr lang="en-US" sz="1000" dirty="0"/>
          </a:p>
        </p:txBody>
      </p:sp>
      <p:pic>
        <p:nvPicPr>
          <p:cNvPr id="17" name="Image 5" descr="preencoded.png">    </p:cNvPr>
          <p:cNvPicPr>
            <a:picLocks noChangeAspect="1"/>
          </p:cNvPicPr>
          <p:nvPr/>
        </p:nvPicPr>
        <p:blipFill>
          <a:blip r:embed="rId6"/>
          <a:stretch>
            <a:fillRect/>
          </a:stretch>
        </p:blipFill>
        <p:spPr>
          <a:xfrm>
            <a:off x="457200" y="4023360"/>
            <a:ext cx="256032" cy="256032"/>
          </a:xfrm>
          <a:prstGeom prst="rect">
            <a:avLst/>
          </a:prstGeom>
        </p:spPr>
      </p:pic>
      <p:sp>
        <p:nvSpPr>
          <p:cNvPr id="18" name="Text 10"/>
          <p:cNvSpPr/>
          <p:nvPr/>
        </p:nvSpPr>
        <p:spPr>
          <a:xfrm>
            <a:off x="914400" y="39319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'One person integrates alone' — no witness, no documentation, no reproducibility. Integration should always have two people: one to work, one to document and observe.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Regression testing and continuous verification</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What Is Regression Testing?</a:t>
            </a:r>
            <a:endParaRPr lang="en-US" sz="1200" dirty="0"/>
          </a:p>
        </p:txBody>
      </p:sp>
      <p:sp>
        <p:nvSpPr>
          <p:cNvPr id="9" name="Text 7"/>
          <p:cNvSpPr/>
          <p:nvPr/>
        </p:nvSpPr>
        <p:spPr>
          <a:xfrm>
            <a:off x="2926080" y="96012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After ANY change to the system — hardware, software, firmware, configuration — re-run the tests that previously passed to confirm the change did not break something that was working. A fix that creates a new bug is not a fix.</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When to Regress</a:t>
            </a:r>
            <a:endParaRPr lang="en-US" sz="1200" dirty="0"/>
          </a:p>
        </p:txBody>
      </p:sp>
      <p:sp>
        <p:nvSpPr>
          <p:cNvPr id="12" name="Text 10"/>
          <p:cNvSpPr/>
          <p:nvPr/>
        </p:nvSpPr>
        <p:spPr>
          <a:xfrm>
            <a:off x="2926080" y="182880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After every bug fix. After every component substitution. After every firmware update. After every mechanical modification. After every environmental exposure (drop test, thermal cycling). The question is always: did the change affect anything else?</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Minimum Regression Suite</a:t>
            </a:r>
            <a:endParaRPr lang="en-US" sz="1200" dirty="0"/>
          </a:p>
        </p:txBody>
      </p:sp>
      <p:sp>
        <p:nvSpPr>
          <p:cNvPr id="15" name="Text 13"/>
          <p:cNvSpPr/>
          <p:nvPr/>
        </p:nvSpPr>
        <p:spPr>
          <a:xfrm>
            <a:off x="2926080" y="269748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Define a 'smoke test' suite of 5-10 critical tests that exercise every major function. This suite runs in 30-60 minutes and catches 80% of regressions. Run it after every change. The full test suite runs at milestones.</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Automation</a:t>
            </a:r>
            <a:endParaRPr lang="en-US" sz="1200" dirty="0"/>
          </a:p>
        </p:txBody>
      </p:sp>
      <p:sp>
        <p:nvSpPr>
          <p:cNvPr id="18" name="Text 16"/>
          <p:cNvSpPr/>
          <p:nvPr/>
        </p:nvSpPr>
        <p:spPr>
          <a:xfrm>
            <a:off x="2926080" y="356616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For software-heavy systems, automate regression tests. A script that runs on every Git commit catches bugs within minutes of introduction. For hardware, maintain a checklist that the tester runs through every time.</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Integration documentation for FDR</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Integration Log</a:t>
            </a:r>
            <a:endParaRPr lang="en-US" sz="1200" dirty="0"/>
          </a:p>
        </p:txBody>
      </p:sp>
      <p:sp>
        <p:nvSpPr>
          <p:cNvPr id="9" name="Text 7"/>
          <p:cNvSpPr/>
          <p:nvPr/>
        </p:nvSpPr>
        <p:spPr>
          <a:xfrm>
            <a:off x="2743200" y="96012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Chronological record of every integration step: date, what was added, what was tested, results, anomalies, corrective actions. This is your primary evidence of a systematic process.</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Updated VCRM</a:t>
            </a:r>
            <a:endParaRPr lang="en-US" sz="1200" dirty="0"/>
          </a:p>
        </p:txBody>
      </p:sp>
      <p:sp>
        <p:nvSpPr>
          <p:cNvPr id="12" name="Text 10"/>
          <p:cNvSpPr/>
          <p:nvPr/>
        </p:nvSpPr>
        <p:spPr>
          <a:xfrm>
            <a:off x="2743200" y="182880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The verification cross-reference matrix updated with all test results. Every requirement shows: method, test procedure ID, date tested, result, evidence reference. No gaps.</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As-Built Documentation</a:t>
            </a:r>
            <a:endParaRPr lang="en-US" sz="1200" dirty="0"/>
          </a:p>
        </p:txBody>
      </p:sp>
      <p:sp>
        <p:nvSpPr>
          <p:cNvPr id="15" name="Text 13"/>
          <p:cNvSpPr/>
          <p:nvPr/>
        </p:nvSpPr>
        <p:spPr>
          <a:xfrm>
            <a:off x="2743200" y="269748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The system as actually delivered — not as designed. Includes final BOM (with actual part numbers and serial numbers), final firmware version, final CAD revision, and any deviations from the design baseline.</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Lessons Learned</a:t>
            </a:r>
            <a:endParaRPr lang="en-US" sz="1200" dirty="0"/>
          </a:p>
        </p:txBody>
      </p:sp>
      <p:sp>
        <p:nvSpPr>
          <p:cNvPr id="18" name="Text 16"/>
          <p:cNvSpPr/>
          <p:nvPr/>
        </p:nvSpPr>
        <p:spPr>
          <a:xfrm>
            <a:off x="2743200" y="356616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What worked, what didn't, what you would do differently. This is the document future teams will value most. Be honest about failures — they teach more than successes.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Key takeaways</a:t>
            </a:r>
            <a:endParaRPr lang="en-US" sz="2400" dirty="0"/>
          </a:p>
        </p:txBody>
      </p:sp>
      <p:sp>
        <p:nvSpPr>
          <p:cNvPr id="7" name="Shape 5"/>
          <p:cNvSpPr/>
          <p:nvPr/>
        </p:nvSpPr>
        <p:spPr>
          <a:xfrm>
            <a:off x="457200" y="1005840"/>
            <a:ext cx="73152" cy="502920"/>
          </a:xfrm>
          <a:prstGeom prst="rect">
            <a:avLst/>
          </a:prstGeom>
          <a:solidFill>
            <a:srgbClr val="C0392B"/>
          </a:solidFill>
          <a:ln/>
        </p:spPr>
      </p:sp>
      <p:sp>
        <p:nvSpPr>
          <p:cNvPr id="8" name="Text 6"/>
          <p:cNvSpPr/>
          <p:nvPr/>
        </p:nvSpPr>
        <p:spPr>
          <a:xfrm>
            <a:off x="685800" y="1005840"/>
            <a:ext cx="320040" cy="502920"/>
          </a:xfrm>
          <a:prstGeom prst="rect">
            <a:avLst/>
          </a:prstGeom>
          <a:noFill/>
          <a:ln/>
        </p:spPr>
        <p:txBody>
          <a:bodyPr wrap="square" rtlCol="0" anchor="ctr"/>
          <a:lstStyle/>
          <a:p>
            <a:pPr indent="0" marL="0">
              <a:buNone/>
            </a:pPr>
            <a:r>
              <a:rPr lang="en-US" sz="1400" b="1" dirty="0">
                <a:solidFill>
                  <a:srgbClr val="C0392B"/>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1051560" y="1005840"/>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Bottom-up integration: verify components → integrate subsystems → combine into system. Add one module at a time and test after each addition. Never big-bang.</a:t>
            </a:r>
            <a:endParaRPr lang="en-US" sz="1100" dirty="0"/>
          </a:p>
        </p:txBody>
      </p:sp>
      <p:sp>
        <p:nvSpPr>
          <p:cNvPr id="10" name="Shape 8"/>
          <p:cNvSpPr/>
          <p:nvPr/>
        </p:nvSpPr>
        <p:spPr>
          <a:xfrm>
            <a:off x="457200" y="1664208"/>
            <a:ext cx="73152" cy="502920"/>
          </a:xfrm>
          <a:prstGeom prst="rect">
            <a:avLst/>
          </a:prstGeom>
          <a:solidFill>
            <a:srgbClr val="2980B9"/>
          </a:solidFill>
          <a:ln/>
        </p:spPr>
      </p:sp>
      <p:sp>
        <p:nvSpPr>
          <p:cNvPr id="11" name="Text 9"/>
          <p:cNvSpPr/>
          <p:nvPr/>
        </p:nvSpPr>
        <p:spPr>
          <a:xfrm>
            <a:off x="685800" y="1664208"/>
            <a:ext cx="320040" cy="502920"/>
          </a:xfrm>
          <a:prstGeom prst="rect">
            <a:avLst/>
          </a:prstGeom>
          <a:noFill/>
          <a:ln/>
        </p:spPr>
        <p:txBody>
          <a:bodyPr wrap="square" rtlCol="0" anchor="ctr"/>
          <a:lstStyle/>
          <a:p>
            <a:pPr indent="0" marL="0">
              <a:buNone/>
            </a:pPr>
            <a:r>
              <a:rPr lang="en-US" sz="1400" b="1" dirty="0">
                <a:solidFill>
                  <a:srgbClr val="2980B9"/>
                </a:solidFill>
                <a:latin typeface="Georgia" pitchFamily="34" charset="0"/>
                <a:ea typeface="Georgia" pitchFamily="34" charset="-122"/>
                <a:cs typeface="Georgia" pitchFamily="34" charset="-120"/>
              </a:rPr>
              <a:t>(2)</a:t>
            </a:r>
            <a:endParaRPr lang="en-US" sz="1400" dirty="0"/>
          </a:p>
        </p:txBody>
      </p:sp>
      <p:sp>
        <p:nvSpPr>
          <p:cNvPr id="12" name="Text 10"/>
          <p:cNvSpPr/>
          <p:nvPr/>
        </p:nvSpPr>
        <p:spPr>
          <a:xfrm>
            <a:off x="1051560" y="1664208"/>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80% of integration failures are interface problems. Define every interface in an ICD before building. Test interfaces before system integration.</a:t>
            </a:r>
            <a:endParaRPr lang="en-US" sz="1100" dirty="0"/>
          </a:p>
        </p:txBody>
      </p:sp>
      <p:sp>
        <p:nvSpPr>
          <p:cNvPr id="13" name="Shape 11"/>
          <p:cNvSpPr/>
          <p:nvPr/>
        </p:nvSpPr>
        <p:spPr>
          <a:xfrm>
            <a:off x="457200" y="2322576"/>
            <a:ext cx="73152" cy="502920"/>
          </a:xfrm>
          <a:prstGeom prst="rect">
            <a:avLst/>
          </a:prstGeom>
          <a:solidFill>
            <a:srgbClr val="27AE60"/>
          </a:solidFill>
          <a:ln/>
        </p:spPr>
      </p:sp>
      <p:sp>
        <p:nvSpPr>
          <p:cNvPr id="14" name="Text 12"/>
          <p:cNvSpPr/>
          <p:nvPr/>
        </p:nvSpPr>
        <p:spPr>
          <a:xfrm>
            <a:off x="685800" y="2322576"/>
            <a:ext cx="320040" cy="502920"/>
          </a:xfrm>
          <a:prstGeom prst="rect">
            <a:avLst/>
          </a:prstGeom>
          <a:noFill/>
          <a:ln/>
        </p:spPr>
        <p:txBody>
          <a:bodyPr wrap="square" rtlCol="0" anchor="ctr"/>
          <a:lstStyle/>
          <a:p>
            <a:pPr indent="0" marL="0">
              <a:buNone/>
            </a:pPr>
            <a:r>
              <a:rPr lang="en-US" sz="1400" b="1" dirty="0">
                <a:solidFill>
                  <a:srgbClr val="27AE60"/>
                </a:solidFill>
                <a:latin typeface="Georgia" pitchFamily="34" charset="0"/>
                <a:ea typeface="Georgia" pitchFamily="34" charset="-122"/>
                <a:cs typeface="Georgia" pitchFamily="34" charset="-120"/>
              </a:rPr>
              <a:t>(3)</a:t>
            </a:r>
            <a:endParaRPr lang="en-US" sz="1400" dirty="0"/>
          </a:p>
        </p:txBody>
      </p:sp>
      <p:sp>
        <p:nvSpPr>
          <p:cNvPr id="15" name="Text 13"/>
          <p:cNvSpPr/>
          <p:nvPr/>
        </p:nvSpPr>
        <p:spPr>
          <a:xfrm>
            <a:off x="1051560" y="2322576"/>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Systematic debugging: reproduce → isolate → characterize → root-cause → verify fix. Change ONE variable at a time. Document every step.</a:t>
            </a:r>
            <a:endParaRPr lang="en-US" sz="1100" dirty="0"/>
          </a:p>
        </p:txBody>
      </p:sp>
      <p:sp>
        <p:nvSpPr>
          <p:cNvPr id="16" name="Shape 14"/>
          <p:cNvSpPr/>
          <p:nvPr/>
        </p:nvSpPr>
        <p:spPr>
          <a:xfrm>
            <a:off x="457200" y="2980944"/>
            <a:ext cx="73152" cy="502920"/>
          </a:xfrm>
          <a:prstGeom prst="rect">
            <a:avLst/>
          </a:prstGeom>
          <a:solidFill>
            <a:srgbClr val="D35400"/>
          </a:solidFill>
          <a:ln/>
        </p:spPr>
      </p:sp>
      <p:sp>
        <p:nvSpPr>
          <p:cNvPr id="17" name="Text 15"/>
          <p:cNvSpPr/>
          <p:nvPr/>
        </p:nvSpPr>
        <p:spPr>
          <a:xfrm>
            <a:off x="685800" y="2980944"/>
            <a:ext cx="320040" cy="502920"/>
          </a:xfrm>
          <a:prstGeom prst="rect">
            <a:avLst/>
          </a:prstGeom>
          <a:noFill/>
          <a:ln/>
        </p:spPr>
        <p:txBody>
          <a:bodyPr wrap="square" rtlCol="0" anchor="ctr"/>
          <a:lstStyle/>
          <a:p>
            <a:pPr indent="0" marL="0">
              <a:buNone/>
            </a:pPr>
            <a:r>
              <a:rPr lang="en-US" sz="1400" b="1" dirty="0">
                <a:solidFill>
                  <a:srgbClr val="D35400"/>
                </a:solidFill>
                <a:latin typeface="Georgia" pitchFamily="34" charset="0"/>
                <a:ea typeface="Georgia" pitchFamily="34" charset="-122"/>
                <a:cs typeface="Georgia" pitchFamily="34" charset="-120"/>
              </a:rPr>
              <a:t>(4)</a:t>
            </a:r>
            <a:endParaRPr lang="en-US" sz="1400" dirty="0"/>
          </a:p>
        </p:txBody>
      </p:sp>
      <p:sp>
        <p:nvSpPr>
          <p:cNvPr id="18" name="Text 16"/>
          <p:cNvSpPr/>
          <p:nvPr/>
        </p:nvSpPr>
        <p:spPr>
          <a:xfrm>
            <a:off x="1051560" y="2980944"/>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Configuration management: version-control code (Git), version BOMs, revision drawings, and record build configurations. Know what you built.</a:t>
            </a:r>
            <a:endParaRPr lang="en-US" sz="1100" dirty="0"/>
          </a:p>
        </p:txBody>
      </p:sp>
      <p:sp>
        <p:nvSpPr>
          <p:cNvPr id="19" name="Shape 17"/>
          <p:cNvSpPr/>
          <p:nvPr/>
        </p:nvSpPr>
        <p:spPr>
          <a:xfrm>
            <a:off x="457200" y="3639312"/>
            <a:ext cx="73152" cy="502920"/>
          </a:xfrm>
          <a:prstGeom prst="rect">
            <a:avLst/>
          </a:prstGeom>
          <a:solidFill>
            <a:srgbClr val="1B2A4A"/>
          </a:solidFill>
          <a:ln/>
        </p:spPr>
      </p:sp>
      <p:sp>
        <p:nvSpPr>
          <p:cNvPr id="20" name="Text 18"/>
          <p:cNvSpPr/>
          <p:nvPr/>
        </p:nvSpPr>
        <p:spPr>
          <a:xfrm>
            <a:off x="685800" y="3639312"/>
            <a:ext cx="320040" cy="5029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(5)</a:t>
            </a:r>
            <a:endParaRPr lang="en-US" sz="1400" dirty="0"/>
          </a:p>
        </p:txBody>
      </p:sp>
      <p:sp>
        <p:nvSpPr>
          <p:cNvPr id="21" name="Text 19"/>
          <p:cNvSpPr/>
          <p:nvPr/>
        </p:nvSpPr>
        <p:spPr>
          <a:xfrm>
            <a:off x="1051560" y="3639312"/>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Allocate 30-40% of your schedule for integration and testing. Plan for regression testing after every change. Integration always takes longer than expected.</a:t>
            </a:r>
            <a:endParaRPr lang="en-US" sz="1100" dirty="0"/>
          </a:p>
        </p:txBody>
      </p:sp>
      <p:sp>
        <p:nvSpPr>
          <p:cNvPr id="22" name="Text 20"/>
          <p:cNvSpPr/>
          <p:nvPr/>
        </p:nvSpPr>
        <p:spPr>
          <a:xfrm>
            <a:off x="457200" y="4434840"/>
            <a:ext cx="8229600" cy="182880"/>
          </a:xfrm>
          <a:prstGeom prst="rect">
            <a:avLst/>
          </a:prstGeom>
          <a:noFill/>
          <a:ln/>
        </p:spPr>
        <p:txBody>
          <a:bodyPr wrap="square" rtlCol="0" anchor="ctr"/>
          <a:lstStyle/>
          <a:p>
            <a:pPr indent="0" marL="0">
              <a:buNone/>
            </a:pPr>
            <a:r>
              <a:rPr lang="en-US" sz="800" dirty="0">
                <a:solidFill>
                  <a:srgbClr val="7A7469"/>
                </a:solidFill>
                <a:latin typeface="Calibri" pitchFamily="34" charset="0"/>
                <a:ea typeface="Calibri" pitchFamily="34" charset="-122"/>
                <a:cs typeface="Calibri" pitchFamily="34" charset="-120"/>
              </a:rPr>
              <a:t>References: [1] INCOSE SE Handbook, 4th ed., 2015.  [2] NASA SP-2016-6105 Rev 2.  [3] Pressman, Software Engineering, 9th ed., 2019.  [4] IEEE 828: Configuration Management Planning.</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1371600"/>
            <a:ext cx="731520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Subsystem Integration</a:t>
            </a:r>
            <a:endParaRPr lang="en-US" sz="3600" dirty="0"/>
          </a:p>
        </p:txBody>
      </p:sp>
      <p:sp>
        <p:nvSpPr>
          <p:cNvPr id="5" name="Text 3"/>
          <p:cNvSpPr/>
          <p:nvPr/>
        </p:nvSpPr>
        <p:spPr>
          <a:xfrm>
            <a:off x="548640" y="2286000"/>
            <a:ext cx="7315200" cy="1645920"/>
          </a:xfrm>
          <a:prstGeom prst="rect">
            <a:avLst/>
          </a:prstGeom>
          <a:noFill/>
          <a:ln/>
        </p:spPr>
        <p:txBody>
          <a:bodyPr wrap="square" rtlCol="0" anchor="ctr"/>
          <a:lstStyle/>
          <a:p>
            <a:pPr indent="0" marL="0">
              <a:lnSpc>
                <a:spcPct val="130000"/>
              </a:lnSpc>
              <a:buNone/>
            </a:pPr>
            <a:r>
              <a:rPr lang="en-US" sz="1600" dirty="0">
                <a:solidFill>
                  <a:srgbClr val="D0CCC6"/>
                </a:solidFill>
                <a:latin typeface="Calibri" pitchFamily="34" charset="0"/>
                <a:ea typeface="Calibri" pitchFamily="34" charset="-122"/>
                <a:cs typeface="Calibri" pitchFamily="34" charset="-120"/>
              </a:rPr>
              <a:t>"Integration is not assembly — it is verification."</a:t>
            </a:r>
            <a:endParaRPr lang="en-US" sz="1600" dirty="0"/>
          </a:p>
          <a:p>
            <a:pPr indent="0" marL="0">
              <a:lnSpc>
                <a:spcPct val="130000"/>
              </a:lnSpc>
              <a:buNone/>
            </a:pPr>
            <a:endParaRPr lang="en-US" sz="1600" dirty="0"/>
          </a:p>
          <a:p>
            <a:pPr indent="0" marL="0">
              <a:lnSpc>
                <a:spcPct val="130000"/>
              </a:lnSpc>
              <a:buNone/>
            </a:pPr>
            <a:r>
              <a:rPr lang="en-US" sz="1600" dirty="0">
                <a:solidFill>
                  <a:srgbClr val="D0CCC6"/>
                </a:solidFill>
                <a:latin typeface="Calibri" pitchFamily="34" charset="0"/>
                <a:ea typeface="Calibri" pitchFamily="34" charset="-122"/>
                <a:cs typeface="Calibri" pitchFamily="34" charset="-120"/>
              </a:rPr>
              <a:t>Every module you add is a hypothesis:</a:t>
            </a:r>
            <a:endParaRPr lang="en-US" sz="1600" dirty="0"/>
          </a:p>
          <a:p>
            <a:pPr indent="0" marL="0">
              <a:lnSpc>
                <a:spcPct val="130000"/>
              </a:lnSpc>
              <a:buNone/>
            </a:pPr>
            <a:r>
              <a:rPr lang="en-US" sz="1600" dirty="0">
                <a:solidFill>
                  <a:srgbClr val="D0CCC6"/>
                </a:solidFill>
                <a:latin typeface="Calibri" pitchFamily="34" charset="0"/>
                <a:ea typeface="Calibri" pitchFamily="34" charset="-122"/>
                <a:cs typeface="Calibri" pitchFamily="34" charset="-120"/>
              </a:rPr>
              <a:t>'This will work with what's already there.'</a:t>
            </a:r>
            <a:endParaRPr lang="en-US" sz="1600" dirty="0"/>
          </a:p>
          <a:p>
            <a:pPr indent="0" marL="0">
              <a:lnSpc>
                <a:spcPct val="130000"/>
              </a:lnSpc>
              <a:buNone/>
            </a:pPr>
            <a:r>
              <a:rPr lang="en-US" sz="1600" dirty="0">
                <a:solidFill>
                  <a:srgbClr val="D0CCC6"/>
                </a:solidFill>
                <a:latin typeface="Calibri" pitchFamily="34" charset="0"/>
                <a:ea typeface="Calibri" pitchFamily="34" charset="-122"/>
                <a:cs typeface="Calibri" pitchFamily="34" charset="-120"/>
              </a:rPr>
              <a:t>Test the hypothesis. Then add the next module.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2026-03-08T00:07:13Z</dcterms:created>
  <dcterms:modified xsi:type="dcterms:W3CDTF">2026-03-08T00:07:13Z</dcterms:modified>
</cp:coreProperties>
</file>