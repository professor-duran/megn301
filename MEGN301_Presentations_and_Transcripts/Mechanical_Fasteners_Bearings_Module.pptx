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Welcome to the Mechanical Fasteners and Bearings module for MEGN 301. Every mechanical system is held together by fasteners and supported by bearings. This module covers threaded fastener standards, bolt grades and strength classes, torque and preload, locking methods for vibration environments, non-threaded fasteners, bearing types and selection, mounting practices, and common failure modes. These are the fundamental mechanical components that appear in every BOM and every engineering drawing.</a:t>
            </a:r>
          </a:p>
          <a:p/>
          <a:p>
            <a:r>
              <a:t>ALIGNMENT NOTE — This module corresponds to Chapter 11 (Mechanical Fasteners &amp; Bearings) of your Master Reference Document. Fastener and bearing specifications appear in your BOM, engineering drawings (torque callouts, fit tolerances), ICDs (mounting interfaces), maintenance manuals, and FMECA.</a:t>
            </a:r>
          </a:p>
          <a:p/>
          <a:p>
            <a:r>
              <a:t>FINAL NOTES — Key updates in the final compiled document: (1) NEW: 'Mounting Bearings in 3D Prints' tip — crush ribs, retaining compound, or undersize-and-ream because FDM cannot hit H7 tolerances. (2) NEW: Galvanic corrosion added to failure modes table — stainless bolts in aluminum create a battery in wet environments. (3) NEW: Torque spec reference with M3-M8 approximate values and sourcing guide (McMaster-Carr, Bolt Depot, Amazon, bearing pricing). (4) Heat-set inserts emphasized as mandatory for threads in 3D-printed or molded plastic.</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covers threaded fasteners — the bolts, screws, and nuts that hold your system together. Understanding thread standards, bolt grades, and the torque-preload relationship is essential for specifying fasteners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threaded fastener converts rotational torque into axial clamping force called preload. The key geometric parameters are nominal diameter, pitch, thread length, and head type. The distinction between bolts and screws matters for assembly access and joint design. A bolt passes through clearance holes and is secured by a nut — you can tighten from one side. A screw threads into a tapped hole — you need adequate thread engagement (1.5× diameter in steel, 2× in aluminum, 2.5× in plastic).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thread standards dominate: Metric Coarse (the global default), Metric Fine (for precision and vibration), UNC (imperial default), and UNF (imperial fine). The critical safety point: metric and imperial threads look similar but are incompatible. An M6 bolt (6.0mm) will appear to start threading into a 1/4-20 nut (6.35mm) but will cross-thread and strip. Always verify thread standard by checking if the fastener turns freely by hand for at least 3 full turns before applying any torque.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Bolt grades encode the material strength. For SAE, count the radial lines on the hex head: no lines = Grade 2, three lines = Grade 5, six lines = Grade 8. For ISO metric, the class is stamped directly on the head. The class encoding is elegant: Class 8.8 means UTS = 8 × 100 = 800 MPa, and yield = 8 × 8 × 10 = 640 MPa. Always specify the grade in your BOM and on your engineering drawings. A drawing that says only 'M6 bolt' allows the cheapest hardware-store fastener, which may be Class 4.6 — half the strength you designed for. Class 8.8 should be your default for structural joints.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torque-preload relationship T = K × Fi × d is the fundamental equation for bolted joint design. The nut factor K accounts for friction and varies from 0.15 for well-lubricated to 0.25 for dry steel. The critical insight is that only about 10% of applied torque actually generates clamping force — the rest is consumed by friction. This means surface condition matters enormously. A lubricated M8 bolt at 25 Nm achieves the same preload as a dry bolt at 35 Nm. Always specify lubrication condition alongside the torque specification.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Vibration loosens fasteners through transverse motion that progressively walks the nut off the bolt. For student projects, the two most practical solutions are Nyloc nuts (reusable friction locking) and Loctite 242 blue threadlocker (removable adhesive locking). Nyloc is the default for bolted joints; Loctite is better for screws that thread into tapped holes where a nut is not used. Split lock washers are widely used but studies show they are the least effective locking method — they are better than nothing but worse than Nyloc or threadlocker.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covers bearings — the components that constrain relative motion between parts while minimizing friction. Bearing selection determines the precision, speed, load capacity, and life of your rotating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bearing categories cover virtually all applications. Deep-groove ball bearings are the universal default — they handle moderate radial loads and light axial loads, run at high speeds, are available in every size, and sealed variants provide lifetime lubrication. For student projects, the 6000 series with 2RS rubber seals should be your starting point. Plain bearings (bushings) are the simplest and cheapest option for low-speed or oscillating applications. Self-lubricating polymer bushings from Igus are ideal for student projects because they need no lubrication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Bearing selection follows four questions: loads, speed, space, and life. For student projects, formal L10 life calculations are usually unnecessary because your prototype operates for tens of hours, not thousands. Instead, focus on three practical checks: correct bore size for your shaft, adequate static load rating C0 to handle maximum load without brinelling, and sealed or shielded variants to eliminate the need for external lubrication. The L10 life equation is included for completeness and for students who will encounter it in industry.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Bearing mounting requires proper fits. The general rule: the ring that rotates relative to the load gets an interference fit, and the ring that is stationary gets a sliding fit. For most applications, the inner ring rotates (on the shaft) and gets k5 or k6 fit, while the outer ring is stationary (in the housing) and gets H7 fit. The most critical failure mode for student projects is brinelling — permanent dents caused by hammering bearings onto shafts. Use a press or a mounting tube that contacts only the ring being fitted. The mounting force must pass through the ring being assembled, never through the rolling elements.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design rules that prevent the most common student project fastener failures. Thread engagement is critical for preventing stripped holes — the minimum engagement length scales with material strength. For 3D-printed plastic, direct tapping threads is almost always wrong; use brass heat-set inserts instead. Always use a torque wrench for structural joints. 'Feel' is not a calibrated instrument. And specify the complete fastener in your BOM including grade, plating, torque, and locking method — not just 'M5 bolt.'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21314D"/>
          </a:solidFill>
          <a:ln/>
        </p:spPr>
      </p:sp>
      <p:sp>
        <p:nvSpPr>
          <p:cNvPr id="3" name="Text 1"/>
          <p:cNvSpPr/>
          <p:nvPr/>
        </p:nvSpPr>
        <p:spPr>
          <a:xfrm>
            <a:off x="457200" y="274320"/>
            <a:ext cx="8229600" cy="365760"/>
          </a:xfrm>
          <a:prstGeom prst="rect">
            <a:avLst/>
          </a:prstGeom>
          <a:noFill/>
          <a:ln/>
        </p:spPr>
        <p:txBody>
          <a:bodyPr wrap="square" rtlCol="0" anchor="ctr"/>
          <a:lstStyle/>
          <a:p>
            <a:pPr indent="0" marL="0">
              <a:buNone/>
            </a:pPr>
            <a:r>
              <a:rPr lang="en-US" sz="1000" dirty="0">
                <a:solidFill>
                  <a:srgbClr val="CADCFC"/>
                </a:solidFill>
                <a:latin typeface="Calibri" pitchFamily="34" charset="0"/>
                <a:ea typeface="Calibri" pitchFamily="34" charset="-122"/>
                <a:cs typeface="Calibri" pitchFamily="34" charset="-120"/>
              </a:rPr>
              <a:t>MINES  |  MEGN 301 — Mechanical Integration and Design</a:t>
            </a:r>
            <a:endParaRPr lang="en-US" sz="1000" dirty="0"/>
          </a:p>
        </p:txBody>
      </p:sp>
      <p:sp>
        <p:nvSpPr>
          <p:cNvPr id="4" name="Text 2"/>
          <p:cNvSpPr/>
          <p:nvPr/>
        </p:nvSpPr>
        <p:spPr>
          <a:xfrm>
            <a:off x="457200" y="914400"/>
            <a:ext cx="8229600" cy="365760"/>
          </a:xfrm>
          <a:prstGeom prst="rect">
            <a:avLst/>
          </a:prstGeom>
          <a:noFill/>
          <a:ln/>
        </p:spPr>
        <p:txBody>
          <a:bodyPr wrap="square" rtlCol="0" anchor="ctr"/>
          <a:lstStyle/>
          <a:p>
            <a:pPr indent="0" marL="0">
              <a:buNone/>
            </a:pPr>
            <a:r>
              <a:rPr lang="en-US" sz="1200" spc="400" kern="0" dirty="0">
                <a:solidFill>
                  <a:srgbClr val="00796B"/>
                </a:solidFill>
                <a:latin typeface="Calibri" pitchFamily="34" charset="0"/>
                <a:ea typeface="Calibri" pitchFamily="34" charset="-122"/>
                <a:cs typeface="Calibri" pitchFamily="34" charset="-120"/>
              </a:rPr>
              <a:t>Technical Reference</a:t>
            </a:r>
            <a:endParaRPr lang="en-US" sz="1200" dirty="0"/>
          </a:p>
        </p:txBody>
      </p:sp>
      <p:sp>
        <p:nvSpPr>
          <p:cNvPr id="5" name="Text 3"/>
          <p:cNvSpPr/>
          <p:nvPr/>
        </p:nvSpPr>
        <p:spPr>
          <a:xfrm>
            <a:off x="457200" y="1645920"/>
            <a:ext cx="8229600" cy="128016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Mechanical Fasteners</a:t>
            </a:r>
            <a:endParaRPr lang="en-US" sz="4000" dirty="0"/>
          </a:p>
          <a:p>
            <a:pPr indent="0" marL="0">
              <a:buNone/>
            </a:pPr>
            <a:r>
              <a:rPr lang="en-US" sz="4000" b="1" dirty="0">
                <a:solidFill>
                  <a:srgbClr val="FFFFFF"/>
                </a:solidFill>
                <a:latin typeface="Calibri" pitchFamily="34" charset="0"/>
                <a:ea typeface="Calibri" pitchFamily="34" charset="-122"/>
                <a:cs typeface="Calibri" pitchFamily="34" charset="-120"/>
              </a:rPr>
              <a:t>&amp; Bearings</a:t>
            </a:r>
            <a:endParaRPr lang="en-US" sz="4000" dirty="0"/>
          </a:p>
        </p:txBody>
      </p:sp>
      <p:sp>
        <p:nvSpPr>
          <p:cNvPr id="6" name="Text 4"/>
          <p:cNvSpPr/>
          <p:nvPr/>
        </p:nvSpPr>
        <p:spPr>
          <a:xfrm>
            <a:off x="457200" y="3108960"/>
            <a:ext cx="8229600" cy="548640"/>
          </a:xfrm>
          <a:prstGeom prst="rect">
            <a:avLst/>
          </a:prstGeom>
          <a:noFill/>
          <a:ln/>
        </p:spPr>
        <p:txBody>
          <a:bodyPr wrap="square" rtlCol="0" anchor="ctr"/>
          <a:lstStyle/>
          <a:p>
            <a:pPr indent="0" marL="0">
              <a:buNone/>
            </a:pPr>
            <a:r>
              <a:rPr lang="en-US" sz="1200" spc="200" kern="0" dirty="0">
                <a:solidFill>
                  <a:srgbClr val="CADCFC"/>
                </a:solidFill>
                <a:latin typeface="Calibri" pitchFamily="34" charset="0"/>
                <a:ea typeface="Calibri" pitchFamily="34" charset="-122"/>
                <a:cs typeface="Calibri" pitchFamily="34" charset="-120"/>
              </a:rPr>
              <a:t>THREADED FASTENERS, BOLT GRADES, LOCKING METHODS, BEARING TYPES, AND SELECTION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7FA"/>
          </a:solidFill>
          <a:ln/>
        </p:spPr>
      </p:sp>
      <p:sp>
        <p:nvSpPr>
          <p:cNvPr id="3" name="Shape 1"/>
          <p:cNvSpPr/>
          <p:nvPr/>
        </p:nvSpPr>
        <p:spPr>
          <a:xfrm>
            <a:off x="0" y="0"/>
            <a:ext cx="9144000" cy="548640"/>
          </a:xfrm>
          <a:prstGeom prst="rect">
            <a:avLst/>
          </a:prstGeom>
          <a:solidFill>
            <a:srgbClr val="21314D"/>
          </a:solidFill>
          <a:ln/>
        </p:spPr>
      </p:sp>
      <p:sp>
        <p:nvSpPr>
          <p:cNvPr id="4" name="Text 2"/>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5" name="Text 3"/>
          <p:cNvSpPr/>
          <p:nvPr/>
        </p:nvSpPr>
        <p:spPr>
          <a:xfrm>
            <a:off x="457200" y="1097280"/>
            <a:ext cx="1828800" cy="1371600"/>
          </a:xfrm>
          <a:prstGeom prst="rect">
            <a:avLst/>
          </a:prstGeom>
          <a:noFill/>
          <a:ln/>
        </p:spPr>
        <p:txBody>
          <a:bodyPr wrap="square" rtlCol="0" anchor="ctr"/>
          <a:lstStyle/>
          <a:p>
            <a:pPr indent="0" marL="0">
              <a:buNone/>
            </a:pPr>
            <a:r>
              <a:rPr lang="en-US" sz="7200" b="1" dirty="0">
                <a:solidFill>
                  <a:srgbClr val="00796B"/>
                </a:solidFill>
                <a:latin typeface="Calibri" pitchFamily="34" charset="0"/>
                <a:ea typeface="Calibri" pitchFamily="34" charset="-122"/>
                <a:cs typeface="Calibri" pitchFamily="34" charset="-120"/>
              </a:rPr>
              <a:t>01</a:t>
            </a:r>
            <a:endParaRPr lang="en-US" sz="7200" dirty="0"/>
          </a:p>
        </p:txBody>
      </p:sp>
      <p:sp>
        <p:nvSpPr>
          <p:cNvPr id="6" name="Text 4"/>
          <p:cNvSpPr/>
          <p:nvPr/>
        </p:nvSpPr>
        <p:spPr>
          <a:xfrm>
            <a:off x="457200" y="2560320"/>
            <a:ext cx="5486400" cy="731520"/>
          </a:xfrm>
          <a:prstGeom prst="rect">
            <a:avLst/>
          </a:prstGeom>
          <a:noFill/>
          <a:ln/>
        </p:spPr>
        <p:txBody>
          <a:bodyPr wrap="square" rtlCol="0" anchor="ctr"/>
          <a:lstStyle/>
          <a:p>
            <a:pPr indent="0" marL="0">
              <a:buNone/>
            </a:pPr>
            <a:r>
              <a:rPr lang="en-US" sz="3200" b="1" dirty="0">
                <a:solidFill>
                  <a:srgbClr val="21314D"/>
                </a:solidFill>
                <a:latin typeface="Calibri" pitchFamily="34" charset="0"/>
                <a:ea typeface="Calibri" pitchFamily="34" charset="-122"/>
                <a:cs typeface="Calibri" pitchFamily="34" charset="-120"/>
              </a:rPr>
              <a:t>Threaded</a:t>
            </a:r>
            <a:endParaRPr lang="en-US" sz="3200" dirty="0"/>
          </a:p>
          <a:p>
            <a:pPr indent="0" marL="0">
              <a:buNone/>
            </a:pPr>
            <a:r>
              <a:rPr lang="en-US" sz="3200" b="1" dirty="0">
                <a:solidFill>
                  <a:srgbClr val="21314D"/>
                </a:solidFill>
                <a:latin typeface="Calibri" pitchFamily="34" charset="0"/>
                <a:ea typeface="Calibri" pitchFamily="34" charset="-122"/>
                <a:cs typeface="Calibri" pitchFamily="34" charset="-120"/>
              </a:rPr>
              <a:t>fasteners</a:t>
            </a:r>
            <a:endParaRPr lang="en-US" sz="3200" dirty="0"/>
          </a:p>
        </p:txBody>
      </p:sp>
      <p:sp>
        <p:nvSpPr>
          <p:cNvPr id="7" name="Text 5"/>
          <p:cNvSpPr/>
          <p:nvPr/>
        </p:nvSpPr>
        <p:spPr>
          <a:xfrm>
            <a:off x="457200" y="3291840"/>
            <a:ext cx="7315200" cy="457200"/>
          </a:xfrm>
          <a:prstGeom prst="rect">
            <a:avLst/>
          </a:prstGeom>
          <a:noFill/>
          <a:ln/>
        </p:spPr>
        <p:txBody>
          <a:bodyPr wrap="square" rtlCol="0" anchor="ctr"/>
          <a:lstStyle/>
          <a:p>
            <a:pPr indent="0" marL="0">
              <a:buNone/>
            </a:pPr>
            <a:r>
              <a:rPr lang="en-US" sz="1300" dirty="0">
                <a:solidFill>
                  <a:srgbClr val="666666"/>
                </a:solidFill>
                <a:latin typeface="Calibri" pitchFamily="34" charset="0"/>
                <a:ea typeface="Calibri" pitchFamily="34" charset="-122"/>
                <a:cs typeface="Calibri" pitchFamily="34" charset="-120"/>
              </a:rPr>
              <a:t>Thread standards, bolt grades, torque, preload, and locking methods</a:t>
            </a:r>
            <a:endParaRPr lang="en-US" sz="1300" dirty="0"/>
          </a:p>
        </p:txBody>
      </p:sp>
      <p:sp>
        <p:nvSpPr>
          <p:cNvPr id="8" name="Shape 6"/>
          <p:cNvSpPr/>
          <p:nvPr/>
        </p:nvSpPr>
        <p:spPr>
          <a:xfrm>
            <a:off x="0" y="4663440"/>
            <a:ext cx="9144000" cy="475488"/>
          </a:xfrm>
          <a:prstGeom prst="rect">
            <a:avLst/>
          </a:prstGeom>
          <a:solidFill>
            <a:srgbClr val="21314D"/>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Bolt and screw anatomy</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indent="0" marL="0">
              <a:buNone/>
            </a:pPr>
            <a:r>
              <a:rPr lang="en-US" sz="1600" b="1" dirty="0">
                <a:solidFill>
                  <a:srgbClr val="21314D"/>
                </a:solidFill>
                <a:latin typeface="Calibri" pitchFamily="34" charset="0"/>
                <a:ea typeface="Calibri" pitchFamily="34" charset="-122"/>
                <a:cs typeface="Calibri" pitchFamily="34" charset="-120"/>
              </a:rPr>
              <a:t>Key Geometric Parameters</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Nominal diameter: major thread diameter (M6 = 6mm, 1/4-20 = 0.250 in)</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Pitch: distance between threads (metric: mm; imperial: threads per inch TPI)</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Thread length: portion of shank that is threaded</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Head type: hex, socket, flat, pan, button — each requires different tool</a:t>
            </a:r>
            <a:endParaRPr lang="en-US" sz="1600" dirty="0"/>
          </a:p>
          <a:p>
            <a:pPr indent="0" marL="0">
              <a:buNone/>
            </a:pPr>
            <a:endParaRPr lang="en-US" sz="1600" dirty="0"/>
          </a:p>
          <a:p>
            <a:pPr indent="0" marL="0">
              <a:buNone/>
            </a:pPr>
            <a:r>
              <a:rPr lang="en-US" sz="1600" b="1" dirty="0">
                <a:solidFill>
                  <a:srgbClr val="21314D"/>
                </a:solidFill>
                <a:latin typeface="Calibri" pitchFamily="34" charset="0"/>
                <a:ea typeface="Calibri" pitchFamily="34" charset="-122"/>
                <a:cs typeface="Calibri" pitchFamily="34" charset="-120"/>
              </a:rPr>
              <a:t>Bolts vs. Screws</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Bolt: passes through clearance hole, secured by nut on other side</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Screw: threads directly into tapped hole in one of the parts</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Distinction matters: bolt needs access from one side; screw needs thread engagement</a:t>
            </a:r>
            <a:endParaRPr lang="en-US" sz="16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Thread standards</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indent="0" marL="0">
              <a:buNone/>
            </a:pPr>
            <a:r>
              <a:rPr lang="en-US" sz="1300" b="1" dirty="0">
                <a:solidFill>
                  <a:srgbClr val="00796B"/>
                </a:solidFill>
                <a:latin typeface="Calibri" pitchFamily="34" charset="0"/>
                <a:ea typeface="Calibri" pitchFamily="34" charset="-122"/>
                <a:cs typeface="Calibri" pitchFamily="34" charset="-120"/>
              </a:rPr>
              <a:t>Metric Coarse (M × pitch)</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Default metric thread. Pitch implied if omitted: M6 = M6×1.0</a:t>
            </a:r>
            <a:endParaRPr lang="en-US" sz="1300" dirty="0"/>
          </a:p>
          <a:p>
            <a:pPr indent="0" marL="0">
              <a:buNone/>
            </a:pPr>
            <a:r>
              <a:rPr lang="en-US" sz="1300" b="1" dirty="0">
                <a:solidFill>
                  <a:srgbClr val="00796B"/>
                </a:solidFill>
                <a:latin typeface="Calibri" pitchFamily="34" charset="0"/>
                <a:ea typeface="Calibri" pitchFamily="34" charset="-122"/>
                <a:cs typeface="Calibri" pitchFamily="34" charset="-120"/>
              </a:rPr>
              <a:t>Metric Fine (M × pitch)</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Smaller pitch for precision, thin walls, vibration resistance: M6×0.75</a:t>
            </a:r>
            <a:endParaRPr lang="en-US" sz="1300" dirty="0"/>
          </a:p>
          <a:p>
            <a:pPr indent="0" marL="0">
              <a:buNone/>
            </a:pPr>
            <a:r>
              <a:rPr lang="en-US" sz="1300" b="1" dirty="0">
                <a:solidFill>
                  <a:srgbClr val="00796B"/>
                </a:solidFill>
                <a:latin typeface="Calibri" pitchFamily="34" charset="0"/>
                <a:ea typeface="Calibri" pitchFamily="34" charset="-122"/>
                <a:cs typeface="Calibri" pitchFamily="34" charset="-120"/>
              </a:rPr>
              <a:t>UNC — Unified National Coarse (dia-TPI)</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Default imperial thread, general purpose: 1/4-20</a:t>
            </a:r>
            <a:endParaRPr lang="en-US" sz="1300" dirty="0"/>
          </a:p>
          <a:p>
            <a:pPr indent="0" marL="0">
              <a:buNone/>
            </a:pPr>
            <a:r>
              <a:rPr lang="en-US" sz="1300" b="1" dirty="0">
                <a:solidFill>
                  <a:srgbClr val="00796B"/>
                </a:solidFill>
                <a:latin typeface="Calibri" pitchFamily="34" charset="0"/>
                <a:ea typeface="Calibri" pitchFamily="34" charset="-122"/>
                <a:cs typeface="Calibri" pitchFamily="34" charset="-120"/>
              </a:rPr>
              <a:t>UNF — Unified National Fine (dia-TPI)</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Finer pitch, stronger in thin materials: 1/4-28</a:t>
            </a:r>
            <a:endParaRPr lang="en-US" sz="1300" dirty="0"/>
          </a:p>
          <a:p>
            <a:pPr indent="0" marL="0">
              <a:buNone/>
            </a:pPr>
            <a:endParaRPr lang="en-US" sz="1300" dirty="0"/>
          </a:p>
          <a:p>
            <a:pPr indent="0" marL="0">
              <a:buNone/>
            </a:pPr>
            <a:r>
              <a:rPr lang="en-US" sz="1300" b="1" dirty="0">
                <a:solidFill>
                  <a:srgbClr val="E65100"/>
                </a:solidFill>
                <a:latin typeface="Calibri" pitchFamily="34" charset="0"/>
                <a:ea typeface="Calibri" pitchFamily="34" charset="-122"/>
                <a:cs typeface="Calibri" pitchFamily="34" charset="-120"/>
              </a:rPr>
              <a:t>⚠ WARNING: Metric and imperial threads do NOT mix. M6 appears to start in a 1/4-20 nut but will cross-thread after 2-3 turns, destroying both parts.</a:t>
            </a:r>
            <a:endParaRPr lang="en-US" sz="13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Bolt grades and strength classes</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SAE Grade 2 / ISO Class 4.6 — Low carbon steel, no markings, general purpose</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SAE Grade 5 / ISO Class 8.8 — Medium carbon Q&amp;T, 3 radial lines / '8.8' marking</a:t>
            </a:r>
            <a:endParaRPr lang="en-US" sz="1300" dirty="0"/>
          </a:p>
          <a:p>
            <a:pPr lvl="1" marL="685800" indent="-342900">
              <a:buSzPct val="100000"/>
              <a:buChar char="•"/>
            </a:pPr>
            <a:r>
              <a:rPr lang="en-US" sz="1300" b="1" dirty="0">
                <a:solidFill>
                  <a:srgbClr val="00796B"/>
                </a:solidFill>
                <a:latin typeface="Calibri" pitchFamily="34" charset="0"/>
                <a:ea typeface="Calibri" pitchFamily="34" charset="-122"/>
                <a:cs typeface="Calibri" pitchFamily="34" charset="-120"/>
              </a:rPr>
              <a:t>  ↳ DEFAULT CHOICE for structural joints in student projects</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SAE Grade 8 / ISO Class 10.9 — Alloy steel Q&amp;T, 6 lines / '10.9', high-strength</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ISO Class 12.9 — Highest strength, socket head cap screws, aerospace</a:t>
            </a:r>
            <a:endParaRPr lang="en-US" sz="1300" dirty="0"/>
          </a:p>
          <a:p>
            <a:pPr indent="0" marL="0">
              <a:buNone/>
            </a:pPr>
            <a:endParaRPr lang="en-US" sz="1300" dirty="0"/>
          </a:p>
          <a:p>
            <a:pPr indent="0" marL="0">
              <a:buNone/>
            </a:pPr>
            <a:r>
              <a:rPr lang="en-US" sz="1300" b="1" dirty="0">
                <a:solidFill>
                  <a:srgbClr val="21314D"/>
                </a:solidFill>
                <a:latin typeface="Calibri" pitchFamily="34" charset="0"/>
                <a:ea typeface="Calibri" pitchFamily="34" charset="-122"/>
                <a:cs typeface="Calibri" pitchFamily="34" charset="-120"/>
              </a:rPr>
              <a:t>Class 8.8 encoding: first digit × 100 = UTS (800 MPa)</a:t>
            </a:r>
            <a:endParaRPr lang="en-US" sz="1300" dirty="0"/>
          </a:p>
          <a:p>
            <a:pPr indent="0" marL="0">
              <a:buNone/>
            </a:pPr>
            <a:r>
              <a:rPr lang="en-US" sz="1300" dirty="0">
                <a:solidFill>
                  <a:srgbClr val="363636"/>
                </a:solidFill>
                <a:latin typeface="Calibri" pitchFamily="34" charset="0"/>
                <a:ea typeface="Calibri" pitchFamily="34" charset="-122"/>
                <a:cs typeface="Calibri" pitchFamily="34" charset="-120"/>
              </a:rPr>
              <a:t>first × second × 10 = yield (640 MPa). Proof load ≈ 90% of yield (580 MPa).</a:t>
            </a:r>
            <a:endParaRPr lang="en-US" sz="1300" dirty="0"/>
          </a:p>
          <a:p>
            <a:pPr indent="0" marL="0">
              <a:buNone/>
            </a:pPr>
            <a:endParaRPr lang="en-US" sz="1300" dirty="0"/>
          </a:p>
          <a:p>
            <a:pPr indent="0" marL="0">
              <a:buNone/>
            </a:pPr>
            <a:r>
              <a:rPr lang="en-US" sz="1300" b="1" dirty="0">
                <a:solidFill>
                  <a:srgbClr val="E65100"/>
                </a:solidFill>
                <a:latin typeface="Calibri" pitchFamily="34" charset="0"/>
                <a:ea typeface="Calibri" pitchFamily="34" charset="-122"/>
                <a:cs typeface="Calibri" pitchFamily="34" charset="-120"/>
              </a:rPr>
              <a:t>Always specify grade in your BOM: 'M6×1.0×20, Class 8.8, zinc plated'</a:t>
            </a:r>
            <a:endParaRPr lang="en-US" sz="13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Torque, preload, and the bolted joint</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indent="0" marL="0">
              <a:buNone/>
            </a:pPr>
            <a:r>
              <a:rPr lang="en-US" sz="1300" b="1" dirty="0">
                <a:solidFill>
                  <a:srgbClr val="21314D"/>
                </a:solidFill>
                <a:latin typeface="Calibri" pitchFamily="34" charset="0"/>
                <a:ea typeface="Calibri" pitchFamily="34" charset="-122"/>
                <a:cs typeface="Calibri" pitchFamily="34" charset="-120"/>
              </a:rPr>
              <a:t>The purpose of tightening a bolt is to generate PRELOAD — axial clamping force</a:t>
            </a:r>
            <a:endParaRPr lang="en-US" sz="1300" dirty="0"/>
          </a:p>
          <a:p>
            <a:pPr indent="0" marL="0">
              <a:buNone/>
            </a:pPr>
            <a:endParaRPr lang="en-US" sz="1300" dirty="0"/>
          </a:p>
          <a:p>
            <a:pPr indent="0" marL="0">
              <a:buNone/>
            </a:pPr>
            <a:r>
              <a:rPr lang="en-US" sz="2000" b="1" dirty="0">
                <a:solidFill>
                  <a:srgbClr val="00796B"/>
                </a:solidFill>
                <a:latin typeface="Calibri" pitchFamily="34" charset="0"/>
                <a:ea typeface="Calibri" pitchFamily="34" charset="-122"/>
                <a:cs typeface="Calibri" pitchFamily="34" charset="-120"/>
              </a:rPr>
              <a:t>T = K × Fᵢ × d</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T = torque (Nm), K = nut factor (0.15–0.25), Fᵢ = preload force (N), d = bolt diameter (m)</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Target preload: 75% of proof load (static), 60% (fatigue)</a:t>
            </a:r>
            <a:endParaRPr lang="en-US" sz="1300" dirty="0"/>
          </a:p>
          <a:p>
            <a:pPr indent="0" marL="0">
              <a:buNone/>
            </a:pPr>
            <a:endParaRPr lang="en-US" sz="1300" dirty="0"/>
          </a:p>
          <a:p>
            <a:pPr indent="0" marL="0">
              <a:buNone/>
            </a:pPr>
            <a:r>
              <a:rPr lang="en-US" sz="1600" b="1" dirty="0">
                <a:solidFill>
                  <a:srgbClr val="E65100"/>
                </a:solidFill>
                <a:latin typeface="Calibri" pitchFamily="34" charset="0"/>
                <a:ea typeface="Calibri" pitchFamily="34" charset="-122"/>
                <a:cs typeface="Calibri" pitchFamily="34" charset="-120"/>
              </a:rPr>
              <a:t>The 90% Friction Rule</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~50% of torque → friction under bolt head</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~40% of torque → friction in threads</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~10% of torque → actual clamping force (preload)</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Surface condition (lubricated vs. dry) dramatically affects actual preload</a:t>
            </a:r>
            <a:endParaRPr lang="en-US" sz="13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Locking methods for vibration</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indent="0" marL="0">
              <a:buNone/>
            </a:pPr>
            <a:r>
              <a:rPr lang="en-US" sz="1300" b="1" dirty="0">
                <a:solidFill>
                  <a:srgbClr val="00796B"/>
                </a:solidFill>
                <a:latin typeface="Calibri" pitchFamily="34" charset="0"/>
                <a:ea typeface="Calibri" pitchFamily="34" charset="-122"/>
                <a:cs typeface="Calibri" pitchFamily="34" charset="-120"/>
              </a:rPr>
              <a:t>Nylon-Insert Lock Nuts (Nyloc)</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Nylon ring deforms around threads. Most common method. Single-use — replace after removal.</a:t>
            </a:r>
            <a:endParaRPr lang="en-US" sz="1300" dirty="0"/>
          </a:p>
          <a:p>
            <a:pPr indent="0" marL="0">
              <a:buNone/>
            </a:pPr>
            <a:r>
              <a:rPr lang="en-US" sz="1300" b="1" dirty="0">
                <a:solidFill>
                  <a:srgbClr val="00796B"/>
                </a:solidFill>
                <a:latin typeface="Calibri" pitchFamily="34" charset="0"/>
                <a:ea typeface="Calibri" pitchFamily="34" charset="-122"/>
                <a:cs typeface="Calibri" pitchFamily="34" charset="-120"/>
              </a:rPr>
              <a:t>Thread-Locking Adhesive (Loctite)</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Blue 242: medium strength, removable. Red 271: permanent, requires heat. Clean threads first.</a:t>
            </a:r>
            <a:endParaRPr lang="en-US" sz="1300" dirty="0"/>
          </a:p>
          <a:p>
            <a:pPr indent="0" marL="0">
              <a:buNone/>
            </a:pPr>
            <a:r>
              <a:rPr lang="en-US" sz="1300" b="1" dirty="0">
                <a:solidFill>
                  <a:srgbClr val="00796B"/>
                </a:solidFill>
                <a:latin typeface="Calibri" pitchFamily="34" charset="0"/>
                <a:ea typeface="Calibri" pitchFamily="34" charset="-122"/>
                <a:cs typeface="Calibri" pitchFamily="34" charset="-120"/>
              </a:rPr>
              <a:t>Lock Washers</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Split/Belleville maintain spring tension. Star washers bite into surface. Nord-Lock = gold standard.</a:t>
            </a:r>
            <a:endParaRPr lang="en-US" sz="1300" dirty="0"/>
          </a:p>
          <a:p>
            <a:pPr indent="0" marL="0">
              <a:buNone/>
            </a:pPr>
            <a:r>
              <a:rPr lang="en-US" sz="1300" b="1" dirty="0">
                <a:solidFill>
                  <a:srgbClr val="00796B"/>
                </a:solidFill>
                <a:latin typeface="Calibri" pitchFamily="34" charset="0"/>
                <a:ea typeface="Calibri" pitchFamily="34" charset="-122"/>
                <a:cs typeface="Calibri" pitchFamily="34" charset="-120"/>
              </a:rPr>
              <a:t>Safety Wire</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Wire through drilled bolt heads. Aerospace/motorsport. Physically prevents rotation.</a:t>
            </a:r>
            <a:endParaRPr lang="en-US" sz="1300" dirty="0"/>
          </a:p>
          <a:p>
            <a:pPr indent="0" marL="0">
              <a:buNone/>
            </a:pPr>
            <a:endParaRPr lang="en-US" sz="1300" dirty="0"/>
          </a:p>
          <a:p>
            <a:pPr indent="0" marL="0">
              <a:buNone/>
            </a:pPr>
            <a:r>
              <a:rPr lang="en-US" sz="1300" b="1" dirty="0">
                <a:solidFill>
                  <a:srgbClr val="21314D"/>
                </a:solidFill>
                <a:latin typeface="Calibri" pitchFamily="34" charset="0"/>
                <a:ea typeface="Calibri" pitchFamily="34" charset="-122"/>
                <a:cs typeface="Calibri" pitchFamily="34" charset="-120"/>
              </a:rPr>
              <a:t>For MEGN 301: Nyloc nuts + Loctite 242 cover 95% of student project needs.</a:t>
            </a:r>
            <a:endParaRPr lang="en-US" sz="13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7FA"/>
          </a:solidFill>
          <a:ln/>
        </p:spPr>
      </p:sp>
      <p:sp>
        <p:nvSpPr>
          <p:cNvPr id="3" name="Shape 1"/>
          <p:cNvSpPr/>
          <p:nvPr/>
        </p:nvSpPr>
        <p:spPr>
          <a:xfrm>
            <a:off x="0" y="0"/>
            <a:ext cx="9144000" cy="548640"/>
          </a:xfrm>
          <a:prstGeom prst="rect">
            <a:avLst/>
          </a:prstGeom>
          <a:solidFill>
            <a:srgbClr val="21314D"/>
          </a:solidFill>
          <a:ln/>
        </p:spPr>
      </p:sp>
      <p:sp>
        <p:nvSpPr>
          <p:cNvPr id="4" name="Text 2"/>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5" name="Text 3"/>
          <p:cNvSpPr/>
          <p:nvPr/>
        </p:nvSpPr>
        <p:spPr>
          <a:xfrm>
            <a:off x="457200" y="1097280"/>
            <a:ext cx="1828800" cy="1371600"/>
          </a:xfrm>
          <a:prstGeom prst="rect">
            <a:avLst/>
          </a:prstGeom>
          <a:noFill/>
          <a:ln/>
        </p:spPr>
        <p:txBody>
          <a:bodyPr wrap="square" rtlCol="0" anchor="ctr"/>
          <a:lstStyle/>
          <a:p>
            <a:pPr indent="0" marL="0">
              <a:buNone/>
            </a:pPr>
            <a:r>
              <a:rPr lang="en-US" sz="7200" b="1" dirty="0">
                <a:solidFill>
                  <a:srgbClr val="00796B"/>
                </a:solidFill>
                <a:latin typeface="Calibri" pitchFamily="34" charset="0"/>
                <a:ea typeface="Calibri" pitchFamily="34" charset="-122"/>
                <a:cs typeface="Calibri" pitchFamily="34" charset="-120"/>
              </a:rPr>
              <a:t>02</a:t>
            </a:r>
            <a:endParaRPr lang="en-US" sz="7200" dirty="0"/>
          </a:p>
        </p:txBody>
      </p:sp>
      <p:sp>
        <p:nvSpPr>
          <p:cNvPr id="6" name="Text 4"/>
          <p:cNvSpPr/>
          <p:nvPr/>
        </p:nvSpPr>
        <p:spPr>
          <a:xfrm>
            <a:off x="457200" y="2560320"/>
            <a:ext cx="5486400" cy="731520"/>
          </a:xfrm>
          <a:prstGeom prst="rect">
            <a:avLst/>
          </a:prstGeom>
          <a:noFill/>
          <a:ln/>
        </p:spPr>
        <p:txBody>
          <a:bodyPr wrap="square" rtlCol="0" anchor="ctr"/>
          <a:lstStyle/>
          <a:p>
            <a:pPr indent="0" marL="0">
              <a:buNone/>
            </a:pPr>
            <a:r>
              <a:rPr lang="en-US" sz="3200" b="1" dirty="0">
                <a:solidFill>
                  <a:srgbClr val="21314D"/>
                </a:solidFill>
                <a:latin typeface="Calibri" pitchFamily="34" charset="0"/>
                <a:ea typeface="Calibri" pitchFamily="34" charset="-122"/>
                <a:cs typeface="Calibri" pitchFamily="34" charset="-120"/>
              </a:rPr>
              <a:t>Bearings</a:t>
            </a:r>
            <a:endParaRPr lang="en-US" sz="3200" dirty="0"/>
          </a:p>
        </p:txBody>
      </p:sp>
      <p:sp>
        <p:nvSpPr>
          <p:cNvPr id="7" name="Text 5"/>
          <p:cNvSpPr/>
          <p:nvPr/>
        </p:nvSpPr>
        <p:spPr>
          <a:xfrm>
            <a:off x="457200" y="3291840"/>
            <a:ext cx="7315200" cy="457200"/>
          </a:xfrm>
          <a:prstGeom prst="rect">
            <a:avLst/>
          </a:prstGeom>
          <a:noFill/>
          <a:ln/>
        </p:spPr>
        <p:txBody>
          <a:bodyPr wrap="square" rtlCol="0" anchor="ctr"/>
          <a:lstStyle/>
          <a:p>
            <a:pPr indent="0" marL="0">
              <a:buNone/>
            </a:pPr>
            <a:r>
              <a:rPr lang="en-US" sz="1300" dirty="0">
                <a:solidFill>
                  <a:srgbClr val="666666"/>
                </a:solidFill>
                <a:latin typeface="Calibri" pitchFamily="34" charset="0"/>
                <a:ea typeface="Calibri" pitchFamily="34" charset="-122"/>
                <a:cs typeface="Calibri" pitchFamily="34" charset="-120"/>
              </a:rPr>
              <a:t>Types, selection, mounting, and failure modes</a:t>
            </a:r>
            <a:endParaRPr lang="en-US" sz="1300" dirty="0"/>
          </a:p>
        </p:txBody>
      </p:sp>
      <p:sp>
        <p:nvSpPr>
          <p:cNvPr id="8" name="Shape 6"/>
          <p:cNvSpPr/>
          <p:nvPr/>
        </p:nvSpPr>
        <p:spPr>
          <a:xfrm>
            <a:off x="0" y="4663440"/>
            <a:ext cx="9144000" cy="475488"/>
          </a:xfrm>
          <a:prstGeom prst="rect">
            <a:avLst/>
          </a:prstGeom>
          <a:solidFill>
            <a:srgbClr val="21314D"/>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Bearing types overview</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marL="342900" indent="-342900">
              <a:buSzPct val="100000"/>
              <a:buChar char="•"/>
            </a:pPr>
            <a:r>
              <a:rPr lang="en-US" sz="1300" b="1" dirty="0">
                <a:solidFill>
                  <a:srgbClr val="363636"/>
                </a:solidFill>
                <a:latin typeface="Calibri" pitchFamily="34" charset="0"/>
                <a:ea typeface="Calibri" pitchFamily="34" charset="-122"/>
                <a:cs typeface="Calibri" pitchFamily="34" charset="-120"/>
              </a:rPr>
              <a:t>Deep-Groove Ball — universal default; moderate radial + light axial; high speed</a:t>
            </a:r>
            <a:endParaRPr lang="en-US" sz="1300" dirty="0"/>
          </a:p>
          <a:p>
            <a:pPr lvl="1" indent="0" marL="0">
              <a:buNone/>
            </a:pPr>
            <a:r>
              <a:rPr lang="en-US" sz="1300" dirty="0">
                <a:solidFill>
                  <a:srgbClr val="00796B"/>
                </a:solidFill>
                <a:latin typeface="Calibri" pitchFamily="34" charset="0"/>
                <a:ea typeface="Calibri" pitchFamily="34" charset="-122"/>
                <a:cs typeface="Calibri" pitchFamily="34" charset="-120"/>
              </a:rPr>
              <a:t>  Use 6000 series with 2RS seals unless you have a reason not to</a:t>
            </a:r>
            <a:endParaRPr lang="en-US" sz="1300" dirty="0"/>
          </a:p>
          <a:p>
            <a:pPr marL="342900" indent="-342900">
              <a:buSzPct val="100000"/>
              <a:buChar char="•"/>
            </a:pPr>
            <a:r>
              <a:rPr lang="en-US" sz="1300" b="1" dirty="0">
                <a:solidFill>
                  <a:srgbClr val="363636"/>
                </a:solidFill>
                <a:latin typeface="Calibri" pitchFamily="34" charset="0"/>
                <a:ea typeface="Calibri" pitchFamily="34" charset="-122"/>
                <a:cs typeface="Calibri" pitchFamily="34" charset="-120"/>
              </a:rPr>
              <a:t>Angular Contact Ball — combined radial + axial; used in pairs; machine tools</a:t>
            </a:r>
            <a:endParaRPr lang="en-US" sz="1300" dirty="0"/>
          </a:p>
          <a:p>
            <a:pPr marL="342900" indent="-342900">
              <a:buSzPct val="100000"/>
              <a:buChar char="•"/>
            </a:pPr>
            <a:r>
              <a:rPr lang="en-US" sz="1300" b="1" dirty="0">
                <a:solidFill>
                  <a:srgbClr val="363636"/>
                </a:solidFill>
                <a:latin typeface="Calibri" pitchFamily="34" charset="0"/>
                <a:ea typeface="Calibri" pitchFamily="34" charset="-122"/>
                <a:cs typeface="Calibri" pitchFamily="34" charset="-120"/>
              </a:rPr>
              <a:t>Tapered Roller — heavy combined loads; wheel hubs, gearboxes; require preload</a:t>
            </a:r>
            <a:endParaRPr lang="en-US" sz="1300" dirty="0"/>
          </a:p>
          <a:p>
            <a:pPr marL="342900" indent="-342900">
              <a:buSzPct val="100000"/>
              <a:buChar char="•"/>
            </a:pPr>
            <a:r>
              <a:rPr lang="en-US" sz="1300" b="1" dirty="0">
                <a:solidFill>
                  <a:srgbClr val="363636"/>
                </a:solidFill>
                <a:latin typeface="Calibri" pitchFamily="34" charset="0"/>
                <a:ea typeface="Calibri" pitchFamily="34" charset="-122"/>
                <a:cs typeface="Calibri" pitchFamily="34" charset="-120"/>
              </a:rPr>
              <a:t>Needle Roller — high radial capacity in thin package; no axial; connecting rods</a:t>
            </a:r>
            <a:endParaRPr lang="en-US" sz="1300" dirty="0"/>
          </a:p>
          <a:p>
            <a:pPr marL="342900" indent="-342900">
              <a:buSzPct val="100000"/>
              <a:buChar char="•"/>
            </a:pPr>
            <a:r>
              <a:rPr lang="en-US" sz="1300" b="1" dirty="0">
                <a:solidFill>
                  <a:srgbClr val="363636"/>
                </a:solidFill>
                <a:latin typeface="Calibri" pitchFamily="34" charset="0"/>
                <a:ea typeface="Calibri" pitchFamily="34" charset="-122"/>
                <a:cs typeface="Calibri" pitchFamily="34" charset="-120"/>
              </a:rPr>
              <a:t>Thrust (Ball/Roller) — pure axial loads only; use with separate radial bearing</a:t>
            </a:r>
            <a:endParaRPr lang="en-US" sz="1300" dirty="0"/>
          </a:p>
          <a:p>
            <a:pPr marL="342900" indent="-342900">
              <a:buSzPct val="100000"/>
              <a:buChar char="•"/>
            </a:pPr>
            <a:r>
              <a:rPr lang="en-US" sz="1300" b="1" dirty="0">
                <a:solidFill>
                  <a:srgbClr val="363636"/>
                </a:solidFill>
                <a:latin typeface="Calibri" pitchFamily="34" charset="0"/>
                <a:ea typeface="Calibri" pitchFamily="34" charset="-122"/>
                <a:cs typeface="Calibri" pitchFamily="34" charset="-120"/>
              </a:rPr>
              <a:t>Plain Bearings (Bushings) — cheapest, quietest, most compact; slow/oscillating motion</a:t>
            </a:r>
            <a:endParaRPr lang="en-US" sz="1300" dirty="0"/>
          </a:p>
          <a:p>
            <a:pPr lvl="1" indent="0" marL="0">
              <a:buNone/>
            </a:pPr>
            <a:r>
              <a:rPr lang="en-US" sz="1300" dirty="0">
                <a:solidFill>
                  <a:srgbClr val="00796B"/>
                </a:solidFill>
                <a:latin typeface="Calibri" pitchFamily="34" charset="0"/>
                <a:ea typeface="Calibri" pitchFamily="34" charset="-122"/>
                <a:cs typeface="Calibri" pitchFamily="34" charset="-120"/>
              </a:rPr>
              <a:t>  Igus iglide self-lubricating bushings = excellent for student projects</a:t>
            </a:r>
            <a:endParaRPr lang="en-US" sz="13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Bearing selection and life</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indent="0" marL="0">
              <a:buNone/>
            </a:pPr>
            <a:r>
              <a:rPr lang="en-US" sz="1600" b="1" dirty="0">
                <a:solidFill>
                  <a:srgbClr val="21314D"/>
                </a:solidFill>
                <a:latin typeface="Calibri" pitchFamily="34" charset="0"/>
                <a:ea typeface="Calibri" pitchFamily="34" charset="-122"/>
                <a:cs typeface="Calibri" pitchFamily="34" charset="-120"/>
              </a:rPr>
              <a:t>Four Selection Questions</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1. What loads? (radial, axial, combined — and magnitude)</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2. What speed? (RPM determines speed rating requirement)</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3. How much space? (bore, OD, width constraints)</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4. What life? (hours at design load)</a:t>
            </a:r>
            <a:endParaRPr lang="en-US" sz="1600" dirty="0"/>
          </a:p>
          <a:p>
            <a:pPr indent="0" marL="0">
              <a:buNone/>
            </a:pPr>
            <a:endParaRPr lang="en-US" sz="1600" dirty="0"/>
          </a:p>
          <a:p>
            <a:pPr indent="0" marL="0">
              <a:buNone/>
            </a:pPr>
            <a:r>
              <a:rPr lang="en-US" sz="1600" b="1" dirty="0">
                <a:solidFill>
                  <a:srgbClr val="00796B"/>
                </a:solidFill>
                <a:latin typeface="Calibri" pitchFamily="34" charset="0"/>
                <a:ea typeface="Calibri" pitchFamily="34" charset="-122"/>
                <a:cs typeface="Calibri" pitchFamily="34" charset="-120"/>
              </a:rPr>
              <a:t>Bearing Life: L₁₀ = (C/P)³ × 10⁶ revolutions</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C = basic dynamic load rating (from catalog), P = equivalent dynamic load</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L₁₀ = life at which 10% of identical bearings will have failed</a:t>
            </a:r>
            <a:endParaRPr lang="en-US" sz="1600" dirty="0"/>
          </a:p>
          <a:p>
            <a:pPr indent="0" marL="0">
              <a:buNone/>
            </a:pPr>
            <a:endParaRPr lang="en-US" sz="1600" dirty="0"/>
          </a:p>
          <a:p>
            <a:pPr indent="0" marL="0">
              <a:buNone/>
            </a:pPr>
            <a:r>
              <a:rPr lang="en-US" sz="1300" b="1" dirty="0">
                <a:solidFill>
                  <a:srgbClr val="21314D"/>
                </a:solidFill>
                <a:latin typeface="Calibri" pitchFamily="34" charset="0"/>
                <a:ea typeface="Calibri" pitchFamily="34" charset="-122"/>
                <a:cs typeface="Calibri" pitchFamily="34" charset="-120"/>
              </a:rPr>
              <a:t>For student projects: verify C₀ &gt; max static load. Use sealed bearings. Life calculation is usually overkill for prototypes.</a:t>
            </a:r>
            <a:endParaRPr lang="en-US" sz="16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Bearing mounting and failure modes</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indent="0" marL="0">
              <a:buNone/>
            </a:pPr>
            <a:r>
              <a:rPr lang="en-US" sz="1600" b="1" dirty="0">
                <a:solidFill>
                  <a:srgbClr val="21314D"/>
                </a:solidFill>
                <a:latin typeface="Calibri" pitchFamily="34" charset="0"/>
                <a:ea typeface="Calibri" pitchFamily="34" charset="-122"/>
                <a:cs typeface="Calibri" pitchFamily="34" charset="-120"/>
              </a:rPr>
              <a:t>Mounting Fits</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Shaft: light interference (k5/k6) — inner ring rotates with shaft without slip</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Housing: sliding fit (H7) — outer ring pressed in but does not spin</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Axial retention: shoulder + retaining ring, snap ring, or press fit</a:t>
            </a:r>
            <a:endParaRPr lang="en-US" sz="1600" dirty="0"/>
          </a:p>
          <a:p>
            <a:pPr indent="0" marL="0">
              <a:buNone/>
            </a:pPr>
            <a:endParaRPr lang="en-US" sz="1600" dirty="0"/>
          </a:p>
          <a:p>
            <a:pPr indent="0" marL="0">
              <a:buNone/>
            </a:pPr>
            <a:r>
              <a:rPr lang="en-US" sz="1600" b="1" dirty="0">
                <a:solidFill>
                  <a:srgbClr val="E65100"/>
                </a:solidFill>
                <a:latin typeface="Calibri" pitchFamily="34" charset="0"/>
                <a:ea typeface="Calibri" pitchFamily="34" charset="-122"/>
                <a:cs typeface="Calibri" pitchFamily="34" charset="-120"/>
              </a:rPr>
              <a:t>Common Failure Modes</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Fatigue spalling: normal wear; design for adequate L₁₀ life</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Brinelling: static overload or impact — NEVER hammer a bearing onto a shaft</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Contamination: dirt/water entry — use sealed (2RS) bearings</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Misalignment: shaft/housing not coaxial — use self-aligning or machine precisely</a:t>
            </a:r>
            <a:endParaRPr lang="en-US" sz="16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Lubrication failure: grease breakdown — sealed bearings for prototypes</a:t>
            </a:r>
            <a:endParaRPr lang="en-US" sz="16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21314D"/>
          </a:solidFill>
          <a:ln/>
        </p:spPr>
      </p:sp>
      <p:sp>
        <p:nvSpPr>
          <p:cNvPr id="3" name="Text 1"/>
          <p:cNvSpPr/>
          <p:nvPr/>
        </p:nvSpPr>
        <p:spPr>
          <a:xfrm>
            <a:off x="365760" y="91440"/>
            <a:ext cx="8229600" cy="36576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MINES  |  MEGN 301 — Mechanical Integration and Design</a:t>
            </a:r>
            <a:endParaRPr lang="en-US" sz="900" dirty="0"/>
          </a:p>
        </p:txBody>
      </p:sp>
      <p:sp>
        <p:nvSpPr>
          <p:cNvPr id="4" name="Text 2"/>
          <p:cNvSpPr/>
          <p:nvPr/>
        </p:nvSpPr>
        <p:spPr>
          <a:xfrm>
            <a:off x="457200" y="731520"/>
            <a:ext cx="8229600" cy="548640"/>
          </a:xfrm>
          <a:prstGeom prst="rect">
            <a:avLst/>
          </a:prstGeom>
          <a:noFill/>
          <a:ln/>
        </p:spPr>
        <p:txBody>
          <a:bodyPr wrap="square" rtlCol="0" anchor="ctr"/>
          <a:lstStyle/>
          <a:p>
            <a:pPr indent="0" marL="0">
              <a:buNone/>
            </a:pPr>
            <a:r>
              <a:rPr lang="en-US" sz="2400" b="1" dirty="0">
                <a:solidFill>
                  <a:srgbClr val="21314D"/>
                </a:solidFill>
                <a:latin typeface="Calibri" pitchFamily="34" charset="0"/>
                <a:ea typeface="Calibri" pitchFamily="34" charset="-122"/>
                <a:cs typeface="Calibri" pitchFamily="34" charset="-120"/>
              </a:rPr>
              <a:t>Design rules of thumb</a:t>
            </a:r>
            <a:endParaRPr lang="en-US" sz="2400" dirty="0"/>
          </a:p>
        </p:txBody>
      </p:sp>
      <p:sp>
        <p:nvSpPr>
          <p:cNvPr id="5" name="Text 3"/>
          <p:cNvSpPr/>
          <p:nvPr/>
        </p:nvSpPr>
        <p:spPr>
          <a:xfrm>
            <a:off x="457200" y="1463040"/>
            <a:ext cx="8229600" cy="3200400"/>
          </a:xfrm>
          <a:prstGeom prst="rect">
            <a:avLst/>
          </a:prstGeom>
          <a:noFill/>
          <a:ln/>
        </p:spPr>
        <p:txBody>
          <a:bodyPr wrap="square" rtlCol="0" anchor="t"/>
          <a:lstStyle/>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Thread engagement: 1.5× diameter in steel, 2× in aluminum, 2.5× in plastic</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Bolt spacing: min 3× diameter center-to-center; 1.5× from center to edge</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Bolt patterns: minimum 3 bolts for any bolted joint (moment resistance)</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Shaft shoulders: height ≥ bearing fillet radius (check catalog)</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Heat-set inserts: ALWAYS use for threads in 3D-printed or molded plastic</a:t>
            </a:r>
            <a:endParaRPr lang="en-US" sz="1300" dirty="0"/>
          </a:p>
          <a:p>
            <a:pPr marL="342900" indent="-342900">
              <a:buSzPct val="100000"/>
              <a:buChar char="•"/>
            </a:pPr>
            <a:r>
              <a:rPr lang="en-US" sz="1300" dirty="0">
                <a:solidFill>
                  <a:srgbClr val="363636"/>
                </a:solidFill>
                <a:latin typeface="Calibri" pitchFamily="34" charset="0"/>
                <a:ea typeface="Calibri" pitchFamily="34" charset="-122"/>
                <a:cs typeface="Calibri" pitchFamily="34" charset="-120"/>
              </a:rPr>
              <a:t>Torque wrench: ALWAYS use for structural joints; never estimate by 'feel'</a:t>
            </a:r>
            <a:endParaRPr lang="en-US" sz="1300" dirty="0"/>
          </a:p>
          <a:p>
            <a:pPr indent="0" marL="0">
              <a:buNone/>
            </a:pPr>
            <a:endParaRPr lang="en-US" sz="1300" dirty="0"/>
          </a:p>
          <a:p>
            <a:pPr indent="0" marL="0">
              <a:buNone/>
            </a:pPr>
            <a:r>
              <a:rPr lang="en-US" sz="1300" b="1" dirty="0">
                <a:solidFill>
                  <a:srgbClr val="21314D"/>
                </a:solidFill>
                <a:latin typeface="Calibri" pitchFamily="34" charset="0"/>
                <a:ea typeface="Calibri" pitchFamily="34" charset="-122"/>
                <a:cs typeface="Calibri" pitchFamily="34" charset="-120"/>
              </a:rPr>
              <a:t>Specify in your BOM: part number, grade, plating, torque spec, locking method</a:t>
            </a:r>
            <a:endParaRPr lang="en-US" sz="1300" dirty="0"/>
          </a:p>
        </p:txBody>
      </p:sp>
      <p:sp>
        <p:nvSpPr>
          <p:cNvPr id="6" name="Shape 4"/>
          <p:cNvSpPr/>
          <p:nvPr/>
        </p:nvSpPr>
        <p:spPr>
          <a:xfrm>
            <a:off x="0" y="4663440"/>
            <a:ext cx="9144000" cy="475488"/>
          </a:xfrm>
          <a:prstGeom prst="rect">
            <a:avLst/>
          </a:prstGeom>
          <a:solidFill>
            <a:srgbClr val="21314D"/>
          </a:solidFill>
          <a:ln/>
        </p:spPr>
      </p:sp>
      <p:sp>
        <p:nvSpPr>
          <p:cNvPr id="7" name="Text 5"/>
          <p:cNvSpPr/>
          <p:nvPr/>
        </p:nvSpPr>
        <p:spPr>
          <a:xfrm>
            <a:off x="365760" y="4709160"/>
            <a:ext cx="8229600" cy="36576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MINES  |  MEGN 301 — Mechanical Integration and Design</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Mechanical Fasteners &amp; Bearings</dc:title>
  <dc:subject>PptxGenJS Presentation</dc:subject>
  <dc:creator>Prof. Adam Duran</dc:creator>
  <cp:lastModifiedBy>Prof. Adam Duran</cp:lastModifiedBy>
  <cp:revision>1</cp:revision>
  <dcterms:created xsi:type="dcterms:W3CDTF">2026-03-08T05:28:46Z</dcterms:created>
  <dcterms:modified xsi:type="dcterms:W3CDTF">2026-03-08T05:28:46Z</dcterms:modified>
</cp:coreProperties>
</file>